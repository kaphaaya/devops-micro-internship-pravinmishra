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9566cc9-9ce1-bf53-6dd8-05db50c13732}">
          <p14:sldIdLst>
            <p14:sldId id="256"/>
            <p14:sldId id="257"/>
            <p14:sldId id="258"/>
          </p14:sldIdLst>
        </p14:section>
        <p14:section name="Part 1 - The Problem" id="{856a3d07-461e-c08f-662f-f100e7131be5}">
          <p14:sldIdLst>
            <p14:sldId id="259"/>
            <p14:sldId id="260"/>
            <p14:sldId id="261"/>
            <p14:sldId id="262"/>
            <p14:sldId id="263"/>
            <p14:sldId id="264"/>
            <p14:sldId id="265"/>
            <p14:sldId id="266"/>
            <p14:sldId id="267"/>
          </p14:sldIdLst>
        </p14:section>
        <p14:section name="Part 2 - Setup and Baseline" id="{d4239b48-2d3c-dfed-1871-35ad5820a136}">
          <p14:sldIdLst>
            <p14:sldId id="268"/>
            <p14:sldId id="269"/>
            <p14:sldId id="270"/>
            <p14:sldId id="271"/>
            <p14:sldId id="272"/>
            <p14:sldId id="273"/>
            <p14:sldId id="274"/>
            <p14:sldId id="275"/>
            <p14:sldId id="276"/>
            <p14:sldId id="277"/>
          </p14:sldIdLst>
        </p14:section>
        <p14:section name="Part 3 - CLAUDE.md" id="{15119816-6783-29d6-ecde-fe954f24182a}">
          <p14:sldIdLst>
            <p14:sldId id="278"/>
            <p14:sldId id="279"/>
            <p14:sldId id="280"/>
            <p14:sldId id="281"/>
            <p14:sldId id="282"/>
            <p14:sldId id="283"/>
            <p14:sldId id="284"/>
            <p14:sldId id="285"/>
            <p14:sldId id="286"/>
          </p14:sldIdLst>
        </p14:section>
        <p14:section name="Part 4 - The Triage Script" id="{cfcb50a9-978e-3d56-931f-8e7e938768e2}">
          <p14:sldIdLst>
            <p14:sldId id="287"/>
            <p14:sldId id="288"/>
            <p14:sldId id="289"/>
            <p14:sldId id="290"/>
            <p14:sldId id="291"/>
            <p14:sldId id="292"/>
            <p14:sldId id="293"/>
            <p14:sldId id="294"/>
            <p14:sldId id="295"/>
            <p14:sldId id="296"/>
            <p14:sldId id="297"/>
            <p14:sldId id="298"/>
            <p14:sldId id="299"/>
          </p14:sldIdLst>
        </p14:section>
        <p14:section name="Part 5 - The Claude Code Skill" id="{963cfea4-de6b-ecd6-b13a-e3f4b0941a35}">
          <p14:sldIdLst>
            <p14:sldId id="300"/>
            <p14:sldId id="301"/>
            <p14:sldId id="302"/>
            <p14:sldId id="303"/>
            <p14:sldId id="304"/>
            <p14:sldId id="305"/>
            <p14:sldId id="306"/>
            <p14:sldId id="307"/>
            <p14:sldId id="308"/>
            <p14:sldId id="309"/>
          </p14:sldIdLst>
        </p14:section>
        <p14:section name="Part 6 - The Failure Drill" id="{0bfd0648-a509-baa6-adbf-8a648555ad76}">
          <p14:sldIdLst>
            <p14:sldId id="310"/>
            <p14:sldId id="311"/>
            <p14:sldId id="312"/>
            <p14:sldId id="313"/>
            <p14:sldId id="314"/>
            <p14:sldId id="315"/>
            <p14:sldId id="316"/>
            <p14:sldId id="317"/>
            <p14:sldId id="318"/>
            <p14:sldId id="319"/>
            <p14:sldId id="320"/>
            <p14:sldId id="321"/>
          </p14:sldIdLst>
        </p14:section>
        <p14:section name="Part 7 - Wrap-up" id="{fac81316-d41e-bf5c-e05f-98ee7a472bed}">
          <p14:sldIdLst>
            <p14:sldId id="322"/>
            <p14:sldId id="323"/>
            <p14:sldId id="324"/>
            <p14:sldId id="325"/>
            <p14:sldId id="326"/>
            <p14:sldId id="327"/>
            <p14:sldId id="3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walk through Assignment 05 end to end. The big idea: instead of a person hunting through pipeline logs by hand, a safe, read-only script gathers the evidence and Claude Code explains it. The human still makes every decision and applies every fix. We will compare the manual way to the new way at every stage so you can see exactly what each step buys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Parts 2 to 6 map directly to the tasks in the assignment document (Task 0 to Task 8). Part 1 gives the why, Part 7 wraps up with takeaways, troubleshooting and discussion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skills the assignment is really testing. Notice that only the last one is about Claude. Most of the work is about safe automation: least privilege, verifying what you run, and keeping humans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EpicBook is deployed by two Azure DevOps pipelines. The Infrastructure pipeline (ID 9, Epicbook-infra-pipeline) uses Terraform to provision the Azure infrastructure. The Application pipeline (ID 10, Epicbook-App-Pipeline) uses Ansible to configure the server and deploy the app. Two pipelines means a failure can hide in either one, and the root cause is very different depending on which one broke. Note we always refer to them by numeric ID in scripts because IDs do not change when someone renames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comes from emergency medicine. The triage nurse does not perform the surgery. They quickly assess, decide how serious it is, gather the key facts and hand over to the doctor. That is exactly the role we are giving to the script and to Claude. The engineer is the doctor: they decide and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slowly, because every box is time. Imagine it is a Friday afternoon and the pipeline email says failed. Someone has to open the portal, work out which of two pipelines it was, find the failed job, then read through hundreds or thousands of log lines looking for the real error among noise. Then comes the guess. Often the engineer searches the error message online or pings a teammate. Only then does the actual fix start. Ask the class: where do you think most of the time goes? (Usually steps 4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problems, not just inconveniences. The security one matters most: logs can contain tokens, passwords and connection strings, and people copy-paste logs into chats and tickets all the time. The inconsistency one matters for teams: two engineers will describe the same failure in two different ways, which makes incidents hard to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heart of the lesson. Each row is a job someone used to do by hand. In the right column is how the new workflow handles it. Notice the last row: the human still applies the fix. We automate the gathering and the reading, not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four-step loop is written into CLAUDE.md and is the spine of the whole assignment. Gather is the script. Analyze is Claude reading what was gathered. Human Act means a person reviews the recommendation and applies the change. Verify means we run the same process again to prove the fix worked. Because the loop is the same every time, the before/after reports can be compared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actor a single responsibility. The script is deterministic and auditable: the same input gives the same output. Claude is flexible and good at reading messy text, but it is not trusted to act. The human holds the authority. Keep this separation in mind when we look at CLAUDE.md and the skill, because both exist to enforce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safety contract. Everything in the assignment is about proving, with commands, that the tool stays on the left side of this slide. We even grep the script for words like queue, retry, cancel, approve and delete to prove nothing can mutate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configuring anything, confirm every tool exists. Discovering a missing tool halfway through the assignment wastes time. Each tool has one job. Bash runs the script, Git manages the workspace inside the existing EpicBook repo, the Azure CLI with the azure-devops extension is the read-only window into pipelines and logs, and Claude Code runs the skill in Task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 login opens a browser for interactive Microsoft Entra authentication. Then az devops configure --defaults stores the organization and project so we do not repeat them on every command. Nothing secret is typed or stored in a file. The defaults are only non-secret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 is a long-lived secret. If it is typed into a script, an environment file or a command, it can end up in shell history, a report or a screenshot. Interactive Entra sign-in keeps the credential out of our files entirely. The assignment explicitly prefers interactive Entra authentication where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 pipelines runs and the triage script need the numeric pipeline ID, not the display name. This single read-only call also doubles as Task 0's proof that the environment can view pipelines without write access. Record the IDs; you will paste them into the script in Task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these down. Every later command and the script configuration use them. Your own values will match the same pattern with your organization and IDs. None of them is a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science experiment. You need a control group. If the pipeline was already red before we started, then later when the triage tool reports a failure, we would not know whether it found our new problem or an old one. So we prove both pipelines are green first. That known-good state is the reference for the entire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az pipelines runs list with --top 1 deliberately asks the API for the latest run instead of using the web UI. That makes the check scriptable and repeatable, which is exactly what our triage script will do later. Expect Result: succeeded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looks for skills at exactly .claude/skills/&lt;skill-name&gt;/SKILL.md. Put it anywhere else and /pipeline-triage will simply not appear. The reports folder is the expected output location for the script. Create it now so the script never fails on a missing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script and skill already contain tested safety behaviour: read-only API calls, secret sanitization and manual-only invocation. Rewriting them from screenshots or memory could change that behaviour by accident. So we copy. On Windows with WSL the Downloads folder is under /mnt/c, and the capital letters in SKILL.md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 is a plain markdown file at the project root. Claude Code reads it automatically when it works in that project. Without it you have to re-explain the project and the rules at the start of every session and hope nothing is forgotten. With it, the rules are written once and apply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requires exactly these four sections with these headings. Later we verify them with grep. Think of them as: what is this project, how do we handle an incident, what must you never do, and what must your answer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gives Claude the basic picture so it does not confuse a Terraform infrastructure problem with an Ansible deployment problem. It also states the division of labour: the script retrieves and classifies, Claude analyses and recommends.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the order down stops Claude from jumping straight to fixing. Each stage produces evidence that can be reviewed. Human Act is the key one: Claude may recommend one recovery action, but the engineer reviews it and applies it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They fall into groups: do not edit, do not change pipeline runs, do not change Azure, do not touch secrets, and always leave the fix to a human. The point is that every action that could affect infrastructure or security stays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models can sound confident even when they are guessing. These two rules force honesty. A root cause must be supported by the report or the logs. If the evidence is incomplete, Claude has to say the root cause is not confirmed. This is also why the script quotes real sanitised log lines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items are the structure every analysis must follow, so reports are comparable between the healthy baseline and the incident. For a healthy run most of the failure fields simply say not applicable. Later the skill has to match this same list, and we will find that the supplied skill missed some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would open the file and decide it looks fine. AFTER, we run targeted searches that prove each requirement is present. This is a theme of the whole assignment: do not assume, check. If a grep for a safety word returns nothing, the rule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top to bottom. Config and preflight make sure the script can run safely. Then for each pipeline it fetches the latest run, pulls logs, sanitises every line, and classifies any failure. Finally it prints a summary and returns an exit code. Errors are tracked separately from failures so a broken tool can never look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configuration block near the top of the script and replace the five placeholders with your own non-secret values. The full name appears in the report so the submission is yours. Then confirm with a single grep that all five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habit in the assignment. You are about to run a script against your company's pipelines, so first prove what it does. Each grep answers one question. For the read-only check, you want no matches. Shown commands are shortened; the full versions are in your assignment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jobs: metadata from the Azure CLI and logs from the Build Logs API. Both are reads. The grep for mutation words should come back empty, or only match harmless comments. If you ever saw a call that queues, retries or cancels, you would stop and not run the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worst automation bug is silent failure. If az login expired or the API was unreachable, a careless script would find no failures and report all clear. This script keeps errors separate from pipeline failures and gives them priority in the summary: errors first, then failures, then warnings. That is why exit code 3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log line is copied into the report, it is checked against patterns for authorization headers, bearer tokens, PATs, client secrets, SSH private-key content, database passwords and connection strings. A match is replaced with a redaction notice, not dropped silently and not printed raw. The examples here are made up to illustrate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completed pipeline has failed, the script scans the logs for known patterns and assigns one category. If Azure DevOps says failed but nothing matches, it says Unclassified Pipeline Failure instead of inventing a cause. That fallback is an honesty feature. The category also tells you which pipeline and tool to look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pipeline run has a status (where it is) and a result (how it ended). Only completed plus succeeded is healthy. Anything unfinished or partly successful is a warning. Completed plus failed is a failure and triggers classification. And errors in the triage process itself outrank all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codes let automation branch on the result without reading text. Zero is conventional success in Unix. One is warning, two is failure, three is a problem with the triage itself. Task 4 captures the exit code immediately after the run because the shell variable only holds the last command's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files. The main report is a short, structured summary. The two last-run logs hold the sanitised console evidence for each pipeline, so the Infrastructure and Application results are never mixed. These are the files Claude will read in Task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chmod +x gives the file permission to run directly with ./. bash -n only parses the script without executing it, which catches syntax errors safely. ls -l shows the x permission bits. Do this before the first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script directly first, not through Claude. We want to see the script's behaviour on its own. Capture the exit code immediately. Then read the report and confirm the files exist. For two healthy pipelines you expect PASS 2, WARN 0, FAIL 0, ERROR 0, Overall Status HEALTHY and exit code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a folder of instructions that Claude Code can run as a reusable workflow. It lives at .claude/skills/&lt;name&gt;/SKILL.md. The top of the file is YAML frontmatter that configures it. The rest is plain instructions. Typing /pipeline-triage runs it. BEFORE, you would retype a long prompt each time and could forget a safety rule. AFTER, the same steps run identically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fields are the safety-critical configuration. name and description make it discoverable. disable-model-invocation: true means Claude cannot decide on its own to run it; only a human typing /pipeline-triage can. allowed-tools limits which tools the skill may use. The frontmatter must be on the very first line or Claude Code will not recognise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Least privilege means giving only the access the job needs. This skill can read and search, and run Bash, but the body says Bash may only run bash pipeline-triage.sh || true. It has no Write or Edit tools at all. Note that the doc found no separate settings.json deny file, so the boundary rests on allowed-tools plus the explicit instructions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steps come from the skill body. Read CLAUDE.md first so the project rules apply. Run only the script. Read the report and both logs. Produce the structured report. Ask the human to review and apply any fix. Never edit files. The step numbers follow the assignment text; check them against your supplied SKILL.md.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 deliberately returns exit codes 1, 2 or 3 when something is wrong. Many tools treat any non-zero exit code as a failed command and stop. If Claude stopped the moment the script reported a failure, it would never get to read the report, which is exactly when we need it. Appending || true tells the shell to treat the command as successful regardless, so the analysis continues. The exit code is still recorded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teaching moment. Even a supplied, tested file can be inconsistent with the rest of the project. The skill pointed at a single log file that the script does not create. And it listed only five of the eight categories and did not call out Affected pipeline and Pipeline run ID as separate fields. A careful review with grep found both, and the fixes were applied with small sed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way to remember the division of labour. CLAUDE.md is the standing policy that every session follows. SKILL.md is the specific procedure triggered on demand. The script is the deterministic tool that touches Azure DevOps. They overlap on purpose in safety rules so no single file is the only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control is trusted alone. If one layer were misread or removed, the others still hold. Layers from outside in: the human decides, CLAUDE.md sets policy, the skill restricts tools and instructions, and the script itself only reads. This is a standard security pattern and a good thing to discuss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Claude from the assignment root so it can find the .claude folder. Type the slash command. If it does not appear in autocomplete, check the exact path and the capitalisation of SKILL.md. The expected result is a clean HEALTHY analysis with the nine-point structure, mostly not applicable. Nothing is edited, nothing is pushed, nothing is triggered. The doc ran it twice: once before the fix, and once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know a smoke alarm works until you test it. A healthy pipeline proves nothing about the triage tool. We need a real failure. The failure must be safe: it should happen before any deployment step, be easy to undo, never touch credentials or cloud resources, and leave the Infrastructure pipeline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temporary branch so main stays clean. Open package.json and add one invalid dependency inside the dependencies section without touching the existing entries. Check git diff to prove only that line changed. Commit with a clear drill message, push the branch, and do NOT merge it. Note the commit message used in the assignment mentions a failing test; the change itself is the bad dependency, so make the message say what you really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cannot find a package called not-a-real-package-xyz, so the install step fails. Everything before it succeeds, everything after it is skipped. That is why this failure is safe: deployment and Azure never run. It also maps neatly onto the first failure category, dependency 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detail. The Application pipeline's trigger only watches main, so pushing the drill branch does not start it. Queue it manually with the branch name. Then list the latest run on that branch and wait until the result is failed. Finally confirm the Infrastructure pipeline's latest run is still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compare the same incident handled both ways. Left: the old workflow, which is many manual steps with a human reading raw logs. Right: three steps where the machine does the gathering and reading, and the human does the thinking and the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Claude from the assignment root and run the skill. Then do not simply accept the output. Check it against this list. A good answer identifies the Application pipeline as failed, names dependency installation as the category, quotes real sanitised evidence, gives exactly one cause, one recommendation and one verification step, and does not change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illustration of the shape of a good answer, not the exact output you will see. Your run ID and wording will differ. Notice the evidence line is a real quote, there is exactly one cause and one recommendation, and the recommendation is for a human to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triage report file is regenerated on every run. If we fix the problem and run again, the failure report is gone. So copy it to a named incident file first. Then display it and confirm it contains the key facts. This incident file becomes part of the submission and your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engineer compares Claude's recommendation with the real log evidence. Does it make sense? Only then do they act. We use git revert, which creates a new commit that undoes the bad one. That keeps a clean, auditable history instead of erasing it. Push, re-queue the pipeline, and confirm the run succeeds.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is the fourth step of the incident workflow. Check the new run shows succeeded, then run /pipeline-triage again. Expect Overall Status HEALTHY with exit code 0. Save that as the recovery report and confirm both reports exist. Two reports, incident and recovery, tell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the drill branch locally and on the remote, never merge it. Then scan every file you are about to commit for anything that looks like a secret. You expect zero matches. If anything shows up, stop and fix the sanitisation before committing. Finally commit the workspace to main with a clear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Tasks 0 and 1 set up and prove a baseline. Task 2 writes the policy. Tasks 3 and 4 configure and run the script. Task 5 builds and tests the skill. Tasks 6 to 8 are the incident: break it, triage it, fix it, verify it, clean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remember only these five ideas, the assignment worked. The first four are about engineering habits that apply far beyond Claude. The fifth is the human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quick reference during the lab. Most problems are paths, capitalisation, sign-in or configuration values, because the workflow depends on exact locations and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to check understanding or as small-group prompts. There are no single right answers; look for reasoning about trust, risk and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ends up in the repository and what a marker will look for. Run through it before committing. Every report must be free of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loop: Gather, Analyze, Human Act, Verify. Invite questions, then point students to the troubleshooting slide and the deliverables checklist for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640080" y="1234440"/>
            <a:ext cx="5852160" cy="15544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1"/>
          <p:cNvSpPr/>
          <p:nvPr>
            <p:ph idx="102" type="body" hasCustomPrompt="1"/>
          </p:nvPr>
        </p:nvSpPr>
        <p:spPr>
          <a:xfrm>
            <a:off x="640080" y="2971800"/>
            <a:ext cx="5852160" cy="91440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accent2"/>
          </a:solidFill>
          <a:ln/>
        </p:spPr>
      </p:sp>
      <p:sp>
        <p:nvSpPr>
          <p:cNvPr id="3" name="Text 1"/>
          <p:cNvSpPr/>
          <p:nvPr>
            <p:ph idx="101" type="title" hasCustomPrompt="1"/>
          </p:nvPr>
        </p:nvSpPr>
        <p:spPr>
          <a:xfrm>
            <a:off x="640080" y="1783080"/>
            <a:ext cx="5669280" cy="10972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1"/>
          <p:cNvSpPr/>
          <p:nvPr>
            <p:ph idx="102" type="body" hasCustomPrompt="1"/>
          </p:nvPr>
        </p:nvSpPr>
        <p:spPr>
          <a:xfrm>
            <a:off x="640080" y="2971800"/>
            <a:ext cx="5669280" cy="100584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800600"/>
            <a:ext cx="6400800" cy="228600"/>
          </a:xfrm>
          <a:prstGeom prst="rect">
            <a:avLst/>
          </a:prstGeom>
          <a:noFill/>
          <a:ln/>
        </p:spPr>
        <p:txBody>
          <a:bodyPr wrap="square" lIns="0" tIns="0" rIns="0" bIns="0" rtlCol="0" anchor="ctr"/>
          <a:lstStyle/>
          <a:p>
            <a:pPr indent="0" marL="0">
              <a:buNone/>
            </a:pPr>
            <a:r>
              <a:rPr lang="en-US" sz="1000" dirty="0">
                <a:solidFill>
                  <a:schemeClr val="tx2"/>
                </a:solidFill>
              </a:rPr>
              <a:t>EpicBook Pipeline Triage  ·  Week 10  ·  Assignment 05</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4.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4.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slideLayout" Target="../slideLayouts/slideLayout4.xml"/><Relationship Id="rId10"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4.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4.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slideLayout" Target="../slideLayouts/slideLayout4.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4.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4.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4.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slideLayout" Target="../slideLayouts/slideLayout4.xml"/><Relationship Id="rId7"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slideLayout" Target="../slideLayouts/slideLayout4.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4.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slideLayout" Target="../slideLayouts/slideLayout4.xml"/><Relationship Id="rId7"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slideLayout" Target="../slideLayouts/slideLayout4.xml"/><Relationship Id="rId8"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1234440"/>
            <a:ext cx="5852160" cy="1554480"/>
          </a:xfrm>
          <a:prstGeom prst="rect">
            <a:avLst/>
          </a:prstGeom>
          <a:noFill/>
          <a:ln/>
        </p:spPr>
        <p:txBody>
          <a:bodyPr wrap="square" lIns="0" tIns="0" rIns="0" bIns="0" rtlCol="0" anchor="t"/>
          <a:lstStyle/>
          <a:p>
            <a:pPr algn="l" indent="0" marL="0">
              <a:buNone/>
            </a:pPr>
            <a:r>
              <a:rPr lang="en-US" sz="3800" b="1" dirty="0">
                <a:solidFill>
                  <a:schemeClr val="bg1"/>
                </a:solidFill>
              </a:rPr>
              <a:t>Automating CI/CD Failure Triage</a:t>
            </a:r>
            <a:endParaRPr lang="en-US" sz="3800" dirty="0"/>
          </a:p>
        </p:txBody>
      </p:sp>
      <p:sp>
        <p:nvSpPr>
          <p:cNvPr id="3" name="Text 1"/>
          <p:cNvSpPr/>
          <p:nvPr>
            <p:ph idx="102" type="body" hasCustomPrompt="1"/>
          </p:nvPr>
        </p:nvSpPr>
        <p:spPr>
          <a:xfrm>
            <a:off x="640080" y="2971800"/>
            <a:ext cx="5852160" cy="914400"/>
          </a:xfrm>
          <a:prstGeom prst="rect">
            <a:avLst/>
          </a:prstGeom>
          <a:noFill/>
          <a:ln/>
        </p:spPr>
        <p:txBody>
          <a:bodyPr wrap="square" lIns="0" tIns="0" rIns="0" bIns="0" rtlCol="0" anchor="t"/>
          <a:lstStyle/>
          <a:p>
            <a:pPr algn="l" indent="0" marL="0">
              <a:buNone/>
            </a:pPr>
            <a:r>
              <a:rPr lang="en-US" sz="1800" dirty="0">
                <a:solidFill>
                  <a:schemeClr val="accent1"/>
                </a:solidFill>
              </a:rPr>
              <a:t>Bash script + Claude Code skill on Azure DevOps</a:t>
            </a:r>
            <a:endParaRPr lang="en-US" sz="1800" dirty="0"/>
          </a:p>
          <a:p>
            <a:pPr algn="l" indent="0" marL="0">
              <a:buNone/>
            </a:pPr>
            <a:r>
              <a:rPr lang="en-US" sz="1800" dirty="0">
                <a:solidFill>
                  <a:schemeClr val="accent1"/>
                </a:solidFill>
              </a:rPr>
              <a:t>Week 10 · Assignment 05 · The EpicBook dual-pipeline project</a:t>
            </a:r>
            <a:endParaRPr lang="en-US" sz="1800" dirty="0"/>
          </a:p>
        </p:txBody>
      </p:sp>
      <p:sp>
        <p:nvSpPr>
          <p:cNvPr id="4" name="Shape 2"/>
          <p:cNvSpPr/>
          <p:nvPr/>
        </p:nvSpPr>
        <p:spPr>
          <a:xfrm>
            <a:off x="6766560" y="1417320"/>
            <a:ext cx="1828800" cy="1828800"/>
          </a:xfrm>
          <a:prstGeom prst="ellipse">
            <a:avLst/>
          </a:prstGeom>
          <a:solidFill>
            <a:schemeClr val="accent1"/>
          </a:solidFill>
          <a:ln w="12700">
            <a:solidFill>
              <a:schemeClr val="accent1"/>
            </a:solidFill>
            <a:prstDash val="solid"/>
          </a:ln>
        </p:spPr>
      </p:sp>
      <p:pic>
        <p:nvPicPr>
          <p:cNvPr id="5" name="Image 0" descr="terminal">    </p:cNvPr>
          <p:cNvPicPr>
            <a:picLocks noChangeAspect="1"/>
          </p:cNvPicPr>
          <p:nvPr/>
        </p:nvPicPr>
        <p:blipFill>
          <a:blip r:embed="rId1"/>
          <a:stretch>
            <a:fillRect/>
          </a:stretch>
        </p:blipFill>
        <p:spPr>
          <a:xfrm>
            <a:off x="7223760" y="187452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we will cover</a:t>
            </a:r>
            <a:endParaRPr lang="en-US" sz="3000" dirty="0"/>
          </a:p>
        </p:txBody>
      </p:sp>
      <p:sp>
        <p:nvSpPr>
          <p:cNvPr id="4" name="Shape 1"/>
          <p:cNvSpPr/>
          <p:nvPr/>
        </p:nvSpPr>
        <p:spPr>
          <a:xfrm>
            <a:off x="457200" y="1234440"/>
            <a:ext cx="548640" cy="548640"/>
          </a:xfrm>
          <a:prstGeom prst="ellipse">
            <a:avLst/>
          </a:prstGeom>
          <a:solidFill>
            <a:schemeClr val="accent2"/>
          </a:solidFill>
          <a:ln w="12700">
            <a:solidFill>
              <a:schemeClr val="accent2"/>
            </a:solidFill>
            <a:prstDash val="solid"/>
          </a:ln>
        </p:spPr>
      </p:sp>
      <p:sp>
        <p:nvSpPr>
          <p:cNvPr id="5" name="Text 2"/>
          <p:cNvSpPr txBox="1"/>
          <p:nvPr/>
        </p:nvSpPr>
        <p:spPr>
          <a:xfrm>
            <a:off x="457200" y="12344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188720" y="1216152"/>
            <a:ext cx="3337560" cy="731520"/>
          </a:xfrm>
          <a:prstGeom prst="rect">
            <a:avLst/>
          </a:prstGeom>
          <a:noFill/>
          <a:ln/>
        </p:spPr>
        <p:txBody>
          <a:bodyPr wrap="square" lIns="0" tIns="0" rIns="0" bIns="0" rtlCol="0" anchor="t"/>
          <a:lstStyle/>
          <a:p>
            <a:pPr indent="0" marL="0">
              <a:buNone/>
            </a:pPr>
            <a:r>
              <a:rPr lang="en-US" sz="1700" b="1" dirty="0">
                <a:solidFill>
                  <a:schemeClr val="tx1"/>
                </a:solidFill>
              </a:rPr>
              <a:t>The problem</a:t>
            </a:r>
            <a:endParaRPr lang="en-US" sz="1400" dirty="0"/>
          </a:p>
          <a:p>
            <a:pPr indent="0" marL="0">
              <a:buNone/>
            </a:pPr>
            <a:r>
              <a:rPr lang="en-US" sz="1400" dirty="0">
                <a:solidFill>
                  <a:schemeClr val="tx2"/>
                </a:solidFill>
              </a:rPr>
              <a:t>Manual triage vs. the new workflow</a:t>
            </a:r>
            <a:endParaRPr lang="en-US" sz="1400" dirty="0"/>
          </a:p>
        </p:txBody>
      </p:sp>
      <p:sp>
        <p:nvSpPr>
          <p:cNvPr id="7" name="Shape 4"/>
          <p:cNvSpPr/>
          <p:nvPr/>
        </p:nvSpPr>
        <p:spPr>
          <a:xfrm>
            <a:off x="457200" y="2075688"/>
            <a:ext cx="548640" cy="548640"/>
          </a:xfrm>
          <a:prstGeom prst="ellipse">
            <a:avLst/>
          </a:prstGeom>
          <a:solidFill>
            <a:schemeClr val="accent4"/>
          </a:solidFill>
          <a:ln w="12700">
            <a:solidFill>
              <a:schemeClr val="accent4"/>
            </a:solidFill>
            <a:prstDash val="solid"/>
          </a:ln>
        </p:spPr>
      </p:sp>
      <p:sp>
        <p:nvSpPr>
          <p:cNvPr id="8" name="Text 5"/>
          <p:cNvSpPr txBox="1"/>
          <p:nvPr/>
        </p:nvSpPr>
        <p:spPr>
          <a:xfrm>
            <a:off x="457200" y="207568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188720" y="2057400"/>
            <a:ext cx="3337560" cy="731520"/>
          </a:xfrm>
          <a:prstGeom prst="rect">
            <a:avLst/>
          </a:prstGeom>
          <a:noFill/>
          <a:ln/>
        </p:spPr>
        <p:txBody>
          <a:bodyPr wrap="square" lIns="0" tIns="0" rIns="0" bIns="0" rtlCol="0" anchor="t"/>
          <a:lstStyle/>
          <a:p>
            <a:pPr indent="0" marL="0">
              <a:buNone/>
            </a:pPr>
            <a:r>
              <a:rPr lang="en-US" sz="1700" b="1" dirty="0">
                <a:solidFill>
                  <a:schemeClr val="tx1"/>
                </a:solidFill>
              </a:rPr>
              <a:t>Setup and baseline</a:t>
            </a:r>
            <a:endParaRPr lang="en-US" sz="1400" dirty="0"/>
          </a:p>
          <a:p>
            <a:pPr indent="0" marL="0">
              <a:buNone/>
            </a:pPr>
            <a:r>
              <a:rPr lang="en-US" sz="1400" dirty="0">
                <a:solidFill>
                  <a:schemeClr val="tx2"/>
                </a:solidFill>
              </a:rPr>
              <a:t>Tasks 0-1 · tools, login, healthy state</a:t>
            </a:r>
            <a:endParaRPr lang="en-US" sz="1400" dirty="0"/>
          </a:p>
        </p:txBody>
      </p:sp>
      <p:sp>
        <p:nvSpPr>
          <p:cNvPr id="10" name="Shape 7"/>
          <p:cNvSpPr/>
          <p:nvPr/>
        </p:nvSpPr>
        <p:spPr>
          <a:xfrm>
            <a:off x="457200" y="2916936"/>
            <a:ext cx="548640" cy="548640"/>
          </a:xfrm>
          <a:prstGeom prst="ellipse">
            <a:avLst/>
          </a:prstGeom>
          <a:solidFill>
            <a:schemeClr val="accent1"/>
          </a:solidFill>
          <a:ln w="12700">
            <a:solidFill>
              <a:schemeClr val="accent1"/>
            </a:solidFill>
            <a:prstDash val="solid"/>
          </a:ln>
        </p:spPr>
      </p:sp>
      <p:sp>
        <p:nvSpPr>
          <p:cNvPr id="11" name="Text 8"/>
          <p:cNvSpPr txBox="1"/>
          <p:nvPr/>
        </p:nvSpPr>
        <p:spPr>
          <a:xfrm>
            <a:off x="457200" y="2916936"/>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2" name="Text 9"/>
          <p:cNvSpPr txBox="1"/>
          <p:nvPr/>
        </p:nvSpPr>
        <p:spPr>
          <a:xfrm>
            <a:off x="1188720" y="2898648"/>
            <a:ext cx="3337560" cy="731520"/>
          </a:xfrm>
          <a:prstGeom prst="rect">
            <a:avLst/>
          </a:prstGeom>
          <a:noFill/>
          <a:ln/>
        </p:spPr>
        <p:txBody>
          <a:bodyPr wrap="square" lIns="0" tIns="0" rIns="0" bIns="0" rtlCol="0" anchor="t"/>
          <a:lstStyle/>
          <a:p>
            <a:pPr indent="0" marL="0">
              <a:buNone/>
            </a:pPr>
            <a:r>
              <a:rPr lang="en-US" sz="1700" b="1" dirty="0">
                <a:solidFill>
                  <a:schemeClr val="tx1"/>
                </a:solidFill>
              </a:rPr>
              <a:t>CLAUDE.md</a:t>
            </a:r>
            <a:endParaRPr lang="en-US" sz="1400" dirty="0"/>
          </a:p>
          <a:p>
            <a:pPr indent="0" marL="0">
              <a:buNone/>
            </a:pPr>
            <a:r>
              <a:rPr lang="en-US" sz="1400" dirty="0">
                <a:solidFill>
                  <a:schemeClr val="tx2"/>
                </a:solidFill>
              </a:rPr>
              <a:t>Task 2 · project context and safety rules</a:t>
            </a:r>
            <a:endParaRPr lang="en-US" sz="1400" dirty="0"/>
          </a:p>
        </p:txBody>
      </p:sp>
      <p:sp>
        <p:nvSpPr>
          <p:cNvPr id="13" name="Shape 10"/>
          <p:cNvSpPr/>
          <p:nvPr/>
        </p:nvSpPr>
        <p:spPr>
          <a:xfrm>
            <a:off x="457200" y="3758184"/>
            <a:ext cx="548640" cy="548640"/>
          </a:xfrm>
          <a:prstGeom prst="ellipse">
            <a:avLst/>
          </a:prstGeom>
          <a:solidFill>
            <a:schemeClr val="accent5"/>
          </a:solidFill>
          <a:ln w="12700">
            <a:solidFill>
              <a:schemeClr val="accent5"/>
            </a:solidFill>
            <a:prstDash val="solid"/>
          </a:ln>
        </p:spPr>
      </p:sp>
      <p:sp>
        <p:nvSpPr>
          <p:cNvPr id="14" name="Text 11"/>
          <p:cNvSpPr txBox="1"/>
          <p:nvPr/>
        </p:nvSpPr>
        <p:spPr>
          <a:xfrm>
            <a:off x="457200" y="375818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Text 12"/>
          <p:cNvSpPr txBox="1"/>
          <p:nvPr/>
        </p:nvSpPr>
        <p:spPr>
          <a:xfrm>
            <a:off x="1188720" y="3739896"/>
            <a:ext cx="3337560" cy="731520"/>
          </a:xfrm>
          <a:prstGeom prst="rect">
            <a:avLst/>
          </a:prstGeom>
          <a:noFill/>
          <a:ln/>
        </p:spPr>
        <p:txBody>
          <a:bodyPr wrap="square" lIns="0" tIns="0" rIns="0" bIns="0" rtlCol="0" anchor="t"/>
          <a:lstStyle/>
          <a:p>
            <a:pPr indent="0" marL="0">
              <a:buNone/>
            </a:pPr>
            <a:r>
              <a:rPr lang="en-US" sz="1700" b="1" dirty="0">
                <a:solidFill>
                  <a:schemeClr val="tx1"/>
                </a:solidFill>
              </a:rPr>
              <a:t>The triage script</a:t>
            </a:r>
            <a:endParaRPr lang="en-US" sz="1400" dirty="0"/>
          </a:p>
          <a:p>
            <a:pPr indent="0" marL="0">
              <a:buNone/>
            </a:pPr>
            <a:r>
              <a:rPr lang="en-US" sz="1400" dirty="0">
                <a:solidFill>
                  <a:schemeClr val="tx2"/>
                </a:solidFill>
              </a:rPr>
              <a:t>Tasks 3-4 · configure, inspect, run</a:t>
            </a:r>
            <a:endParaRPr lang="en-US" sz="1400" dirty="0"/>
          </a:p>
        </p:txBody>
      </p:sp>
      <p:sp>
        <p:nvSpPr>
          <p:cNvPr id="16" name="Shape 13"/>
          <p:cNvSpPr/>
          <p:nvPr/>
        </p:nvSpPr>
        <p:spPr>
          <a:xfrm>
            <a:off x="4663440" y="1234440"/>
            <a:ext cx="548640" cy="548640"/>
          </a:xfrm>
          <a:prstGeom prst="ellipse">
            <a:avLst/>
          </a:prstGeom>
          <a:solidFill>
            <a:schemeClr val="accent2"/>
          </a:solidFill>
          <a:ln w="12700">
            <a:solidFill>
              <a:schemeClr val="accent2"/>
            </a:solidFill>
            <a:prstDash val="solid"/>
          </a:ln>
        </p:spPr>
      </p:sp>
      <p:sp>
        <p:nvSpPr>
          <p:cNvPr id="17" name="Text 14"/>
          <p:cNvSpPr txBox="1"/>
          <p:nvPr/>
        </p:nvSpPr>
        <p:spPr>
          <a:xfrm>
            <a:off x="4663440" y="12344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8" name="Text 15"/>
          <p:cNvSpPr txBox="1"/>
          <p:nvPr/>
        </p:nvSpPr>
        <p:spPr>
          <a:xfrm>
            <a:off x="5394960" y="1216152"/>
            <a:ext cx="3337560" cy="731520"/>
          </a:xfrm>
          <a:prstGeom prst="rect">
            <a:avLst/>
          </a:prstGeom>
          <a:noFill/>
          <a:ln/>
        </p:spPr>
        <p:txBody>
          <a:bodyPr wrap="square" lIns="0" tIns="0" rIns="0" bIns="0" rtlCol="0" anchor="t"/>
          <a:lstStyle/>
          <a:p>
            <a:pPr indent="0" marL="0">
              <a:buNone/>
            </a:pPr>
            <a:r>
              <a:rPr lang="en-US" sz="1700" b="1" dirty="0">
                <a:solidFill>
                  <a:schemeClr val="tx1"/>
                </a:solidFill>
              </a:rPr>
              <a:t>The Claude Code skill</a:t>
            </a:r>
            <a:endParaRPr lang="en-US" sz="1400" dirty="0"/>
          </a:p>
          <a:p>
            <a:pPr indent="0" marL="0">
              <a:buNone/>
            </a:pPr>
            <a:r>
              <a:rPr lang="en-US" sz="1400" dirty="0">
                <a:solidFill>
                  <a:schemeClr val="tx2"/>
                </a:solidFill>
              </a:rPr>
              <a:t>Task 5 · /pipeline-triage</a:t>
            </a:r>
            <a:endParaRPr lang="en-US" sz="1400" dirty="0"/>
          </a:p>
        </p:txBody>
      </p:sp>
      <p:sp>
        <p:nvSpPr>
          <p:cNvPr id="19" name="Shape 16"/>
          <p:cNvSpPr/>
          <p:nvPr/>
        </p:nvSpPr>
        <p:spPr>
          <a:xfrm>
            <a:off x="4663440" y="2075688"/>
            <a:ext cx="548640" cy="548640"/>
          </a:xfrm>
          <a:prstGeom prst="ellipse">
            <a:avLst/>
          </a:prstGeom>
          <a:solidFill>
            <a:schemeClr val="accent3"/>
          </a:solidFill>
          <a:ln w="12700">
            <a:solidFill>
              <a:schemeClr val="accent3"/>
            </a:solidFill>
            <a:prstDash val="solid"/>
          </a:ln>
        </p:spPr>
      </p:sp>
      <p:sp>
        <p:nvSpPr>
          <p:cNvPr id="20" name="Text 17"/>
          <p:cNvSpPr txBox="1"/>
          <p:nvPr/>
        </p:nvSpPr>
        <p:spPr>
          <a:xfrm>
            <a:off x="4663440" y="207568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1" name="Text 18"/>
          <p:cNvSpPr txBox="1"/>
          <p:nvPr/>
        </p:nvSpPr>
        <p:spPr>
          <a:xfrm>
            <a:off x="5394960" y="2057400"/>
            <a:ext cx="3337560" cy="731520"/>
          </a:xfrm>
          <a:prstGeom prst="rect">
            <a:avLst/>
          </a:prstGeom>
          <a:noFill/>
          <a:ln/>
        </p:spPr>
        <p:txBody>
          <a:bodyPr wrap="square" lIns="0" tIns="0" rIns="0" bIns="0" rtlCol="0" anchor="t"/>
          <a:lstStyle/>
          <a:p>
            <a:pPr indent="0" marL="0">
              <a:buNone/>
            </a:pPr>
            <a:r>
              <a:rPr lang="en-US" sz="1700" b="1" dirty="0">
                <a:solidFill>
                  <a:schemeClr val="tx1"/>
                </a:solidFill>
              </a:rPr>
              <a:t>The failure drill</a:t>
            </a:r>
            <a:endParaRPr lang="en-US" sz="1400" dirty="0"/>
          </a:p>
          <a:p>
            <a:pPr indent="0" marL="0">
              <a:buNone/>
            </a:pPr>
            <a:r>
              <a:rPr lang="en-US" sz="1400" dirty="0">
                <a:solidFill>
                  <a:schemeClr val="tx2"/>
                </a:solidFill>
              </a:rPr>
              <a:t>Tasks 6-8 · break it, diagnose, fix, verify</a:t>
            </a:r>
            <a:endParaRPr lang="en-US" sz="1400" dirty="0"/>
          </a:p>
        </p:txBody>
      </p:sp>
      <p:sp>
        <p:nvSpPr>
          <p:cNvPr id="22" name="Shape 19"/>
          <p:cNvSpPr/>
          <p:nvPr/>
        </p:nvSpPr>
        <p:spPr>
          <a:xfrm>
            <a:off x="4663440" y="2916936"/>
            <a:ext cx="548640" cy="548640"/>
          </a:xfrm>
          <a:prstGeom prst="ellipse">
            <a:avLst/>
          </a:prstGeom>
          <a:solidFill>
            <a:schemeClr val="accent6"/>
          </a:solidFill>
          <a:ln w="12700">
            <a:solidFill>
              <a:schemeClr val="accent6"/>
            </a:solidFill>
            <a:prstDash val="solid"/>
          </a:ln>
        </p:spPr>
      </p:sp>
      <p:sp>
        <p:nvSpPr>
          <p:cNvPr id="23" name="Text 20"/>
          <p:cNvSpPr txBox="1"/>
          <p:nvPr/>
        </p:nvSpPr>
        <p:spPr>
          <a:xfrm>
            <a:off x="4663440" y="291693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24" name="Text 21"/>
          <p:cNvSpPr txBox="1"/>
          <p:nvPr/>
        </p:nvSpPr>
        <p:spPr>
          <a:xfrm>
            <a:off x="5394960" y="2898648"/>
            <a:ext cx="3337560" cy="731520"/>
          </a:xfrm>
          <a:prstGeom prst="rect">
            <a:avLst/>
          </a:prstGeom>
          <a:noFill/>
          <a:ln/>
        </p:spPr>
        <p:txBody>
          <a:bodyPr wrap="square" lIns="0" tIns="0" rIns="0" bIns="0" rtlCol="0" anchor="t"/>
          <a:lstStyle/>
          <a:p>
            <a:pPr indent="0" marL="0">
              <a:buNone/>
            </a:pPr>
            <a:r>
              <a:rPr lang="en-US" sz="1700" b="1" dirty="0">
                <a:solidFill>
                  <a:schemeClr val="tx1"/>
                </a:solidFill>
              </a:rPr>
              <a:t>Wrap-up</a:t>
            </a:r>
            <a:endParaRPr lang="en-US" sz="1400" dirty="0"/>
          </a:p>
          <a:p>
            <a:pPr indent="0" marL="0">
              <a:buNone/>
            </a:pPr>
            <a:r>
              <a:rPr lang="en-US" sz="1400" dirty="0">
                <a:solidFill>
                  <a:schemeClr val="tx2"/>
                </a:solidFill>
              </a:rPr>
              <a:t>Takeaways, troubleshooting, discussion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By the end, you can...</a:t>
            </a:r>
            <a:endParaRPr lang="en-US" sz="3000" dirty="0"/>
          </a:p>
        </p:txBody>
      </p:sp>
      <p:sp>
        <p:nvSpPr>
          <p:cNvPr id="4" name="icon circle"/>
          <p:cNvSpPr/>
          <p:nvPr/>
        </p:nvSpPr>
        <p:spPr>
          <a:xfrm>
            <a:off x="457200" y="1325880"/>
            <a:ext cx="548640" cy="548640"/>
          </a:xfrm>
          <a:prstGeom prst="ellipse">
            <a:avLst/>
          </a:prstGeom>
          <a:solidFill>
            <a:schemeClr val="accent2"/>
          </a:solidFill>
          <a:ln w="12700">
            <a:solidFill>
              <a:schemeClr val="accent2"/>
            </a:solidFill>
            <a:prstDash val="solid"/>
          </a:ln>
        </p:spPr>
      </p:sp>
      <p:pic>
        <p:nvPicPr>
          <p:cNvPr id="5" name="icon FaBalanceScale" descr="FaBalanceScale">    </p:cNvPr>
          <p:cNvPicPr>
            <a:picLocks noChangeAspect="1"/>
          </p:cNvPicPr>
          <p:nvPr/>
        </p:nvPicPr>
        <p:blipFill>
          <a:blip r:embed="rId1"/>
          <a:stretch>
            <a:fillRect/>
          </a:stretch>
        </p:blipFill>
        <p:spPr>
          <a:xfrm>
            <a:off x="588874" y="1457554"/>
            <a:ext cx="285293" cy="285293"/>
          </a:xfrm>
          <a:prstGeom prst="rect">
            <a:avLst/>
          </a:prstGeom>
        </p:spPr>
      </p:pic>
      <p:sp>
        <p:nvSpPr>
          <p:cNvPr id="6" name="Text 2"/>
          <p:cNvSpPr txBox="1"/>
          <p:nvPr/>
        </p:nvSpPr>
        <p:spPr>
          <a:xfrm>
            <a:off x="1188720" y="1298448"/>
            <a:ext cx="3200400" cy="1005840"/>
          </a:xfrm>
          <a:prstGeom prst="rect">
            <a:avLst/>
          </a:prstGeom>
          <a:noFill/>
          <a:ln/>
        </p:spPr>
        <p:txBody>
          <a:bodyPr wrap="square" lIns="0" tIns="0" rIns="0" bIns="0" rtlCol="0" anchor="t"/>
          <a:lstStyle/>
          <a:p>
            <a:pPr indent="0" marL="0">
              <a:buNone/>
            </a:pPr>
            <a:r>
              <a:rPr lang="en-US" sz="1600" b="1" dirty="0">
                <a:solidFill>
                  <a:schemeClr val="tx1"/>
                </a:solidFill>
              </a:rPr>
              <a:t>Compare manual and automated triage</a:t>
            </a:r>
            <a:endParaRPr lang="en-US" sz="1600" dirty="0"/>
          </a:p>
          <a:p>
            <a:pPr indent="0" marL="0">
              <a:buNone/>
            </a:pPr>
            <a:r>
              <a:rPr lang="en-US" sz="1400" dirty="0">
                <a:solidFill>
                  <a:schemeClr val="tx1"/>
                </a:solidFill>
              </a:rPr>
              <a:t>and explain what each step of automation buys you</a:t>
            </a:r>
            <a:endParaRPr lang="en-US" sz="1600" dirty="0"/>
          </a:p>
        </p:txBody>
      </p:sp>
      <p:sp>
        <p:nvSpPr>
          <p:cNvPr id="7" name="icon circle"/>
          <p:cNvSpPr/>
          <p:nvPr/>
        </p:nvSpPr>
        <p:spPr>
          <a:xfrm>
            <a:off x="457200" y="2423160"/>
            <a:ext cx="548640" cy="548640"/>
          </a:xfrm>
          <a:prstGeom prst="ellipse">
            <a:avLst/>
          </a:prstGeom>
          <a:solidFill>
            <a:schemeClr val="accent4"/>
          </a:solidFill>
          <a:ln w="12700">
            <a:solidFill>
              <a:schemeClr val="accent4"/>
            </a:solidFill>
            <a:prstDash val="solid"/>
          </a:ln>
        </p:spPr>
      </p:sp>
      <p:pic>
        <p:nvPicPr>
          <p:cNvPr id="8" name="icon FaKey" descr="FaKey">    </p:cNvPr>
          <p:cNvPicPr>
            <a:picLocks noChangeAspect="1"/>
          </p:cNvPicPr>
          <p:nvPr/>
        </p:nvPicPr>
        <p:blipFill>
          <a:blip r:embed="rId2"/>
          <a:stretch>
            <a:fillRect/>
          </a:stretch>
        </p:blipFill>
        <p:spPr>
          <a:xfrm>
            <a:off x="588874" y="2554834"/>
            <a:ext cx="285293" cy="285293"/>
          </a:xfrm>
          <a:prstGeom prst="rect">
            <a:avLst/>
          </a:prstGeom>
        </p:spPr>
      </p:pic>
      <p:sp>
        <p:nvSpPr>
          <p:cNvPr id="9" name="Text 4"/>
          <p:cNvSpPr txBox="1"/>
          <p:nvPr/>
        </p:nvSpPr>
        <p:spPr>
          <a:xfrm>
            <a:off x="1188720" y="2395728"/>
            <a:ext cx="3200400" cy="1005840"/>
          </a:xfrm>
          <a:prstGeom prst="rect">
            <a:avLst/>
          </a:prstGeom>
          <a:noFill/>
          <a:ln/>
        </p:spPr>
        <p:txBody>
          <a:bodyPr wrap="square" lIns="0" tIns="0" rIns="0" bIns="0" rtlCol="0" anchor="t"/>
          <a:lstStyle/>
          <a:p>
            <a:pPr indent="0" marL="0">
              <a:buNone/>
            </a:pPr>
            <a:r>
              <a:rPr lang="en-US" sz="1600" b="1" dirty="0">
                <a:solidFill>
                  <a:schemeClr val="tx1"/>
                </a:solidFill>
              </a:rPr>
              <a:t>Authenticate to Azure DevOps safely</a:t>
            </a:r>
            <a:endParaRPr lang="en-US" sz="1600" dirty="0"/>
          </a:p>
          <a:p>
            <a:pPr indent="0" marL="0">
              <a:buNone/>
            </a:pPr>
            <a:r>
              <a:rPr lang="en-US" sz="1400" dirty="0">
                <a:solidFill>
                  <a:schemeClr val="tx1"/>
                </a:solidFill>
              </a:rPr>
              <a:t>read-only, Entra login, no tokens in files</a:t>
            </a:r>
            <a:endParaRPr lang="en-US" sz="1600" dirty="0"/>
          </a:p>
        </p:txBody>
      </p:sp>
      <p:sp>
        <p:nvSpPr>
          <p:cNvPr id="10" name="icon circle"/>
          <p:cNvSpPr/>
          <p:nvPr/>
        </p:nvSpPr>
        <p:spPr>
          <a:xfrm>
            <a:off x="457200" y="3520440"/>
            <a:ext cx="548640" cy="548640"/>
          </a:xfrm>
          <a:prstGeom prst="ellipse">
            <a:avLst/>
          </a:prstGeom>
          <a:solidFill>
            <a:schemeClr val="accent1"/>
          </a:solidFill>
          <a:ln w="12700">
            <a:solidFill>
              <a:schemeClr val="accent1"/>
            </a:solidFill>
            <a:prstDash val="solid"/>
          </a:ln>
        </p:spPr>
      </p:sp>
      <p:pic>
        <p:nvPicPr>
          <p:cNvPr id="11" name="icon FaShieldAlt" descr="FaShieldAlt">    </p:cNvPr>
          <p:cNvPicPr>
            <a:picLocks noChangeAspect="1"/>
          </p:cNvPicPr>
          <p:nvPr/>
        </p:nvPicPr>
        <p:blipFill>
          <a:blip r:embed="rId3"/>
          <a:stretch>
            <a:fillRect/>
          </a:stretch>
        </p:blipFill>
        <p:spPr>
          <a:xfrm>
            <a:off x="588874" y="3652114"/>
            <a:ext cx="285293" cy="285293"/>
          </a:xfrm>
          <a:prstGeom prst="rect">
            <a:avLst/>
          </a:prstGeom>
        </p:spPr>
      </p:pic>
      <p:sp>
        <p:nvSpPr>
          <p:cNvPr id="12" name="Text 6"/>
          <p:cNvSpPr txBox="1"/>
          <p:nvPr/>
        </p:nvSpPr>
        <p:spPr>
          <a:xfrm>
            <a:off x="1188720" y="3493008"/>
            <a:ext cx="3200400" cy="1005840"/>
          </a:xfrm>
          <a:prstGeom prst="rect">
            <a:avLst/>
          </a:prstGeom>
          <a:noFill/>
          <a:ln/>
        </p:spPr>
        <p:txBody>
          <a:bodyPr wrap="square" lIns="0" tIns="0" rIns="0" bIns="0" rtlCol="0" anchor="t"/>
          <a:lstStyle/>
          <a:p>
            <a:pPr indent="0" marL="0">
              <a:buNone/>
            </a:pPr>
            <a:r>
              <a:rPr lang="en-US" sz="1600" b="1" dirty="0">
                <a:solidFill>
                  <a:schemeClr val="tx1"/>
                </a:solidFill>
              </a:rPr>
              <a:t>Write CLAUDE.md safety rules</a:t>
            </a:r>
            <a:endParaRPr lang="en-US" sz="1600" dirty="0"/>
          </a:p>
          <a:p>
            <a:pPr indent="0" marL="0">
              <a:buNone/>
            </a:pPr>
            <a:r>
              <a:rPr lang="en-US" sz="1400" dirty="0">
                <a:solidFill>
                  <a:schemeClr val="tx1"/>
                </a:solidFill>
              </a:rPr>
              <a:t>context, workflow, boundaries, output format</a:t>
            </a:r>
            <a:endParaRPr lang="en-US" sz="1600" dirty="0"/>
          </a:p>
        </p:txBody>
      </p:sp>
      <p:sp>
        <p:nvSpPr>
          <p:cNvPr id="13" name="icon circle"/>
          <p:cNvSpPr/>
          <p:nvPr/>
        </p:nvSpPr>
        <p:spPr>
          <a:xfrm>
            <a:off x="4754880" y="1325880"/>
            <a:ext cx="548640" cy="548640"/>
          </a:xfrm>
          <a:prstGeom prst="ellipse">
            <a:avLst/>
          </a:prstGeom>
          <a:solidFill>
            <a:schemeClr val="accent5"/>
          </a:solidFill>
          <a:ln w="12700">
            <a:solidFill>
              <a:schemeClr val="accent5"/>
            </a:solidFill>
            <a:prstDash val="solid"/>
          </a:ln>
        </p:spPr>
      </p:sp>
      <p:pic>
        <p:nvPicPr>
          <p:cNvPr id="14" name="icon FaSearch" descr="FaSearch">    </p:cNvPr>
          <p:cNvPicPr>
            <a:picLocks noChangeAspect="1"/>
          </p:cNvPicPr>
          <p:nvPr/>
        </p:nvPicPr>
        <p:blipFill>
          <a:blip r:embed="rId4"/>
          <a:stretch>
            <a:fillRect/>
          </a:stretch>
        </p:blipFill>
        <p:spPr>
          <a:xfrm>
            <a:off x="4886554" y="1457554"/>
            <a:ext cx="285293" cy="285293"/>
          </a:xfrm>
          <a:prstGeom prst="rect">
            <a:avLst/>
          </a:prstGeom>
        </p:spPr>
      </p:pic>
      <p:sp>
        <p:nvSpPr>
          <p:cNvPr id="15" name="Text 8"/>
          <p:cNvSpPr txBox="1"/>
          <p:nvPr/>
        </p:nvSpPr>
        <p:spPr>
          <a:xfrm>
            <a:off x="5486400" y="1298448"/>
            <a:ext cx="3200400" cy="1005840"/>
          </a:xfrm>
          <a:prstGeom prst="rect">
            <a:avLst/>
          </a:prstGeom>
          <a:noFill/>
          <a:ln/>
        </p:spPr>
        <p:txBody>
          <a:bodyPr wrap="square" lIns="0" tIns="0" rIns="0" bIns="0" rtlCol="0" anchor="t"/>
          <a:lstStyle/>
          <a:p>
            <a:pPr indent="0" marL="0">
              <a:buNone/>
            </a:pPr>
            <a:r>
              <a:rPr lang="en-US" sz="1600" b="1" dirty="0">
                <a:solidFill>
                  <a:schemeClr val="tx1"/>
                </a:solidFill>
              </a:rPr>
              <a:t>Inspect a script before trusting it</a:t>
            </a:r>
            <a:endParaRPr lang="en-US" sz="1600" dirty="0"/>
          </a:p>
          <a:p>
            <a:pPr indent="0" marL="0">
              <a:buNone/>
            </a:pPr>
            <a:r>
              <a:rPr lang="en-US" sz="1400" dirty="0">
                <a:solidFill>
                  <a:schemeClr val="tx1"/>
                </a:solidFill>
              </a:rPr>
              <a:t>prove it is read-only, sanitised and honest about errors</a:t>
            </a:r>
            <a:endParaRPr lang="en-US" sz="1600" dirty="0"/>
          </a:p>
        </p:txBody>
      </p:sp>
      <p:sp>
        <p:nvSpPr>
          <p:cNvPr id="16" name="icon circle"/>
          <p:cNvSpPr/>
          <p:nvPr/>
        </p:nvSpPr>
        <p:spPr>
          <a:xfrm>
            <a:off x="4754880" y="2423160"/>
            <a:ext cx="548640" cy="548640"/>
          </a:xfrm>
          <a:prstGeom prst="ellipse">
            <a:avLst/>
          </a:prstGeom>
          <a:solidFill>
            <a:schemeClr val="accent2"/>
          </a:solidFill>
          <a:ln w="12700">
            <a:solidFill>
              <a:schemeClr val="accent2"/>
            </a:solidFill>
            <a:prstDash val="solid"/>
          </a:ln>
        </p:spPr>
      </p:sp>
      <p:pic>
        <p:nvPicPr>
          <p:cNvPr id="17" name="icon FaRobot" descr="FaRobot">    </p:cNvPr>
          <p:cNvPicPr>
            <a:picLocks noChangeAspect="1"/>
          </p:cNvPicPr>
          <p:nvPr/>
        </p:nvPicPr>
        <p:blipFill>
          <a:blip r:embed="rId5"/>
          <a:stretch>
            <a:fillRect/>
          </a:stretch>
        </p:blipFill>
        <p:spPr>
          <a:xfrm>
            <a:off x="4886554" y="2554834"/>
            <a:ext cx="285293" cy="285293"/>
          </a:xfrm>
          <a:prstGeom prst="rect">
            <a:avLst/>
          </a:prstGeom>
        </p:spPr>
      </p:pic>
      <p:sp>
        <p:nvSpPr>
          <p:cNvPr id="18" name="Text 10"/>
          <p:cNvSpPr txBox="1"/>
          <p:nvPr/>
        </p:nvSpPr>
        <p:spPr>
          <a:xfrm>
            <a:off x="5486400" y="2395728"/>
            <a:ext cx="3200400" cy="1005840"/>
          </a:xfrm>
          <a:prstGeom prst="rect">
            <a:avLst/>
          </a:prstGeom>
          <a:noFill/>
          <a:ln/>
        </p:spPr>
        <p:txBody>
          <a:bodyPr wrap="square" lIns="0" tIns="0" rIns="0" bIns="0" rtlCol="0" anchor="t"/>
          <a:lstStyle/>
          <a:p>
            <a:pPr indent="0" marL="0">
              <a:buNone/>
            </a:pPr>
            <a:r>
              <a:rPr lang="en-US" sz="1600" b="1" dirty="0">
                <a:solidFill>
                  <a:schemeClr val="tx1"/>
                </a:solidFill>
              </a:rPr>
              <a:t>Build a manual-only Claude Code skill</a:t>
            </a:r>
            <a:endParaRPr lang="en-US" sz="1600" dirty="0"/>
          </a:p>
          <a:p>
            <a:pPr indent="0" marL="0">
              <a:buNone/>
            </a:pPr>
            <a:r>
              <a:rPr lang="en-US" sz="1400" dirty="0">
                <a:solidFill>
                  <a:schemeClr val="tx1"/>
                </a:solidFill>
              </a:rPr>
              <a:t>narrow tools, explicit rules, structured output</a:t>
            </a:r>
            <a:endParaRPr lang="en-US" sz="1600" dirty="0"/>
          </a:p>
        </p:txBody>
      </p:sp>
      <p:sp>
        <p:nvSpPr>
          <p:cNvPr id="19" name="icon circle"/>
          <p:cNvSpPr/>
          <p:nvPr/>
        </p:nvSpPr>
        <p:spPr>
          <a:xfrm>
            <a:off x="4754880" y="3520440"/>
            <a:ext cx="548640" cy="548640"/>
          </a:xfrm>
          <a:prstGeom prst="ellipse">
            <a:avLst/>
          </a:prstGeom>
          <a:solidFill>
            <a:schemeClr val="accent3"/>
          </a:solidFill>
          <a:ln w="12700">
            <a:solidFill>
              <a:schemeClr val="accent3"/>
            </a:solidFill>
            <a:prstDash val="solid"/>
          </a:ln>
        </p:spPr>
      </p:sp>
      <p:pic>
        <p:nvPicPr>
          <p:cNvPr id="20" name="icon FaFire" descr="FaFire">    </p:cNvPr>
          <p:cNvPicPr>
            <a:picLocks noChangeAspect="1"/>
          </p:cNvPicPr>
          <p:nvPr/>
        </p:nvPicPr>
        <p:blipFill>
          <a:blip r:embed="rId6"/>
          <a:stretch>
            <a:fillRect/>
          </a:stretch>
        </p:blipFill>
        <p:spPr>
          <a:xfrm>
            <a:off x="4886554" y="3652114"/>
            <a:ext cx="285293" cy="285293"/>
          </a:xfrm>
          <a:prstGeom prst="rect">
            <a:avLst/>
          </a:prstGeom>
        </p:spPr>
      </p:pic>
      <p:sp>
        <p:nvSpPr>
          <p:cNvPr id="21" name="Text 12"/>
          <p:cNvSpPr txBox="1"/>
          <p:nvPr/>
        </p:nvSpPr>
        <p:spPr>
          <a:xfrm>
            <a:off x="5486400" y="3493008"/>
            <a:ext cx="3200400" cy="1005840"/>
          </a:xfrm>
          <a:prstGeom prst="rect">
            <a:avLst/>
          </a:prstGeom>
          <a:noFill/>
          <a:ln/>
        </p:spPr>
        <p:txBody>
          <a:bodyPr wrap="square" lIns="0" tIns="0" rIns="0" bIns="0" rtlCol="0" anchor="t"/>
          <a:lstStyle/>
          <a:p>
            <a:pPr indent="0" marL="0">
              <a:buNone/>
            </a:pPr>
            <a:r>
              <a:rPr lang="en-US" sz="1600" b="1" dirty="0">
                <a:solidFill>
                  <a:schemeClr val="tx1"/>
                </a:solidFill>
              </a:rPr>
              <a:t>Run a safe incident drill</a:t>
            </a:r>
            <a:endParaRPr lang="en-US" sz="1600" dirty="0"/>
          </a:p>
          <a:p>
            <a:pPr indent="0" marL="0">
              <a:buNone/>
            </a:pPr>
            <a:r>
              <a:rPr lang="en-US" sz="1400" dirty="0">
                <a:solidFill>
                  <a:schemeClr val="tx1"/>
                </a:solidFill>
              </a:rPr>
              <a:t>break, diagnose, fix, verify, and clean up</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640080" y="1783080"/>
            <a:ext cx="5669280" cy="1097280"/>
          </a:xfrm>
          <a:prstGeom prst="rect">
            <a:avLst/>
          </a:prstGeom>
          <a:noFill/>
          <a:ln/>
        </p:spPr>
        <p:txBody>
          <a:bodyPr wrap="square" lIns="0" tIns="0" rIns="0" bIns="0" rtlCol="0" anchor="t"/>
          <a:lstStyle/>
          <a:p>
            <a:pPr algn="l" indent="0" marL="0">
              <a:buNone/>
            </a:pPr>
            <a:r>
              <a:rPr lang="en-US" sz="3800" b="1" dirty="0">
                <a:solidFill>
                  <a:schemeClr val="bg1"/>
                </a:solidFill>
              </a:rPr>
              <a:t>The Problem</a:t>
            </a:r>
            <a:endParaRPr lang="en-US" sz="3800" dirty="0"/>
          </a:p>
        </p:txBody>
      </p:sp>
      <p:sp>
        <p:nvSpPr>
          <p:cNvPr id="3" name="Text 1"/>
          <p:cNvSpPr/>
          <p:nvPr>
            <p:ph idx="102" type="body" hasCustomPrompt="1"/>
          </p:nvPr>
        </p:nvSpPr>
        <p:spPr>
          <a:xfrm>
            <a:off x="640080" y="2971800"/>
            <a:ext cx="5669280" cy="1005840"/>
          </a:xfrm>
          <a:prstGeom prst="rect">
            <a:avLst/>
          </a:prstGeom>
          <a:noFill/>
          <a:ln/>
        </p:spPr>
        <p:txBody>
          <a:bodyPr wrap="square" lIns="0" tIns="0" rIns="0" bIns="0" rtlCol="0" anchor="t"/>
          <a:lstStyle/>
          <a:p>
            <a:pPr algn="l" indent="0" marL="0">
              <a:buNone/>
            </a:pPr>
            <a:r>
              <a:rPr lang="en-US" sz="1800" dirty="0">
                <a:solidFill>
                  <a:schemeClr val="bg1"/>
                </a:solidFill>
              </a:rPr>
              <a:t>Why pipeline failures are hard to triage by hand, and what we are building instead.</a:t>
            </a:r>
            <a:endParaRPr lang="en-US" sz="1800" dirty="0"/>
          </a:p>
        </p:txBody>
      </p:sp>
      <p:sp>
        <p:nvSpPr>
          <p:cNvPr id="4" name="Text 2"/>
          <p:cNvSpPr txBox="1"/>
          <p:nvPr/>
        </p:nvSpPr>
        <p:spPr>
          <a:xfrm>
            <a:off x="640080" y="1325880"/>
            <a:ext cx="5486400" cy="320040"/>
          </a:xfrm>
          <a:prstGeom prst="rect">
            <a:avLst/>
          </a:prstGeom>
          <a:noFill/>
          <a:ln/>
        </p:spPr>
        <p:txBody>
          <a:bodyPr wrap="square" lIns="0" tIns="0" rIns="0" bIns="0" rtlCol="0" anchor="ctr"/>
          <a:lstStyle/>
          <a:p>
            <a:pPr indent="0" marL="0">
              <a:buNone/>
            </a:pPr>
            <a:r>
              <a:rPr lang="en-US" sz="1400" b="1" spc="300" kern="0" dirty="0">
                <a:solidFill>
                  <a:schemeClr val="bg1"/>
                </a:solidFill>
              </a:rPr>
              <a:t>PART 1</a:t>
            </a:r>
            <a:endParaRPr lang="en-US" sz="1400" dirty="0"/>
          </a:p>
        </p:txBody>
      </p:sp>
      <p:sp>
        <p:nvSpPr>
          <p:cNvPr id="5" name="Shape 3"/>
          <p:cNvSpPr/>
          <p:nvPr/>
        </p:nvSpPr>
        <p:spPr>
          <a:xfrm>
            <a:off x="6675120" y="1554480"/>
            <a:ext cx="1920240" cy="1920240"/>
          </a:xfrm>
          <a:prstGeom prst="ellipse">
            <a:avLst/>
          </a:prstGeom>
          <a:solidFill>
            <a:schemeClr val="tx1"/>
          </a:solidFill>
          <a:ln w="12700">
            <a:solidFill>
              <a:schemeClr val="tx1"/>
            </a:solidFill>
            <a:prstDash val="solid"/>
          </a:ln>
        </p:spPr>
      </p:sp>
      <p:pic>
        <p:nvPicPr>
          <p:cNvPr id="6" name="Image 0" descr="FaFire">    </p:cNvPr>
          <p:cNvPicPr>
            <a:picLocks noChangeAspect="1"/>
          </p:cNvPicPr>
          <p:nvPr/>
        </p:nvPicPr>
        <p:blipFill>
          <a:blip r:embed="rId1"/>
          <a:stretch>
            <a:fillRect/>
          </a:stretch>
        </p:blipFill>
        <p:spPr>
          <a:xfrm>
            <a:off x="7132320" y="2011680"/>
            <a:ext cx="1005840" cy="10058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Meet EpicBook: two pipelines, two places to fail</a:t>
            </a:r>
            <a:endParaRPr lang="en-US" sz="3000" dirty="0"/>
          </a:p>
        </p:txBody>
      </p:sp>
      <p:sp>
        <p:nvSpPr>
          <p:cNvPr id="4" name="Shape 1"/>
          <p:cNvSpPr/>
          <p:nvPr/>
        </p:nvSpPr>
        <p:spPr>
          <a:xfrm>
            <a:off x="457200" y="1280160"/>
            <a:ext cx="3657600" cy="2148840"/>
          </a:xfrm>
          <a:prstGeom prst="roundRect">
            <a:avLst>
              <a:gd name="adj" fmla="val 4255"/>
            </a:avLst>
          </a:prstGeom>
          <a:solidFill>
            <a:schemeClr val="accent4"/>
          </a:solidFill>
          <a:ln w="12700">
            <a:solidFill>
              <a:schemeClr val="accent4"/>
            </a:solidFill>
            <a:prstDash val="solid"/>
          </a:ln>
        </p:spPr>
      </p:sp>
      <p:sp>
        <p:nvSpPr>
          <p:cNvPr id="5" name="icon circle"/>
          <p:cNvSpPr/>
          <p:nvPr/>
        </p:nvSpPr>
        <p:spPr>
          <a:xfrm>
            <a:off x="640080" y="1463040"/>
            <a:ext cx="548640" cy="548640"/>
          </a:xfrm>
          <a:prstGeom prst="ellipse">
            <a:avLst/>
          </a:prstGeom>
          <a:solidFill>
            <a:schemeClr val="tx1"/>
          </a:solidFill>
          <a:ln w="12700">
            <a:solidFill>
              <a:schemeClr val="tx1"/>
            </a:solidFill>
            <a:prstDash val="solid"/>
          </a:ln>
        </p:spPr>
      </p:sp>
      <p:pic>
        <p:nvPicPr>
          <p:cNvPr id="6" name="icon FaCloud" descr="FaCloud">    </p:cNvPr>
          <p:cNvPicPr>
            <a:picLocks noChangeAspect="1"/>
          </p:cNvPicPr>
          <p:nvPr/>
        </p:nvPicPr>
        <p:blipFill>
          <a:blip r:embed="rId1"/>
          <a:stretch>
            <a:fillRect/>
          </a:stretch>
        </p:blipFill>
        <p:spPr>
          <a:xfrm>
            <a:off x="771754" y="1594714"/>
            <a:ext cx="285293" cy="285293"/>
          </a:xfrm>
          <a:prstGeom prst="rect">
            <a:avLst/>
          </a:prstGeom>
        </p:spPr>
      </p:pic>
      <p:sp>
        <p:nvSpPr>
          <p:cNvPr id="7" name="Text 3"/>
          <p:cNvSpPr txBox="1"/>
          <p:nvPr/>
        </p:nvSpPr>
        <p:spPr>
          <a:xfrm>
            <a:off x="1325880" y="1481328"/>
            <a:ext cx="2651760" cy="548640"/>
          </a:xfrm>
          <a:prstGeom prst="rect">
            <a:avLst/>
          </a:prstGeom>
          <a:noFill/>
          <a:ln/>
        </p:spPr>
        <p:txBody>
          <a:bodyPr wrap="square" lIns="0" tIns="0" rIns="0" bIns="0" rtlCol="0" anchor="t"/>
          <a:lstStyle/>
          <a:p>
            <a:pPr indent="0" marL="0">
              <a:buNone/>
            </a:pPr>
            <a:r>
              <a:rPr lang="en-US" sz="1800" b="1" dirty="0">
                <a:solidFill>
                  <a:schemeClr val="bg1"/>
                </a:solidFill>
              </a:rPr>
              <a:t>Infrastructure Pipeline</a:t>
            </a:r>
            <a:endParaRPr lang="en-US" sz="1400" dirty="0"/>
          </a:p>
          <a:p>
            <a:pPr indent="0" marL="0">
              <a:buNone/>
            </a:pPr>
            <a:r>
              <a:rPr lang="en-US" sz="1400" dirty="0">
                <a:solidFill>
                  <a:schemeClr val="bg1"/>
                </a:solidFill>
              </a:rPr>
              <a:t>Pipeline ID 9</a:t>
            </a:r>
            <a:endParaRPr lang="en-US" sz="1400" dirty="0"/>
          </a:p>
        </p:txBody>
      </p:sp>
      <p:sp>
        <p:nvSpPr>
          <p:cNvPr id="8" name="Text 4"/>
          <p:cNvSpPr txBox="1"/>
          <p:nvPr/>
        </p:nvSpPr>
        <p:spPr>
          <a:xfrm>
            <a:off x="685800" y="2286000"/>
            <a:ext cx="32004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Tool: Terraform</a:t>
            </a:r>
            <a:endParaRPr lang="en-US" sz="1400" dirty="0"/>
          </a:p>
          <a:p>
            <a:pPr marL="342900" indent="-342900">
              <a:spcAft>
                <a:spcPts val="400"/>
              </a:spcAft>
              <a:buSzPct val="100000"/>
              <a:buChar char="•"/>
            </a:pPr>
            <a:r>
              <a:rPr lang="en-US" sz="1400" dirty="0">
                <a:solidFill>
                  <a:schemeClr val="bg1"/>
                </a:solidFill>
              </a:rPr>
              <a:t>Builds the Azure infrastructure</a:t>
            </a:r>
            <a:endParaRPr lang="en-US" sz="1400" dirty="0"/>
          </a:p>
          <a:p>
            <a:pPr marL="342900" indent="-342900">
              <a:spcAft>
                <a:spcPts val="400"/>
              </a:spcAft>
              <a:buSzPct val="100000"/>
              <a:buChar char="•"/>
            </a:pPr>
            <a:r>
              <a:rPr lang="en-US" sz="1400" dirty="0">
                <a:solidFill>
                  <a:schemeClr val="bg1"/>
                </a:solidFill>
              </a:rPr>
              <a:t>Failures: state, quota, auth, config</a:t>
            </a:r>
            <a:endParaRPr lang="en-US" sz="1400" dirty="0"/>
          </a:p>
        </p:txBody>
      </p:sp>
      <p:sp>
        <p:nvSpPr>
          <p:cNvPr id="9" name="Shape 5"/>
          <p:cNvSpPr/>
          <p:nvPr/>
        </p:nvSpPr>
        <p:spPr>
          <a:xfrm>
            <a:off x="5029200" y="1280160"/>
            <a:ext cx="3657600" cy="2148840"/>
          </a:xfrm>
          <a:prstGeom prst="roundRect">
            <a:avLst>
              <a:gd name="adj" fmla="val 4255"/>
            </a:avLst>
          </a:prstGeom>
          <a:solidFill>
            <a:schemeClr val="accent5"/>
          </a:solidFill>
          <a:ln w="12700">
            <a:solidFill>
              <a:schemeClr val="accent5"/>
            </a:solidFill>
            <a:prstDash val="solid"/>
          </a:ln>
        </p:spPr>
      </p:sp>
      <p:sp>
        <p:nvSpPr>
          <p:cNvPr id="10" name="icon circle"/>
          <p:cNvSpPr/>
          <p:nvPr/>
        </p:nvSpPr>
        <p:spPr>
          <a:xfrm>
            <a:off x="5212080" y="1463040"/>
            <a:ext cx="548640" cy="548640"/>
          </a:xfrm>
          <a:prstGeom prst="ellipse">
            <a:avLst/>
          </a:prstGeom>
          <a:solidFill>
            <a:schemeClr val="tx1"/>
          </a:solidFill>
          <a:ln w="12700">
            <a:solidFill>
              <a:schemeClr val="tx1"/>
            </a:solidFill>
            <a:prstDash val="solid"/>
          </a:ln>
        </p:spPr>
      </p:sp>
      <p:pic>
        <p:nvPicPr>
          <p:cNvPr id="11" name="icon FaServer" descr="FaServer">    </p:cNvPr>
          <p:cNvPicPr>
            <a:picLocks noChangeAspect="1"/>
          </p:cNvPicPr>
          <p:nvPr/>
        </p:nvPicPr>
        <p:blipFill>
          <a:blip r:embed="rId2"/>
          <a:stretch>
            <a:fillRect/>
          </a:stretch>
        </p:blipFill>
        <p:spPr>
          <a:xfrm>
            <a:off x="5343754" y="1594714"/>
            <a:ext cx="285293" cy="285293"/>
          </a:xfrm>
          <a:prstGeom prst="rect">
            <a:avLst/>
          </a:prstGeom>
        </p:spPr>
      </p:pic>
      <p:sp>
        <p:nvSpPr>
          <p:cNvPr id="12" name="Text 7"/>
          <p:cNvSpPr txBox="1"/>
          <p:nvPr/>
        </p:nvSpPr>
        <p:spPr>
          <a:xfrm>
            <a:off x="5897880" y="1481328"/>
            <a:ext cx="2651760" cy="548640"/>
          </a:xfrm>
          <a:prstGeom prst="rect">
            <a:avLst/>
          </a:prstGeom>
          <a:noFill/>
          <a:ln/>
        </p:spPr>
        <p:txBody>
          <a:bodyPr wrap="square" lIns="0" tIns="0" rIns="0" bIns="0" rtlCol="0" anchor="t"/>
          <a:lstStyle/>
          <a:p>
            <a:pPr indent="0" marL="0">
              <a:buNone/>
            </a:pPr>
            <a:r>
              <a:rPr lang="en-US" sz="1800" b="1" dirty="0">
                <a:solidFill>
                  <a:schemeClr val="bg1"/>
                </a:solidFill>
              </a:rPr>
              <a:t>Application Pipeline</a:t>
            </a:r>
            <a:endParaRPr lang="en-US" sz="1400" dirty="0"/>
          </a:p>
          <a:p>
            <a:pPr indent="0" marL="0">
              <a:buNone/>
            </a:pPr>
            <a:r>
              <a:rPr lang="en-US" sz="1400" dirty="0">
                <a:solidFill>
                  <a:schemeClr val="bg1"/>
                </a:solidFill>
              </a:rPr>
              <a:t>Pipeline ID 10</a:t>
            </a:r>
            <a:endParaRPr lang="en-US" sz="1400" dirty="0"/>
          </a:p>
        </p:txBody>
      </p:sp>
      <p:sp>
        <p:nvSpPr>
          <p:cNvPr id="13" name="Text 8"/>
          <p:cNvSpPr txBox="1"/>
          <p:nvPr/>
        </p:nvSpPr>
        <p:spPr>
          <a:xfrm>
            <a:off x="5257800" y="2286000"/>
            <a:ext cx="32004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Tools: Ansible, Nginx, Node.js</a:t>
            </a:r>
            <a:endParaRPr lang="en-US" sz="1400" dirty="0"/>
          </a:p>
          <a:p>
            <a:pPr marL="342900" indent="-342900">
              <a:spcAft>
                <a:spcPts val="400"/>
              </a:spcAft>
              <a:buSzPct val="100000"/>
              <a:buChar char="•"/>
            </a:pPr>
            <a:r>
              <a:rPr lang="en-US" sz="1400" dirty="0">
                <a:solidFill>
                  <a:schemeClr val="bg1"/>
                </a:solidFill>
              </a:rPr>
              <a:t>Configures the server, deploys EpicBook</a:t>
            </a:r>
            <a:endParaRPr lang="en-US" sz="1400" dirty="0"/>
          </a:p>
          <a:p>
            <a:pPr marL="342900" indent="-342900">
              <a:spcAft>
                <a:spcPts val="400"/>
              </a:spcAft>
              <a:buSzPct val="100000"/>
              <a:buChar char="•"/>
            </a:pPr>
            <a:r>
              <a:rPr lang="en-US" sz="1400" dirty="0">
                <a:solidFill>
                  <a:schemeClr val="bg1"/>
                </a:solidFill>
              </a:rPr>
              <a:t>Failures: deps, build, test, deploy</a:t>
            </a:r>
            <a:endParaRPr lang="en-US" sz="1400" dirty="0"/>
          </a:p>
        </p:txBody>
      </p:sp>
      <p:sp>
        <p:nvSpPr>
          <p:cNvPr id="14" name="arrow"/>
          <p:cNvSpPr/>
          <p:nvPr/>
        </p:nvSpPr>
        <p:spPr>
          <a:xfrm>
            <a:off x="4160520" y="2350008"/>
            <a:ext cx="822960" cy="0"/>
          </a:xfrm>
          <a:prstGeom prst="line">
            <a:avLst/>
          </a:prstGeom>
          <a:noFill/>
          <a:ln w="28575">
            <a:solidFill>
              <a:schemeClr val="tx2"/>
            </a:solidFill>
            <a:prstDash val="solid"/>
            <a:tailEnd type="triangle"/>
          </a:ln>
        </p:spPr>
      </p:sp>
      <p:sp>
        <p:nvSpPr>
          <p:cNvPr id="15" name="Text 10"/>
          <p:cNvSpPr txBox="1"/>
          <p:nvPr/>
        </p:nvSpPr>
        <p:spPr>
          <a:xfrm>
            <a:off x="4114800" y="2468880"/>
            <a:ext cx="914400" cy="457200"/>
          </a:xfrm>
          <a:prstGeom prst="rect">
            <a:avLst/>
          </a:prstGeom>
          <a:noFill/>
          <a:ln/>
        </p:spPr>
        <p:txBody>
          <a:bodyPr wrap="square" lIns="0" tIns="0" rIns="0" bIns="0" rtlCol="0" anchor="t"/>
          <a:lstStyle/>
          <a:p>
            <a:pPr algn="ctr" indent="0" marL="0">
              <a:buNone/>
            </a:pPr>
            <a:r>
              <a:rPr lang="en-US" sz="1200" dirty="0">
                <a:solidFill>
                  <a:schemeClr val="tx2"/>
                </a:solidFill>
              </a:rPr>
              <a:t>builds the</a:t>
            </a:r>
            <a:endParaRPr lang="en-US" sz="1200" dirty="0"/>
          </a:p>
          <a:p>
            <a:pPr algn="ctr" indent="0" marL="0">
              <a:buNone/>
            </a:pPr>
            <a:r>
              <a:rPr lang="en-US" sz="1200" dirty="0">
                <a:solidFill>
                  <a:schemeClr val="tx2"/>
                </a:solidFill>
              </a:rPr>
              <a:t>platform</a:t>
            </a:r>
            <a:endParaRPr lang="en-US" sz="1200" dirty="0"/>
          </a:p>
        </p:txBody>
      </p:sp>
      <p:sp>
        <p:nvSpPr>
          <p:cNvPr id="16" name="callout"/>
          <p:cNvSpPr/>
          <p:nvPr/>
        </p:nvSpPr>
        <p:spPr>
          <a:xfrm>
            <a:off x="457200" y="3794760"/>
            <a:ext cx="8229600" cy="548640"/>
          </a:xfrm>
          <a:prstGeom prst="roundRect">
            <a:avLst>
              <a:gd name="adj" fmla="val 16667"/>
            </a:avLst>
          </a:prstGeom>
          <a:solidFill>
            <a:schemeClr val="accent2"/>
          </a:solidFill>
          <a:ln w="12700">
            <a:solidFill>
              <a:schemeClr val="accent2"/>
            </a:solidFill>
            <a:prstDash val="solid"/>
          </a:ln>
        </p:spPr>
      </p:sp>
      <p:sp>
        <p:nvSpPr>
          <p:cNvPr id="17" name="Text 12"/>
          <p:cNvSpPr txBox="1"/>
          <p:nvPr/>
        </p:nvSpPr>
        <p:spPr>
          <a:xfrm>
            <a:off x="685800" y="379476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Two pipelines = two places a failure can hide, and two different kinds of cause.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First, what does "triage" mean?</a:t>
            </a:r>
            <a:endParaRPr lang="en-US" sz="3000" dirty="0"/>
          </a:p>
        </p:txBody>
      </p:sp>
      <p:sp>
        <p:nvSpPr>
          <p:cNvPr id="4" name="Text 1"/>
          <p:cNvSpPr txBox="1"/>
          <p:nvPr/>
        </p:nvSpPr>
        <p:spPr>
          <a:xfrm>
            <a:off x="457200" y="1280160"/>
            <a:ext cx="4114800" cy="3291840"/>
          </a:xfrm>
          <a:prstGeom prst="rect">
            <a:avLst/>
          </a:prstGeom>
          <a:noFill/>
          <a:ln/>
        </p:spPr>
        <p:txBody>
          <a:bodyPr wrap="square" lIns="0" tIns="0" rIns="0" bIns="0" rtlCol="0" anchor="t"/>
          <a:lstStyle/>
          <a:p>
            <a:pPr indent="0" marL="0">
              <a:buNone/>
            </a:pPr>
            <a:r>
              <a:rPr lang="en-US" sz="2600" b="1" dirty="0">
                <a:solidFill>
                  <a:schemeClr val="accent2"/>
                </a:solidFill>
              </a:rPr>
              <a:t>Triage</a:t>
            </a:r>
            <a:endParaRPr lang="en-US" sz="1400" dirty="0"/>
          </a:p>
          <a:p>
            <a:pPr indent="0" marL="0">
              <a:spcAft>
                <a:spcPts val="1400"/>
              </a:spcAft>
              <a:buNone/>
            </a:pPr>
            <a:r>
              <a:rPr lang="en-US" sz="1800" dirty="0">
                <a:solidFill>
                  <a:schemeClr val="tx1"/>
                </a:solidFill>
              </a:rPr>
              <a:t>Quickly assess a problem, gather the evidence, decide what kind of problem it is and how urgent, then hand it to the right person to fix.</a:t>
            </a:r>
            <a:endParaRPr lang="en-US" sz="1400" dirty="0"/>
          </a:p>
          <a:p>
            <a:pPr indent="0" marL="0">
              <a:spcAft>
                <a:spcPts val="400"/>
              </a:spcAft>
              <a:buNone/>
            </a:pPr>
            <a:r>
              <a:rPr lang="en-US" sz="1600" b="1" dirty="0">
                <a:solidFill>
                  <a:schemeClr val="tx1"/>
                </a:solidFill>
              </a:rPr>
              <a:t>For a pipeline it answers three questions:</a:t>
            </a:r>
            <a:endParaRPr lang="en-US" sz="1400" dirty="0"/>
          </a:p>
          <a:p>
            <a:pPr marL="342900" indent="-342900">
              <a:buSzPct val="100000"/>
              <a:buChar char="•"/>
            </a:pPr>
            <a:r>
              <a:rPr lang="en-US" sz="1600" dirty="0">
                <a:solidFill>
                  <a:schemeClr val="tx1"/>
                </a:solidFill>
              </a:rPr>
              <a:t>Is something broken?</a:t>
            </a:r>
            <a:endParaRPr lang="en-US" sz="1400" dirty="0"/>
          </a:p>
          <a:p>
            <a:pPr marL="342900" indent="-342900">
              <a:buSzPct val="100000"/>
              <a:buChar char="•"/>
            </a:pPr>
            <a:r>
              <a:rPr lang="en-US" sz="1600" dirty="0">
                <a:solidFill>
                  <a:schemeClr val="tx1"/>
                </a:solidFill>
              </a:rPr>
              <a:t>Where, and in which run?</a:t>
            </a:r>
            <a:endParaRPr lang="en-US" sz="1400" dirty="0"/>
          </a:p>
          <a:p>
            <a:pPr marL="342900" indent="-342900">
              <a:buSzPct val="100000"/>
              <a:buChar char="•"/>
            </a:pPr>
            <a:r>
              <a:rPr lang="en-US" sz="1600" dirty="0">
                <a:solidFill>
                  <a:schemeClr val="tx1"/>
                </a:solidFill>
              </a:rPr>
              <a:t>What is the evidence for why?</a:t>
            </a:r>
            <a:endParaRPr lang="en-US" sz="1400" dirty="0"/>
          </a:p>
        </p:txBody>
      </p:sp>
      <p:sp>
        <p:nvSpPr>
          <p:cNvPr id="5" name="card"/>
          <p:cNvSpPr/>
          <p:nvPr/>
        </p:nvSpPr>
        <p:spPr>
          <a:xfrm>
            <a:off x="4937760" y="1325880"/>
            <a:ext cx="3749040" cy="914400"/>
          </a:xfrm>
          <a:prstGeom prst="roundRect">
            <a:avLst>
              <a:gd name="adj" fmla="val 10000"/>
            </a:avLst>
          </a:prstGeom>
          <a:solidFill>
            <a:schemeClr val="bg2"/>
          </a:solidFill>
          <a:ln w="12700">
            <a:solidFill>
              <a:schemeClr val="bg2"/>
            </a:solidFill>
            <a:prstDash val="solid"/>
          </a:ln>
        </p:spPr>
      </p:sp>
      <p:sp>
        <p:nvSpPr>
          <p:cNvPr id="6" name="icon circle"/>
          <p:cNvSpPr/>
          <p:nvPr/>
        </p:nvSpPr>
        <p:spPr>
          <a:xfrm>
            <a:off x="5120640" y="1531620"/>
            <a:ext cx="502920" cy="502920"/>
          </a:xfrm>
          <a:prstGeom prst="ellipse">
            <a:avLst/>
          </a:prstGeom>
          <a:solidFill>
            <a:schemeClr val="accent2"/>
          </a:solidFill>
          <a:ln w="12700">
            <a:solidFill>
              <a:schemeClr val="accent2"/>
            </a:solidFill>
            <a:prstDash val="solid"/>
          </a:ln>
        </p:spPr>
      </p:sp>
      <p:pic>
        <p:nvPicPr>
          <p:cNvPr id="7" name="icon FaStethoscope" descr="FaStethoscope">    </p:cNvPr>
          <p:cNvPicPr>
            <a:picLocks noChangeAspect="1"/>
          </p:cNvPicPr>
          <p:nvPr/>
        </p:nvPicPr>
        <p:blipFill>
          <a:blip r:embed="rId1"/>
          <a:stretch>
            <a:fillRect/>
          </a:stretch>
        </p:blipFill>
        <p:spPr>
          <a:xfrm>
            <a:off x="5241341" y="1652321"/>
            <a:ext cx="261518" cy="261518"/>
          </a:xfrm>
          <a:prstGeom prst="rect">
            <a:avLst/>
          </a:prstGeom>
        </p:spPr>
      </p:pic>
      <p:sp>
        <p:nvSpPr>
          <p:cNvPr id="8" name="Text 4"/>
          <p:cNvSpPr txBox="1"/>
          <p:nvPr/>
        </p:nvSpPr>
        <p:spPr>
          <a:xfrm>
            <a:off x="5788152" y="1399032"/>
            <a:ext cx="2715768" cy="768096"/>
          </a:xfrm>
          <a:prstGeom prst="rect">
            <a:avLst/>
          </a:prstGeom>
          <a:noFill/>
          <a:ln/>
        </p:spPr>
        <p:txBody>
          <a:bodyPr wrap="square" lIns="0" tIns="0" rIns="0" bIns="0" rtlCol="0" anchor="ctr"/>
          <a:lstStyle/>
          <a:p>
            <a:pPr indent="0" marL="0">
              <a:buNone/>
            </a:pPr>
            <a:r>
              <a:rPr lang="en-US" sz="1600" b="1" dirty="0">
                <a:solidFill>
                  <a:schemeClr val="tx1"/>
                </a:solidFill>
              </a:rPr>
              <a:t>Triage nurse</a:t>
            </a:r>
            <a:endParaRPr lang="en-US" sz="1600" dirty="0"/>
          </a:p>
          <a:p>
            <a:pPr indent="0" marL="0">
              <a:buNone/>
            </a:pPr>
            <a:r>
              <a:rPr lang="en-US" sz="1400" dirty="0">
                <a:solidFill>
                  <a:schemeClr val="tx1"/>
                </a:solidFill>
              </a:rPr>
              <a:t>Script + Claude: assess and gather evidence</a:t>
            </a:r>
            <a:endParaRPr lang="en-US" sz="1600" dirty="0"/>
          </a:p>
        </p:txBody>
      </p:sp>
      <p:sp>
        <p:nvSpPr>
          <p:cNvPr id="9" name="card"/>
          <p:cNvSpPr/>
          <p:nvPr/>
        </p:nvSpPr>
        <p:spPr>
          <a:xfrm>
            <a:off x="4937760" y="2377440"/>
            <a:ext cx="3749040" cy="914400"/>
          </a:xfrm>
          <a:prstGeom prst="roundRect">
            <a:avLst>
              <a:gd name="adj" fmla="val 10000"/>
            </a:avLst>
          </a:prstGeom>
          <a:solidFill>
            <a:schemeClr val="bg2"/>
          </a:solidFill>
          <a:ln w="12700">
            <a:solidFill>
              <a:schemeClr val="bg2"/>
            </a:solidFill>
            <a:prstDash val="solid"/>
          </a:ln>
        </p:spPr>
      </p:sp>
      <p:sp>
        <p:nvSpPr>
          <p:cNvPr id="10" name="icon circle"/>
          <p:cNvSpPr/>
          <p:nvPr/>
        </p:nvSpPr>
        <p:spPr>
          <a:xfrm>
            <a:off x="5120640" y="2583180"/>
            <a:ext cx="502920" cy="502920"/>
          </a:xfrm>
          <a:prstGeom prst="ellipse">
            <a:avLst/>
          </a:prstGeom>
          <a:solidFill>
            <a:schemeClr val="accent6"/>
          </a:solidFill>
          <a:ln w="12700">
            <a:solidFill>
              <a:schemeClr val="accent6"/>
            </a:solidFill>
            <a:prstDash val="solid"/>
          </a:ln>
        </p:spPr>
      </p:sp>
      <p:pic>
        <p:nvPicPr>
          <p:cNvPr id="11" name="icon FaUserMd" descr="FaUserMd">    </p:cNvPr>
          <p:cNvPicPr>
            <a:picLocks noChangeAspect="1"/>
          </p:cNvPicPr>
          <p:nvPr/>
        </p:nvPicPr>
        <p:blipFill>
          <a:blip r:embed="rId2"/>
          <a:stretch>
            <a:fillRect/>
          </a:stretch>
        </p:blipFill>
        <p:spPr>
          <a:xfrm>
            <a:off x="5241341" y="2703881"/>
            <a:ext cx="261518" cy="261518"/>
          </a:xfrm>
          <a:prstGeom prst="rect">
            <a:avLst/>
          </a:prstGeom>
        </p:spPr>
      </p:pic>
      <p:sp>
        <p:nvSpPr>
          <p:cNvPr id="12" name="Text 7"/>
          <p:cNvSpPr txBox="1"/>
          <p:nvPr/>
        </p:nvSpPr>
        <p:spPr>
          <a:xfrm>
            <a:off x="5788152" y="2450592"/>
            <a:ext cx="2715768" cy="768096"/>
          </a:xfrm>
          <a:prstGeom prst="rect">
            <a:avLst/>
          </a:prstGeom>
          <a:noFill/>
          <a:ln/>
        </p:spPr>
        <p:txBody>
          <a:bodyPr wrap="square" lIns="0" tIns="0" rIns="0" bIns="0" rtlCol="0" anchor="ctr"/>
          <a:lstStyle/>
          <a:p>
            <a:pPr indent="0" marL="0">
              <a:buNone/>
            </a:pPr>
            <a:r>
              <a:rPr lang="en-US" sz="1600" b="1" dirty="0">
                <a:solidFill>
                  <a:schemeClr val="tx1"/>
                </a:solidFill>
              </a:rPr>
              <a:t>Doctor</a:t>
            </a:r>
            <a:endParaRPr lang="en-US" sz="1600" dirty="0"/>
          </a:p>
          <a:p>
            <a:pPr indent="0" marL="0">
              <a:buNone/>
            </a:pPr>
            <a:r>
              <a:rPr lang="en-US" sz="1400" dirty="0">
                <a:solidFill>
                  <a:schemeClr val="tx1"/>
                </a:solidFill>
              </a:rPr>
              <a:t>You, the engineer: decide and act</a:t>
            </a:r>
            <a:endParaRPr lang="en-US" sz="1600" dirty="0"/>
          </a:p>
        </p:txBody>
      </p:sp>
      <p:sp>
        <p:nvSpPr>
          <p:cNvPr id="13" name="card"/>
          <p:cNvSpPr/>
          <p:nvPr/>
        </p:nvSpPr>
        <p:spPr>
          <a:xfrm>
            <a:off x="4937760" y="3429000"/>
            <a:ext cx="3749040" cy="914400"/>
          </a:xfrm>
          <a:prstGeom prst="roundRect">
            <a:avLst>
              <a:gd name="adj" fmla="val 10000"/>
            </a:avLst>
          </a:prstGeom>
          <a:solidFill>
            <a:schemeClr val="bg2"/>
          </a:solidFill>
          <a:ln w="12700">
            <a:solidFill>
              <a:schemeClr val="bg2"/>
            </a:solidFill>
            <a:prstDash val="solid"/>
          </a:ln>
        </p:spPr>
      </p:sp>
      <p:sp>
        <p:nvSpPr>
          <p:cNvPr id="14" name="icon circle"/>
          <p:cNvSpPr/>
          <p:nvPr/>
        </p:nvSpPr>
        <p:spPr>
          <a:xfrm>
            <a:off x="5120640" y="3634740"/>
            <a:ext cx="502920" cy="502920"/>
          </a:xfrm>
          <a:prstGeom prst="ellipse">
            <a:avLst/>
          </a:prstGeom>
          <a:solidFill>
            <a:schemeClr val="accent1"/>
          </a:solidFill>
          <a:ln w="12700">
            <a:solidFill>
              <a:schemeClr val="accent1"/>
            </a:solidFill>
            <a:prstDash val="solid"/>
          </a:ln>
        </p:spPr>
      </p:sp>
      <p:pic>
        <p:nvPicPr>
          <p:cNvPr id="15" name="icon FaWrench" descr="FaWrench">    </p:cNvPr>
          <p:cNvPicPr>
            <a:picLocks noChangeAspect="1"/>
          </p:cNvPicPr>
          <p:nvPr/>
        </p:nvPicPr>
        <p:blipFill>
          <a:blip r:embed="rId3"/>
          <a:stretch>
            <a:fillRect/>
          </a:stretch>
        </p:blipFill>
        <p:spPr>
          <a:xfrm>
            <a:off x="5241341" y="3755441"/>
            <a:ext cx="261518" cy="261518"/>
          </a:xfrm>
          <a:prstGeom prst="rect">
            <a:avLst/>
          </a:prstGeom>
        </p:spPr>
      </p:pic>
      <p:sp>
        <p:nvSpPr>
          <p:cNvPr id="16" name="Text 10"/>
          <p:cNvSpPr txBox="1"/>
          <p:nvPr/>
        </p:nvSpPr>
        <p:spPr>
          <a:xfrm>
            <a:off x="5788152" y="3502152"/>
            <a:ext cx="2715768" cy="768096"/>
          </a:xfrm>
          <a:prstGeom prst="rect">
            <a:avLst/>
          </a:prstGeom>
          <a:noFill/>
          <a:ln/>
        </p:spPr>
        <p:txBody>
          <a:bodyPr wrap="square" lIns="0" tIns="0" rIns="0" bIns="0" rtlCol="0" anchor="ctr"/>
          <a:lstStyle/>
          <a:p>
            <a:pPr indent="0" marL="0">
              <a:buNone/>
            </a:pPr>
            <a:r>
              <a:rPr lang="en-US" sz="1600" b="1" dirty="0">
                <a:solidFill>
                  <a:schemeClr val="tx1"/>
                </a:solidFill>
              </a:rPr>
              <a:t>Treatment</a:t>
            </a:r>
            <a:endParaRPr lang="en-US" sz="1600" dirty="0"/>
          </a:p>
          <a:p>
            <a:pPr indent="0" marL="0">
              <a:buNone/>
            </a:pPr>
            <a:r>
              <a:rPr lang="en-US" sz="1400" dirty="0">
                <a:solidFill>
                  <a:schemeClr val="tx1"/>
                </a:solidFill>
              </a:rPr>
              <a:t>The fix, applied only by a human</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BEFORE: how we triage by hand today</a:t>
            </a:r>
            <a:endParaRPr lang="en-US" sz="3000" dirty="0"/>
          </a:p>
        </p:txBody>
      </p:sp>
      <p:sp>
        <p:nvSpPr>
          <p:cNvPr id="4" name="card"/>
          <p:cNvSpPr/>
          <p:nvPr/>
        </p:nvSpPr>
        <p:spPr>
          <a:xfrm>
            <a:off x="457200" y="1188720"/>
            <a:ext cx="2560320" cy="1508760"/>
          </a:xfrm>
          <a:prstGeom prst="roundRect">
            <a:avLst>
              <a:gd name="adj" fmla="val 6061"/>
            </a:avLst>
          </a:prstGeom>
          <a:solidFill>
            <a:schemeClr val="bg2"/>
          </a:solidFill>
          <a:ln w="12700">
            <a:solidFill>
              <a:schemeClr val="bg2"/>
            </a:solidFill>
            <a:prstDash val="solid"/>
          </a:ln>
        </p:spPr>
      </p:sp>
      <p:sp>
        <p:nvSpPr>
          <p:cNvPr id="5" name="icon circle"/>
          <p:cNvSpPr/>
          <p:nvPr/>
        </p:nvSpPr>
        <p:spPr>
          <a:xfrm>
            <a:off x="640080" y="1371600"/>
            <a:ext cx="411480" cy="411480"/>
          </a:xfrm>
          <a:prstGeom prst="ellipse">
            <a:avLst/>
          </a:prstGeom>
          <a:solidFill>
            <a:schemeClr val="accent3"/>
          </a:solidFill>
          <a:ln w="12700">
            <a:solidFill>
              <a:schemeClr val="accent3"/>
            </a:solidFill>
            <a:prstDash val="solid"/>
          </a:ln>
        </p:spPr>
      </p:sp>
      <p:pic>
        <p:nvPicPr>
          <p:cNvPr id="6" name="icon FaEnvelope" descr="FaEnvelope">    </p:cNvPr>
          <p:cNvPicPr>
            <a:picLocks noChangeAspect="1"/>
          </p:cNvPicPr>
          <p:nvPr/>
        </p:nvPicPr>
        <p:blipFill>
          <a:blip r:embed="rId1"/>
          <a:stretch>
            <a:fillRect/>
          </a:stretch>
        </p:blipFill>
        <p:spPr>
          <a:xfrm>
            <a:off x="738835" y="1470355"/>
            <a:ext cx="213970" cy="213970"/>
          </a:xfrm>
          <a:prstGeom prst="rect">
            <a:avLst/>
          </a:prstGeom>
        </p:spPr>
      </p:pic>
      <p:sp>
        <p:nvSpPr>
          <p:cNvPr id="7" name="Text 3"/>
          <p:cNvSpPr txBox="1"/>
          <p:nvPr/>
        </p:nvSpPr>
        <p:spPr>
          <a:xfrm>
            <a:off x="640080" y="1892808"/>
            <a:ext cx="2194560" cy="292608"/>
          </a:xfrm>
          <a:prstGeom prst="rect">
            <a:avLst/>
          </a:prstGeom>
          <a:noFill/>
          <a:ln/>
        </p:spPr>
        <p:txBody>
          <a:bodyPr wrap="square" lIns="0" tIns="0" rIns="0" bIns="0" rtlCol="0" anchor="t"/>
          <a:lstStyle/>
          <a:p>
            <a:pPr indent="0" marL="0">
              <a:buNone/>
            </a:pPr>
            <a:r>
              <a:rPr lang="en-US" sz="1600" b="1" dirty="0">
                <a:solidFill>
                  <a:schemeClr val="tx1"/>
                </a:solidFill>
              </a:rPr>
              <a:t>1  Notice</a:t>
            </a:r>
            <a:endParaRPr lang="en-US" sz="1600" dirty="0"/>
          </a:p>
        </p:txBody>
      </p:sp>
      <p:sp>
        <p:nvSpPr>
          <p:cNvPr id="8" name="Text 4"/>
          <p:cNvSpPr txBox="1"/>
          <p:nvPr/>
        </p:nvSpPr>
        <p:spPr>
          <a:xfrm>
            <a:off x="640080" y="2231136"/>
            <a:ext cx="2194560" cy="283464"/>
          </a:xfrm>
          <a:prstGeom prst="rect">
            <a:avLst/>
          </a:prstGeom>
          <a:noFill/>
          <a:ln/>
        </p:spPr>
        <p:txBody>
          <a:bodyPr wrap="square" lIns="0" tIns="0" rIns="0" bIns="0" rtlCol="0" anchor="t"/>
          <a:lstStyle/>
          <a:p>
            <a:pPr indent="0" marL="0">
              <a:buNone/>
            </a:pPr>
            <a:r>
              <a:rPr lang="en-US" sz="1400" dirty="0">
                <a:solidFill>
                  <a:schemeClr val="tx1"/>
                </a:solidFill>
              </a:rPr>
              <a:t>A red pipeline email or dashboard alert</a:t>
            </a:r>
            <a:endParaRPr lang="en-US" sz="1400" dirty="0"/>
          </a:p>
        </p:txBody>
      </p:sp>
      <p:sp>
        <p:nvSpPr>
          <p:cNvPr id="9" name="card"/>
          <p:cNvSpPr/>
          <p:nvPr/>
        </p:nvSpPr>
        <p:spPr>
          <a:xfrm>
            <a:off x="3291840" y="1188720"/>
            <a:ext cx="2560320" cy="1508760"/>
          </a:xfrm>
          <a:prstGeom prst="roundRect">
            <a:avLst>
              <a:gd name="adj" fmla="val 6061"/>
            </a:avLst>
          </a:prstGeom>
          <a:solidFill>
            <a:schemeClr val="bg2"/>
          </a:solidFill>
          <a:ln w="12700">
            <a:solidFill>
              <a:schemeClr val="bg2"/>
            </a:solidFill>
            <a:prstDash val="solid"/>
          </a:ln>
        </p:spPr>
      </p:sp>
      <p:sp>
        <p:nvSpPr>
          <p:cNvPr id="10" name="icon circle"/>
          <p:cNvSpPr/>
          <p:nvPr/>
        </p:nvSpPr>
        <p:spPr>
          <a:xfrm>
            <a:off x="3474720" y="1371600"/>
            <a:ext cx="411480" cy="411480"/>
          </a:xfrm>
          <a:prstGeom prst="ellipse">
            <a:avLst/>
          </a:prstGeom>
          <a:solidFill>
            <a:schemeClr val="accent3"/>
          </a:solidFill>
          <a:ln w="12700">
            <a:solidFill>
              <a:schemeClr val="accent3"/>
            </a:solidFill>
            <a:prstDash val="solid"/>
          </a:ln>
        </p:spPr>
      </p:sp>
      <p:pic>
        <p:nvPicPr>
          <p:cNvPr id="11" name="icon FaHome" descr="FaHome">    </p:cNvPr>
          <p:cNvPicPr>
            <a:picLocks noChangeAspect="1"/>
          </p:cNvPicPr>
          <p:nvPr/>
        </p:nvPicPr>
        <p:blipFill>
          <a:blip r:embed="rId2"/>
          <a:stretch>
            <a:fillRect/>
          </a:stretch>
        </p:blipFill>
        <p:spPr>
          <a:xfrm>
            <a:off x="3573475" y="1470355"/>
            <a:ext cx="213970" cy="213970"/>
          </a:xfrm>
          <a:prstGeom prst="rect">
            <a:avLst/>
          </a:prstGeom>
        </p:spPr>
      </p:pic>
      <p:sp>
        <p:nvSpPr>
          <p:cNvPr id="12" name="Text 7"/>
          <p:cNvSpPr txBox="1"/>
          <p:nvPr/>
        </p:nvSpPr>
        <p:spPr>
          <a:xfrm>
            <a:off x="3474720" y="1892808"/>
            <a:ext cx="2194560" cy="292608"/>
          </a:xfrm>
          <a:prstGeom prst="rect">
            <a:avLst/>
          </a:prstGeom>
          <a:noFill/>
          <a:ln/>
        </p:spPr>
        <p:txBody>
          <a:bodyPr wrap="square" lIns="0" tIns="0" rIns="0" bIns="0" rtlCol="0" anchor="t"/>
          <a:lstStyle/>
          <a:p>
            <a:pPr indent="0" marL="0">
              <a:buNone/>
            </a:pPr>
            <a:r>
              <a:rPr lang="en-US" sz="1600" b="1" dirty="0">
                <a:solidFill>
                  <a:schemeClr val="tx1"/>
                </a:solidFill>
              </a:rPr>
              <a:t>2  Open the portal</a:t>
            </a:r>
            <a:endParaRPr lang="en-US" sz="1600" dirty="0"/>
          </a:p>
        </p:txBody>
      </p:sp>
      <p:sp>
        <p:nvSpPr>
          <p:cNvPr id="13" name="Text 8"/>
          <p:cNvSpPr txBox="1"/>
          <p:nvPr/>
        </p:nvSpPr>
        <p:spPr>
          <a:xfrm>
            <a:off x="3474720" y="2231136"/>
            <a:ext cx="2194560" cy="283464"/>
          </a:xfrm>
          <a:prstGeom prst="rect">
            <a:avLst/>
          </a:prstGeom>
          <a:noFill/>
          <a:ln/>
        </p:spPr>
        <p:txBody>
          <a:bodyPr wrap="square" lIns="0" tIns="0" rIns="0" bIns="0" rtlCol="0" anchor="t"/>
          <a:lstStyle/>
          <a:p>
            <a:pPr indent="0" marL="0">
              <a:buNone/>
            </a:pPr>
            <a:r>
              <a:rPr lang="en-US" sz="1400" dirty="0">
                <a:solidFill>
                  <a:schemeClr val="tx1"/>
                </a:solidFill>
              </a:rPr>
              <a:t>Sign in, find the org, the project, the pipeline</a:t>
            </a:r>
            <a:endParaRPr lang="en-US" sz="1400" dirty="0"/>
          </a:p>
        </p:txBody>
      </p:sp>
      <p:sp>
        <p:nvSpPr>
          <p:cNvPr id="14" name="card"/>
          <p:cNvSpPr/>
          <p:nvPr/>
        </p:nvSpPr>
        <p:spPr>
          <a:xfrm>
            <a:off x="6126480" y="1188720"/>
            <a:ext cx="2560320" cy="1508760"/>
          </a:xfrm>
          <a:prstGeom prst="roundRect">
            <a:avLst>
              <a:gd name="adj" fmla="val 6061"/>
            </a:avLst>
          </a:prstGeom>
          <a:solidFill>
            <a:schemeClr val="bg2"/>
          </a:solidFill>
          <a:ln w="12700">
            <a:solidFill>
              <a:schemeClr val="bg2"/>
            </a:solidFill>
            <a:prstDash val="solid"/>
          </a:ln>
        </p:spPr>
      </p:sp>
      <p:sp>
        <p:nvSpPr>
          <p:cNvPr id="15" name="icon circle"/>
          <p:cNvSpPr/>
          <p:nvPr/>
        </p:nvSpPr>
        <p:spPr>
          <a:xfrm>
            <a:off x="6309360" y="1371600"/>
            <a:ext cx="411480" cy="411480"/>
          </a:xfrm>
          <a:prstGeom prst="ellipse">
            <a:avLst/>
          </a:prstGeom>
          <a:solidFill>
            <a:schemeClr val="accent3"/>
          </a:solidFill>
          <a:ln w="12700">
            <a:solidFill>
              <a:schemeClr val="accent3"/>
            </a:solidFill>
            <a:prstDash val="solid"/>
          </a:ln>
        </p:spPr>
      </p:sp>
      <p:pic>
        <p:nvPicPr>
          <p:cNvPr id="16" name="icon FaSearch" descr="FaSearch">    </p:cNvPr>
          <p:cNvPicPr>
            <a:picLocks noChangeAspect="1"/>
          </p:cNvPicPr>
          <p:nvPr/>
        </p:nvPicPr>
        <p:blipFill>
          <a:blip r:embed="rId3"/>
          <a:stretch>
            <a:fillRect/>
          </a:stretch>
        </p:blipFill>
        <p:spPr>
          <a:xfrm>
            <a:off x="6408115" y="1470355"/>
            <a:ext cx="213970" cy="213970"/>
          </a:xfrm>
          <a:prstGeom prst="rect">
            <a:avLst/>
          </a:prstGeom>
        </p:spPr>
      </p:pic>
      <p:sp>
        <p:nvSpPr>
          <p:cNvPr id="17" name="Text 11"/>
          <p:cNvSpPr txBox="1"/>
          <p:nvPr/>
        </p:nvSpPr>
        <p:spPr>
          <a:xfrm>
            <a:off x="6309360" y="1892808"/>
            <a:ext cx="2194560" cy="292608"/>
          </a:xfrm>
          <a:prstGeom prst="rect">
            <a:avLst/>
          </a:prstGeom>
          <a:noFill/>
          <a:ln/>
        </p:spPr>
        <p:txBody>
          <a:bodyPr wrap="square" lIns="0" tIns="0" rIns="0" bIns="0" rtlCol="0" anchor="t"/>
          <a:lstStyle/>
          <a:p>
            <a:pPr indent="0" marL="0">
              <a:buNone/>
            </a:pPr>
            <a:r>
              <a:rPr lang="en-US" sz="1600" b="1" dirty="0">
                <a:solidFill>
                  <a:schemeClr val="tx1"/>
                </a:solidFill>
              </a:rPr>
              <a:t>3  Find the run</a:t>
            </a:r>
            <a:endParaRPr lang="en-US" sz="1600" dirty="0"/>
          </a:p>
        </p:txBody>
      </p:sp>
      <p:sp>
        <p:nvSpPr>
          <p:cNvPr id="18" name="Text 12"/>
          <p:cNvSpPr txBox="1"/>
          <p:nvPr/>
        </p:nvSpPr>
        <p:spPr>
          <a:xfrm>
            <a:off x="6309360" y="2231136"/>
            <a:ext cx="2194560" cy="283464"/>
          </a:xfrm>
          <a:prstGeom prst="rect">
            <a:avLst/>
          </a:prstGeom>
          <a:noFill/>
          <a:ln/>
        </p:spPr>
        <p:txBody>
          <a:bodyPr wrap="square" lIns="0" tIns="0" rIns="0" bIns="0" rtlCol="0" anchor="t"/>
          <a:lstStyle/>
          <a:p>
            <a:pPr indent="0" marL="0">
              <a:buNone/>
            </a:pPr>
            <a:r>
              <a:rPr lang="en-US" sz="1400" dirty="0">
                <a:solidFill>
                  <a:schemeClr val="tx1"/>
                </a:solidFill>
              </a:rPr>
              <a:t>Which pipeline? Which run? Which branch?</a:t>
            </a:r>
            <a:endParaRPr lang="en-US" sz="1400" dirty="0"/>
          </a:p>
        </p:txBody>
      </p:sp>
      <p:sp>
        <p:nvSpPr>
          <p:cNvPr id="19" name="card"/>
          <p:cNvSpPr/>
          <p:nvPr/>
        </p:nvSpPr>
        <p:spPr>
          <a:xfrm>
            <a:off x="457200" y="2880360"/>
            <a:ext cx="2560320" cy="1508760"/>
          </a:xfrm>
          <a:prstGeom prst="roundRect">
            <a:avLst>
              <a:gd name="adj" fmla="val 6061"/>
            </a:avLst>
          </a:prstGeom>
          <a:solidFill>
            <a:schemeClr val="bg2"/>
          </a:solidFill>
          <a:ln w="12700">
            <a:solidFill>
              <a:schemeClr val="bg2"/>
            </a:solidFill>
            <a:prstDash val="solid"/>
          </a:ln>
        </p:spPr>
      </p:sp>
      <p:sp>
        <p:nvSpPr>
          <p:cNvPr id="20" name="icon circle"/>
          <p:cNvSpPr/>
          <p:nvPr/>
        </p:nvSpPr>
        <p:spPr>
          <a:xfrm>
            <a:off x="640080" y="3063240"/>
            <a:ext cx="411480" cy="411480"/>
          </a:xfrm>
          <a:prstGeom prst="ellipse">
            <a:avLst/>
          </a:prstGeom>
          <a:solidFill>
            <a:schemeClr val="accent3"/>
          </a:solidFill>
          <a:ln w="12700">
            <a:solidFill>
              <a:schemeClr val="accent3"/>
            </a:solidFill>
            <a:prstDash val="solid"/>
          </a:ln>
        </p:spPr>
      </p:sp>
      <p:pic>
        <p:nvPicPr>
          <p:cNvPr id="21" name="icon FaLayerGroup" descr="FaLayerGroup">    </p:cNvPr>
          <p:cNvPicPr>
            <a:picLocks noChangeAspect="1"/>
          </p:cNvPicPr>
          <p:nvPr/>
        </p:nvPicPr>
        <p:blipFill>
          <a:blip r:embed="rId4"/>
          <a:stretch>
            <a:fillRect/>
          </a:stretch>
        </p:blipFill>
        <p:spPr>
          <a:xfrm>
            <a:off x="738835" y="3161995"/>
            <a:ext cx="213970" cy="213970"/>
          </a:xfrm>
          <a:prstGeom prst="rect">
            <a:avLst/>
          </a:prstGeom>
        </p:spPr>
      </p:pic>
      <p:sp>
        <p:nvSpPr>
          <p:cNvPr id="22" name="Text 15"/>
          <p:cNvSpPr txBox="1"/>
          <p:nvPr/>
        </p:nvSpPr>
        <p:spPr>
          <a:xfrm>
            <a:off x="640080" y="3584448"/>
            <a:ext cx="2194560" cy="292608"/>
          </a:xfrm>
          <a:prstGeom prst="rect">
            <a:avLst/>
          </a:prstGeom>
          <a:noFill/>
          <a:ln/>
        </p:spPr>
        <p:txBody>
          <a:bodyPr wrap="square" lIns="0" tIns="0" rIns="0" bIns="0" rtlCol="0" anchor="t"/>
          <a:lstStyle/>
          <a:p>
            <a:pPr indent="0" marL="0">
              <a:buNone/>
            </a:pPr>
            <a:r>
              <a:rPr lang="en-US" sz="1600" b="1" dirty="0">
                <a:solidFill>
                  <a:schemeClr val="tx1"/>
                </a:solidFill>
              </a:rPr>
              <a:t>4  Dig into stages</a:t>
            </a:r>
            <a:endParaRPr lang="en-US" sz="1600" dirty="0"/>
          </a:p>
        </p:txBody>
      </p:sp>
      <p:sp>
        <p:nvSpPr>
          <p:cNvPr id="23" name="Text 16"/>
          <p:cNvSpPr txBox="1"/>
          <p:nvPr/>
        </p:nvSpPr>
        <p:spPr>
          <a:xfrm>
            <a:off x="640080" y="3922776"/>
            <a:ext cx="2194560" cy="283464"/>
          </a:xfrm>
          <a:prstGeom prst="rect">
            <a:avLst/>
          </a:prstGeom>
          <a:noFill/>
          <a:ln/>
        </p:spPr>
        <p:txBody>
          <a:bodyPr wrap="square" lIns="0" tIns="0" rIns="0" bIns="0" rtlCol="0" anchor="t"/>
          <a:lstStyle/>
          <a:p>
            <a:pPr indent="0" marL="0">
              <a:buNone/>
            </a:pPr>
            <a:r>
              <a:rPr lang="en-US" sz="1400" dirty="0">
                <a:solidFill>
                  <a:schemeClr val="tx1"/>
                </a:solidFill>
              </a:rPr>
              <a:t>Click through stages and jobs to the red step</a:t>
            </a:r>
            <a:endParaRPr lang="en-US" sz="1400" dirty="0"/>
          </a:p>
        </p:txBody>
      </p:sp>
      <p:sp>
        <p:nvSpPr>
          <p:cNvPr id="24" name="card"/>
          <p:cNvSpPr/>
          <p:nvPr/>
        </p:nvSpPr>
        <p:spPr>
          <a:xfrm>
            <a:off x="3291840" y="2880360"/>
            <a:ext cx="2560320" cy="1508760"/>
          </a:xfrm>
          <a:prstGeom prst="roundRect">
            <a:avLst>
              <a:gd name="adj" fmla="val 6061"/>
            </a:avLst>
          </a:prstGeom>
          <a:solidFill>
            <a:schemeClr val="bg2"/>
          </a:solidFill>
          <a:ln w="12700">
            <a:solidFill>
              <a:schemeClr val="bg2"/>
            </a:solidFill>
            <a:prstDash val="solid"/>
          </a:ln>
        </p:spPr>
      </p:sp>
      <p:sp>
        <p:nvSpPr>
          <p:cNvPr id="25" name="icon circle"/>
          <p:cNvSpPr/>
          <p:nvPr/>
        </p:nvSpPr>
        <p:spPr>
          <a:xfrm>
            <a:off x="3474720" y="3063240"/>
            <a:ext cx="411480" cy="411480"/>
          </a:xfrm>
          <a:prstGeom prst="ellipse">
            <a:avLst/>
          </a:prstGeom>
          <a:solidFill>
            <a:schemeClr val="accent3"/>
          </a:solidFill>
          <a:ln w="12700">
            <a:solidFill>
              <a:schemeClr val="accent3"/>
            </a:solidFill>
            <a:prstDash val="solid"/>
          </a:ln>
        </p:spPr>
      </p:sp>
      <p:pic>
        <p:nvPicPr>
          <p:cNvPr id="26" name="icon FaFileAlt" descr="FaFileAlt">    </p:cNvPr>
          <p:cNvPicPr>
            <a:picLocks noChangeAspect="1"/>
          </p:cNvPicPr>
          <p:nvPr/>
        </p:nvPicPr>
        <p:blipFill>
          <a:blip r:embed="rId5"/>
          <a:stretch>
            <a:fillRect/>
          </a:stretch>
        </p:blipFill>
        <p:spPr>
          <a:xfrm>
            <a:off x="3573475" y="3161995"/>
            <a:ext cx="213970" cy="213970"/>
          </a:xfrm>
          <a:prstGeom prst="rect">
            <a:avLst/>
          </a:prstGeom>
        </p:spPr>
      </p:pic>
      <p:sp>
        <p:nvSpPr>
          <p:cNvPr id="27" name="Text 19"/>
          <p:cNvSpPr txBox="1"/>
          <p:nvPr/>
        </p:nvSpPr>
        <p:spPr>
          <a:xfrm>
            <a:off x="3474720" y="3584448"/>
            <a:ext cx="2194560" cy="292608"/>
          </a:xfrm>
          <a:prstGeom prst="rect">
            <a:avLst/>
          </a:prstGeom>
          <a:noFill/>
          <a:ln/>
        </p:spPr>
        <p:txBody>
          <a:bodyPr wrap="square" lIns="0" tIns="0" rIns="0" bIns="0" rtlCol="0" anchor="t"/>
          <a:lstStyle/>
          <a:p>
            <a:pPr indent="0" marL="0">
              <a:buNone/>
            </a:pPr>
            <a:r>
              <a:rPr lang="en-US" sz="1600" b="1" dirty="0">
                <a:solidFill>
                  <a:schemeClr val="tx1"/>
                </a:solidFill>
              </a:rPr>
              <a:t>5  Read the logs</a:t>
            </a:r>
            <a:endParaRPr lang="en-US" sz="1600" dirty="0"/>
          </a:p>
        </p:txBody>
      </p:sp>
      <p:sp>
        <p:nvSpPr>
          <p:cNvPr id="28" name="Text 20"/>
          <p:cNvSpPr txBox="1"/>
          <p:nvPr/>
        </p:nvSpPr>
        <p:spPr>
          <a:xfrm>
            <a:off x="3474720" y="3922776"/>
            <a:ext cx="2194560" cy="283464"/>
          </a:xfrm>
          <a:prstGeom prst="rect">
            <a:avLst/>
          </a:prstGeom>
          <a:noFill/>
          <a:ln/>
        </p:spPr>
        <p:txBody>
          <a:bodyPr wrap="square" lIns="0" tIns="0" rIns="0" bIns="0" rtlCol="0" anchor="t"/>
          <a:lstStyle/>
          <a:p>
            <a:pPr indent="0" marL="0">
              <a:buNone/>
            </a:pPr>
            <a:r>
              <a:rPr lang="en-US" sz="1400" dirty="0">
                <a:solidFill>
                  <a:schemeClr val="tx1"/>
                </a:solidFill>
              </a:rPr>
              <a:t>Scroll thousands of lines for the real error</a:t>
            </a:r>
            <a:endParaRPr lang="en-US" sz="1400" dirty="0"/>
          </a:p>
        </p:txBody>
      </p:sp>
      <p:sp>
        <p:nvSpPr>
          <p:cNvPr id="29" name="card"/>
          <p:cNvSpPr/>
          <p:nvPr/>
        </p:nvSpPr>
        <p:spPr>
          <a:xfrm>
            <a:off x="6126480" y="2880360"/>
            <a:ext cx="2560320" cy="1508760"/>
          </a:xfrm>
          <a:prstGeom prst="roundRect">
            <a:avLst>
              <a:gd name="adj" fmla="val 6061"/>
            </a:avLst>
          </a:prstGeom>
          <a:solidFill>
            <a:schemeClr val="bg2"/>
          </a:solidFill>
          <a:ln w="12700">
            <a:solidFill>
              <a:schemeClr val="bg2"/>
            </a:solidFill>
            <a:prstDash val="solid"/>
          </a:ln>
        </p:spPr>
      </p:sp>
      <p:sp>
        <p:nvSpPr>
          <p:cNvPr id="30" name="icon circle"/>
          <p:cNvSpPr/>
          <p:nvPr/>
        </p:nvSpPr>
        <p:spPr>
          <a:xfrm>
            <a:off x="6309360" y="3063240"/>
            <a:ext cx="411480" cy="411480"/>
          </a:xfrm>
          <a:prstGeom prst="ellipse">
            <a:avLst/>
          </a:prstGeom>
          <a:solidFill>
            <a:schemeClr val="accent3"/>
          </a:solidFill>
          <a:ln w="12700">
            <a:solidFill>
              <a:schemeClr val="accent3"/>
            </a:solidFill>
            <a:prstDash val="solid"/>
          </a:ln>
        </p:spPr>
      </p:sp>
      <p:pic>
        <p:nvPicPr>
          <p:cNvPr id="31" name="icon FaCommentDots" descr="FaCommentDots">    </p:cNvPr>
          <p:cNvPicPr>
            <a:picLocks noChangeAspect="1"/>
          </p:cNvPicPr>
          <p:nvPr/>
        </p:nvPicPr>
        <p:blipFill>
          <a:blip r:embed="rId6"/>
          <a:stretch>
            <a:fillRect/>
          </a:stretch>
        </p:blipFill>
        <p:spPr>
          <a:xfrm>
            <a:off x="6408115" y="3161995"/>
            <a:ext cx="213970" cy="213970"/>
          </a:xfrm>
          <a:prstGeom prst="rect">
            <a:avLst/>
          </a:prstGeom>
        </p:spPr>
      </p:pic>
      <p:sp>
        <p:nvSpPr>
          <p:cNvPr id="32" name="Text 23"/>
          <p:cNvSpPr txBox="1"/>
          <p:nvPr/>
        </p:nvSpPr>
        <p:spPr>
          <a:xfrm>
            <a:off x="6309360" y="3584448"/>
            <a:ext cx="2194560" cy="292608"/>
          </a:xfrm>
          <a:prstGeom prst="rect">
            <a:avLst/>
          </a:prstGeom>
          <a:noFill/>
          <a:ln/>
        </p:spPr>
        <p:txBody>
          <a:bodyPr wrap="square" lIns="0" tIns="0" rIns="0" bIns="0" rtlCol="0" anchor="t"/>
          <a:lstStyle/>
          <a:p>
            <a:pPr indent="0" marL="0">
              <a:buNone/>
            </a:pPr>
            <a:r>
              <a:rPr lang="en-US" sz="1600" b="1" dirty="0">
                <a:solidFill>
                  <a:schemeClr val="tx1"/>
                </a:solidFill>
              </a:rPr>
              <a:t>6  Guess the cause</a:t>
            </a:r>
            <a:endParaRPr lang="en-US" sz="1600" dirty="0"/>
          </a:p>
        </p:txBody>
      </p:sp>
      <p:sp>
        <p:nvSpPr>
          <p:cNvPr id="33" name="Text 24"/>
          <p:cNvSpPr txBox="1"/>
          <p:nvPr/>
        </p:nvSpPr>
        <p:spPr>
          <a:xfrm>
            <a:off x="6309360" y="3922776"/>
            <a:ext cx="2194560" cy="283464"/>
          </a:xfrm>
          <a:prstGeom prst="rect">
            <a:avLst/>
          </a:prstGeom>
          <a:noFill/>
          <a:ln/>
        </p:spPr>
        <p:txBody>
          <a:bodyPr wrap="square" lIns="0" tIns="0" rIns="0" bIns="0" rtlCol="0" anchor="t"/>
          <a:lstStyle/>
          <a:p>
            <a:pPr indent="0" marL="0">
              <a:buNone/>
            </a:pPr>
            <a:r>
              <a:rPr lang="en-US" sz="1400" dirty="0">
                <a:solidFill>
                  <a:schemeClr val="tx1"/>
                </a:solidFill>
              </a:rPr>
              <a:t>Search the web, ask a teammate, hope</a:t>
            </a:r>
            <a:endParaRPr lang="en-US" sz="1400" dirty="0"/>
          </a:p>
        </p:txBody>
      </p:sp>
      <p:sp>
        <p:nvSpPr>
          <p:cNvPr id="34" name="Text 25"/>
          <p:cNvSpPr txBox="1"/>
          <p:nvPr/>
        </p:nvSpPr>
        <p:spPr>
          <a:xfrm>
            <a:off x="457200" y="4553712"/>
            <a:ext cx="8229600" cy="228600"/>
          </a:xfrm>
          <a:prstGeom prst="rect">
            <a:avLst/>
          </a:prstGeom>
          <a:noFill/>
          <a:ln/>
        </p:spPr>
        <p:txBody>
          <a:bodyPr wrap="square" lIns="0" tIns="0" rIns="0" bIns="0" rtlCol="0" anchor="t"/>
          <a:lstStyle/>
          <a:p>
            <a:pPr indent="0" marL="0">
              <a:buNone/>
            </a:pPr>
            <a:r>
              <a:rPr lang="en-US" sz="1300" i="1" dirty="0">
                <a:solidFill>
                  <a:schemeClr val="tx2"/>
                </a:solidFill>
              </a:rPr>
              <a:t>...then fix it, re-run it, and open the portal again to check.</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pain points of manual triage</a:t>
            </a:r>
            <a:endParaRPr lang="en-US" sz="3000" dirty="0"/>
          </a:p>
        </p:txBody>
      </p:sp>
      <p:sp>
        <p:nvSpPr>
          <p:cNvPr id="4" name="card"/>
          <p:cNvSpPr/>
          <p:nvPr/>
        </p:nvSpPr>
        <p:spPr>
          <a:xfrm>
            <a:off x="457200" y="1234440"/>
            <a:ext cx="3977640" cy="1280160"/>
          </a:xfrm>
          <a:prstGeom prst="roundRect">
            <a:avLst>
              <a:gd name="adj" fmla="val 7143"/>
            </a:avLst>
          </a:prstGeom>
          <a:solidFill>
            <a:schemeClr val="bg2"/>
          </a:solidFill>
          <a:ln w="12700">
            <a:solidFill>
              <a:schemeClr val="bg2"/>
            </a:solidFill>
            <a:prstDash val="solid"/>
          </a:ln>
        </p:spPr>
      </p:sp>
      <p:sp>
        <p:nvSpPr>
          <p:cNvPr id="5" name="icon circle"/>
          <p:cNvSpPr/>
          <p:nvPr/>
        </p:nvSpPr>
        <p:spPr>
          <a:xfrm>
            <a:off x="640080" y="1600200"/>
            <a:ext cx="548640" cy="548640"/>
          </a:xfrm>
          <a:prstGeom prst="ellipse">
            <a:avLst/>
          </a:prstGeom>
          <a:solidFill>
            <a:schemeClr val="accent3"/>
          </a:solidFill>
          <a:ln w="12700">
            <a:solidFill>
              <a:schemeClr val="accent3"/>
            </a:solidFill>
            <a:prstDash val="solid"/>
          </a:ln>
        </p:spPr>
      </p:sp>
      <p:pic>
        <p:nvPicPr>
          <p:cNvPr id="6" name="icon FaClock" descr="FaClock">    </p:cNvPr>
          <p:cNvPicPr>
            <a:picLocks noChangeAspect="1"/>
          </p:cNvPicPr>
          <p:nvPr/>
        </p:nvPicPr>
        <p:blipFill>
          <a:blip r:embed="rId1"/>
          <a:stretch>
            <a:fillRect/>
          </a:stretch>
        </p:blipFill>
        <p:spPr>
          <a:xfrm>
            <a:off x="771754" y="1731874"/>
            <a:ext cx="285293" cy="285293"/>
          </a:xfrm>
          <a:prstGeom prst="rect">
            <a:avLst/>
          </a:prstGeom>
        </p:spPr>
      </p:pic>
      <p:sp>
        <p:nvSpPr>
          <p:cNvPr id="7" name="Text 3"/>
          <p:cNvSpPr txBox="1"/>
          <p:nvPr/>
        </p:nvSpPr>
        <p:spPr>
          <a:xfrm>
            <a:off x="1353312" y="1307592"/>
            <a:ext cx="2898648" cy="1133856"/>
          </a:xfrm>
          <a:prstGeom prst="rect">
            <a:avLst/>
          </a:prstGeom>
          <a:noFill/>
          <a:ln/>
        </p:spPr>
        <p:txBody>
          <a:bodyPr wrap="square" lIns="0" tIns="0" rIns="0" bIns="0" rtlCol="0" anchor="ctr"/>
          <a:lstStyle/>
          <a:p>
            <a:pPr indent="0" marL="0">
              <a:buNone/>
            </a:pPr>
            <a:r>
              <a:rPr lang="en-US" sz="1600" b="1" dirty="0">
                <a:solidFill>
                  <a:schemeClr val="tx1"/>
                </a:solidFill>
              </a:rPr>
              <a:t>Slow and repetitive</a:t>
            </a:r>
            <a:endParaRPr lang="en-US" sz="1600" dirty="0"/>
          </a:p>
          <a:p>
            <a:pPr indent="0" marL="0">
              <a:buNone/>
            </a:pPr>
            <a:r>
              <a:rPr lang="en-US" sz="1400" dirty="0">
                <a:solidFill>
                  <a:schemeClr val="tx1"/>
                </a:solidFill>
              </a:rPr>
              <a:t>The same clicking and scrolling for every failure, every time.</a:t>
            </a:r>
            <a:endParaRPr lang="en-US" sz="1600" dirty="0"/>
          </a:p>
        </p:txBody>
      </p:sp>
      <p:sp>
        <p:nvSpPr>
          <p:cNvPr id="8" name="card"/>
          <p:cNvSpPr/>
          <p:nvPr/>
        </p:nvSpPr>
        <p:spPr>
          <a:xfrm>
            <a:off x="4709160" y="1234440"/>
            <a:ext cx="3977640" cy="1280160"/>
          </a:xfrm>
          <a:prstGeom prst="roundRect">
            <a:avLst>
              <a:gd name="adj" fmla="val 7143"/>
            </a:avLst>
          </a:prstGeom>
          <a:solidFill>
            <a:schemeClr val="bg2"/>
          </a:solidFill>
          <a:ln w="12700">
            <a:solidFill>
              <a:schemeClr val="bg2"/>
            </a:solidFill>
            <a:prstDash val="solid"/>
          </a:ln>
        </p:spPr>
      </p:sp>
      <p:sp>
        <p:nvSpPr>
          <p:cNvPr id="9" name="icon circle"/>
          <p:cNvSpPr/>
          <p:nvPr/>
        </p:nvSpPr>
        <p:spPr>
          <a:xfrm>
            <a:off x="4892040" y="1600200"/>
            <a:ext cx="548640" cy="548640"/>
          </a:xfrm>
          <a:prstGeom prst="ellipse">
            <a:avLst/>
          </a:prstGeom>
          <a:solidFill>
            <a:schemeClr val="accent1"/>
          </a:solidFill>
          <a:ln w="12700">
            <a:solidFill>
              <a:schemeClr val="accent1"/>
            </a:solidFill>
            <a:prstDash val="solid"/>
          </a:ln>
        </p:spPr>
      </p:sp>
      <p:pic>
        <p:nvPicPr>
          <p:cNvPr id="10" name="icon FaUsers" descr="FaUsers">    </p:cNvPr>
          <p:cNvPicPr>
            <a:picLocks noChangeAspect="1"/>
          </p:cNvPicPr>
          <p:nvPr/>
        </p:nvPicPr>
        <p:blipFill>
          <a:blip r:embed="rId2"/>
          <a:stretch>
            <a:fillRect/>
          </a:stretch>
        </p:blipFill>
        <p:spPr>
          <a:xfrm>
            <a:off x="5023714" y="1731874"/>
            <a:ext cx="285293" cy="285293"/>
          </a:xfrm>
          <a:prstGeom prst="rect">
            <a:avLst/>
          </a:prstGeom>
        </p:spPr>
      </p:pic>
      <p:sp>
        <p:nvSpPr>
          <p:cNvPr id="11" name="Text 6"/>
          <p:cNvSpPr txBox="1"/>
          <p:nvPr/>
        </p:nvSpPr>
        <p:spPr>
          <a:xfrm>
            <a:off x="5605272" y="1307592"/>
            <a:ext cx="2898648" cy="1133856"/>
          </a:xfrm>
          <a:prstGeom prst="rect">
            <a:avLst/>
          </a:prstGeom>
          <a:noFill/>
          <a:ln/>
        </p:spPr>
        <p:txBody>
          <a:bodyPr wrap="square" lIns="0" tIns="0" rIns="0" bIns="0" rtlCol="0" anchor="ctr"/>
          <a:lstStyle/>
          <a:p>
            <a:pPr indent="0" marL="0">
              <a:buNone/>
            </a:pPr>
            <a:r>
              <a:rPr lang="en-US" sz="1600" b="1" dirty="0">
                <a:solidFill>
                  <a:schemeClr val="tx1"/>
                </a:solidFill>
              </a:rPr>
              <a:t>Inconsistent</a:t>
            </a:r>
            <a:endParaRPr lang="en-US" sz="1600" dirty="0"/>
          </a:p>
          <a:p>
            <a:pPr indent="0" marL="0">
              <a:buNone/>
            </a:pPr>
            <a:r>
              <a:rPr lang="en-US" sz="1400" dirty="0">
                <a:solidFill>
                  <a:schemeClr val="tx1"/>
                </a:solidFill>
              </a:rPr>
              <a:t>Each engineer investigates and writes it up differently.</a:t>
            </a:r>
            <a:endParaRPr lang="en-US" sz="1600" dirty="0"/>
          </a:p>
        </p:txBody>
      </p:sp>
      <p:sp>
        <p:nvSpPr>
          <p:cNvPr id="12" name="card"/>
          <p:cNvSpPr/>
          <p:nvPr/>
        </p:nvSpPr>
        <p:spPr>
          <a:xfrm>
            <a:off x="457200" y="2651760"/>
            <a:ext cx="3977640" cy="1280160"/>
          </a:xfrm>
          <a:prstGeom prst="roundRect">
            <a:avLst>
              <a:gd name="adj" fmla="val 7143"/>
            </a:avLst>
          </a:prstGeom>
          <a:solidFill>
            <a:schemeClr val="bg2"/>
          </a:solidFill>
          <a:ln w="12700">
            <a:solidFill>
              <a:schemeClr val="bg2"/>
            </a:solidFill>
            <a:prstDash val="solid"/>
          </a:ln>
        </p:spPr>
      </p:sp>
      <p:sp>
        <p:nvSpPr>
          <p:cNvPr id="13" name="icon circle"/>
          <p:cNvSpPr/>
          <p:nvPr/>
        </p:nvSpPr>
        <p:spPr>
          <a:xfrm>
            <a:off x="640080" y="3017520"/>
            <a:ext cx="548640" cy="548640"/>
          </a:xfrm>
          <a:prstGeom prst="ellipse">
            <a:avLst/>
          </a:prstGeom>
          <a:solidFill>
            <a:schemeClr val="accent4"/>
          </a:solidFill>
          <a:ln w="12700">
            <a:solidFill>
              <a:schemeClr val="accent4"/>
            </a:solidFill>
            <a:prstDash val="solid"/>
          </a:ln>
        </p:spPr>
      </p:sp>
      <p:pic>
        <p:nvPicPr>
          <p:cNvPr id="14" name="icon FaLock" descr="FaLock">    </p:cNvPr>
          <p:cNvPicPr>
            <a:picLocks noChangeAspect="1"/>
          </p:cNvPicPr>
          <p:nvPr/>
        </p:nvPicPr>
        <p:blipFill>
          <a:blip r:embed="rId3"/>
          <a:stretch>
            <a:fillRect/>
          </a:stretch>
        </p:blipFill>
        <p:spPr>
          <a:xfrm>
            <a:off x="771754" y="3149194"/>
            <a:ext cx="285293" cy="285293"/>
          </a:xfrm>
          <a:prstGeom prst="rect">
            <a:avLst/>
          </a:prstGeom>
        </p:spPr>
      </p:pic>
      <p:sp>
        <p:nvSpPr>
          <p:cNvPr id="15" name="Text 9"/>
          <p:cNvSpPr txBox="1"/>
          <p:nvPr/>
        </p:nvSpPr>
        <p:spPr>
          <a:xfrm>
            <a:off x="1353312" y="2724912"/>
            <a:ext cx="2898648" cy="1133856"/>
          </a:xfrm>
          <a:prstGeom prst="rect">
            <a:avLst/>
          </a:prstGeom>
          <a:noFill/>
          <a:ln/>
        </p:spPr>
        <p:txBody>
          <a:bodyPr wrap="square" lIns="0" tIns="0" rIns="0" bIns="0" rtlCol="0" anchor="ctr"/>
          <a:lstStyle/>
          <a:p>
            <a:pPr indent="0" marL="0">
              <a:buNone/>
            </a:pPr>
            <a:r>
              <a:rPr lang="en-US" sz="1600" b="1" dirty="0">
                <a:solidFill>
                  <a:schemeClr val="tx1"/>
                </a:solidFill>
              </a:rPr>
              <a:t>Risk of leaking secrets</a:t>
            </a:r>
            <a:endParaRPr lang="en-US" sz="1600" dirty="0"/>
          </a:p>
          <a:p>
            <a:pPr indent="0" marL="0">
              <a:buNone/>
            </a:pPr>
            <a:r>
              <a:rPr lang="en-US" sz="1400" dirty="0">
                <a:solidFill>
                  <a:schemeClr val="tx1"/>
                </a:solidFill>
              </a:rPr>
              <a:t>Logs may hold tokens or passwords that get pasted into chats and screenshots.</a:t>
            </a:r>
            <a:endParaRPr lang="en-US" sz="1600" dirty="0"/>
          </a:p>
        </p:txBody>
      </p:sp>
      <p:sp>
        <p:nvSpPr>
          <p:cNvPr id="16" name="card"/>
          <p:cNvSpPr/>
          <p:nvPr/>
        </p:nvSpPr>
        <p:spPr>
          <a:xfrm>
            <a:off x="4709160" y="2651760"/>
            <a:ext cx="3977640" cy="1280160"/>
          </a:xfrm>
          <a:prstGeom prst="roundRect">
            <a:avLst>
              <a:gd name="adj" fmla="val 7143"/>
            </a:avLst>
          </a:prstGeom>
          <a:solidFill>
            <a:schemeClr val="bg2"/>
          </a:solidFill>
          <a:ln w="12700">
            <a:solidFill>
              <a:schemeClr val="bg2"/>
            </a:solidFill>
            <a:prstDash val="solid"/>
          </a:ln>
        </p:spPr>
      </p:sp>
      <p:sp>
        <p:nvSpPr>
          <p:cNvPr id="17" name="icon circle"/>
          <p:cNvSpPr/>
          <p:nvPr/>
        </p:nvSpPr>
        <p:spPr>
          <a:xfrm>
            <a:off x="4892040" y="3017520"/>
            <a:ext cx="548640" cy="548640"/>
          </a:xfrm>
          <a:prstGeom prst="ellipse">
            <a:avLst/>
          </a:prstGeom>
          <a:solidFill>
            <a:schemeClr val="accent5"/>
          </a:solidFill>
          <a:ln w="12700">
            <a:solidFill>
              <a:schemeClr val="accent5"/>
            </a:solidFill>
            <a:prstDash val="solid"/>
          </a:ln>
        </p:spPr>
      </p:sp>
      <p:pic>
        <p:nvPicPr>
          <p:cNvPr id="18" name="icon FaRedo" descr="FaRedo">    </p:cNvPr>
          <p:cNvPicPr>
            <a:picLocks noChangeAspect="1"/>
          </p:cNvPicPr>
          <p:nvPr/>
        </p:nvPicPr>
        <p:blipFill>
          <a:blip r:embed="rId4"/>
          <a:stretch>
            <a:fillRect/>
          </a:stretch>
        </p:blipFill>
        <p:spPr>
          <a:xfrm>
            <a:off x="5023714" y="3149194"/>
            <a:ext cx="285293" cy="285293"/>
          </a:xfrm>
          <a:prstGeom prst="rect">
            <a:avLst/>
          </a:prstGeom>
        </p:spPr>
      </p:pic>
      <p:sp>
        <p:nvSpPr>
          <p:cNvPr id="19" name="Text 12"/>
          <p:cNvSpPr txBox="1"/>
          <p:nvPr/>
        </p:nvSpPr>
        <p:spPr>
          <a:xfrm>
            <a:off x="5605272" y="2724912"/>
            <a:ext cx="2898648" cy="1133856"/>
          </a:xfrm>
          <a:prstGeom prst="rect">
            <a:avLst/>
          </a:prstGeom>
          <a:noFill/>
          <a:ln/>
        </p:spPr>
        <p:txBody>
          <a:bodyPr wrap="square" lIns="0" tIns="0" rIns="0" bIns="0" rtlCol="0" anchor="ctr"/>
          <a:lstStyle/>
          <a:p>
            <a:pPr indent="0" marL="0">
              <a:buNone/>
            </a:pPr>
            <a:r>
              <a:rPr lang="en-US" sz="1600" b="1" dirty="0">
                <a:solidFill>
                  <a:schemeClr val="tx1"/>
                </a:solidFill>
              </a:rPr>
              <a:t>Hard to repeat or audit</a:t>
            </a:r>
            <a:endParaRPr lang="en-US" sz="1600" dirty="0"/>
          </a:p>
          <a:p>
            <a:pPr indent="0" marL="0">
              <a:buNone/>
            </a:pPr>
            <a:r>
              <a:rPr lang="en-US" sz="1400" dirty="0">
                <a:solidFill>
                  <a:schemeClr val="tx1"/>
                </a:solidFill>
              </a:rPr>
              <a:t>No saved evidence, so comparing a failure with a healthy run is guesswork.</a:t>
            </a:r>
            <a:endParaRPr lang="en-US" sz="1600" dirty="0"/>
          </a:p>
        </p:txBody>
      </p:sp>
      <p:sp>
        <p:nvSpPr>
          <p:cNvPr id="20" name="callout"/>
          <p:cNvSpPr/>
          <p:nvPr/>
        </p:nvSpPr>
        <p:spPr>
          <a:xfrm>
            <a:off x="457200" y="4114800"/>
            <a:ext cx="8229600" cy="548640"/>
          </a:xfrm>
          <a:prstGeom prst="roundRect">
            <a:avLst>
              <a:gd name="adj" fmla="val 16667"/>
            </a:avLst>
          </a:prstGeom>
          <a:solidFill>
            <a:schemeClr val="accent2"/>
          </a:solidFill>
          <a:ln w="12700">
            <a:solidFill>
              <a:schemeClr val="accent2"/>
            </a:solidFill>
            <a:prstDash val="solid"/>
          </a:ln>
        </p:spPr>
      </p:sp>
      <p:sp>
        <p:nvSpPr>
          <p:cNvPr id="21" name="Text 14"/>
          <p:cNvSpPr txBox="1"/>
          <p:nvPr/>
        </p:nvSpPr>
        <p:spPr>
          <a:xfrm>
            <a:off x="685800" y="411480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Goal: make triage fast, consistent, safe and repeatable, without taking the human out of control.</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BEFORE vs AFTER, step by step</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3017520"/>
                <a:gridCol w="3474720"/>
              </a:tblGrid>
              <a:tr h="393192">
                <a:tc>
                  <a:txBody>
                    <a:bodyPr/>
                    <a:lstStyle/>
                    <a:p>
                      <a:pPr indent="0" marL="0">
                        <a:buNone/>
                      </a:pPr>
                      <a:r>
                        <a:rPr lang="en-US" sz="1400" b="1" dirty="0">
                          <a:solidFill>
                            <a:schemeClr val="bg1"/>
                          </a:solidFill>
                        </a:rPr>
                        <a:t>Job</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BEFORE: manual</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AFTER: triage workflow</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393192">
                <a:tc>
                  <a:txBody>
                    <a:bodyPr/>
                    <a:lstStyle/>
                    <a:p>
                      <a:pPr indent="0" marL="0">
                        <a:buNone/>
                      </a:pPr>
                      <a:r>
                        <a:rPr lang="en-US" sz="1400" b="1" dirty="0">
                          <a:solidFill>
                            <a:schemeClr val="tx1"/>
                          </a:solidFill>
                        </a:rPr>
                        <a:t>Find the failure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Open the portal, hunt through runs</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Script queries the latest run of both pipelines</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93192">
                <a:tc>
                  <a:txBody>
                    <a:bodyPr/>
                    <a:lstStyle/>
                    <a:p>
                      <a:pPr indent="0" marL="0">
                        <a:buNone/>
                      </a:pPr>
                      <a:r>
                        <a:rPr lang="en-US" sz="1400" b="1" dirty="0">
                          <a:solidFill>
                            <a:schemeClr val="tx1"/>
                          </a:solidFill>
                        </a:rPr>
                        <a:t>Get the logs</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Click stage by stage and scroll</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Script pulls the Build Logs through the API</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93192">
                <a:tc>
                  <a:txBody>
                    <a:bodyPr/>
                    <a:lstStyle/>
                    <a:p>
                      <a:pPr indent="0" marL="0">
                        <a:buNone/>
                      </a:pPr>
                      <a:r>
                        <a:rPr lang="en-US" sz="1400" b="1" dirty="0">
                          <a:solidFill>
                            <a:schemeClr val="tx1"/>
                          </a:solidFill>
                        </a:rPr>
                        <a:t>Classify the cause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Gut feeling and experience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8 pattern-based categories plus a fallback</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93192">
                <a:tc>
                  <a:txBody>
                    <a:bodyPr/>
                    <a:lstStyle/>
                    <a:p>
                      <a:pPr indent="0" marL="0">
                        <a:buNone/>
                      </a:pPr>
                      <a:r>
                        <a:rPr lang="en-US" sz="1400" b="1" dirty="0">
                          <a:solidFill>
                            <a:schemeClr val="tx1"/>
                          </a:solidFill>
                        </a:rPr>
                        <a:t>Protect secrets</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Easy to paste a token into chat</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Sensitive values redacted before saving</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93192">
                <a:tc>
                  <a:txBody>
                    <a:bodyPr/>
                    <a:lstStyle/>
                    <a:p>
                      <a:pPr indent="0" marL="0">
                        <a:buNone/>
                      </a:pPr>
                      <a:r>
                        <a:rPr lang="en-US" sz="1400" b="1" dirty="0">
                          <a:solidFill>
                            <a:schemeClr val="tx1"/>
                          </a:solidFill>
                        </a:rPr>
                        <a:t>Explain the failure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Different for every engineer</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Same 9-point structured report every time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93192">
                <a:tc>
                  <a:txBody>
                    <a:bodyPr/>
                    <a:lstStyle/>
                    <a:p>
                      <a:pPr indent="0" marL="0">
                        <a:buNone/>
                      </a:pPr>
                      <a:r>
                        <a:rPr lang="en-US" sz="1400" b="1" dirty="0">
                          <a:solidFill>
                            <a:schemeClr val="tx1"/>
                          </a:solidFill>
                        </a:rPr>
                        <a:t>Keep evidence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Screenshots, maybe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Saved reports and logs in reports/</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93192">
                <a:tc>
                  <a:txBody>
                    <a:bodyPr/>
                    <a:lstStyle/>
                    <a:p>
                      <a:pPr indent="0" marL="0">
                        <a:buNone/>
                      </a:pPr>
                      <a:r>
                        <a:rPr lang="en-US" sz="1400" b="1" dirty="0">
                          <a:solidFill>
                            <a:schemeClr val="tx1"/>
                          </a:solidFill>
                        </a:rPr>
                        <a:t>Apply the fix</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Engineer</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Still the engineer (human approved)</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new workflow: a four-step loop</a:t>
            </a:r>
            <a:endParaRPr lang="en-US" sz="3000" dirty="0"/>
          </a:p>
        </p:txBody>
      </p:sp>
      <p:sp>
        <p:nvSpPr>
          <p:cNvPr id="4" name="step 1"/>
          <p:cNvSpPr/>
          <p:nvPr/>
        </p:nvSpPr>
        <p:spPr>
          <a:xfrm>
            <a:off x="457200" y="1371600"/>
            <a:ext cx="1783080" cy="2103120"/>
          </a:xfrm>
          <a:prstGeom prst="roundRect">
            <a:avLst>
              <a:gd name="adj" fmla="val 5128"/>
            </a:avLst>
          </a:prstGeom>
          <a:solidFill>
            <a:schemeClr val="accent2"/>
          </a:solidFill>
          <a:ln w="12700">
            <a:solidFill>
              <a:schemeClr val="accent2"/>
            </a:solidFill>
            <a:prstDash val="solid"/>
          </a:ln>
        </p:spPr>
      </p:sp>
      <p:sp>
        <p:nvSpPr>
          <p:cNvPr id="5" name="Shape 2"/>
          <p:cNvSpPr/>
          <p:nvPr/>
        </p:nvSpPr>
        <p:spPr>
          <a:xfrm>
            <a:off x="594360" y="1508760"/>
            <a:ext cx="411480" cy="411480"/>
          </a:xfrm>
          <a:prstGeom prst="ellipse">
            <a:avLst/>
          </a:prstGeom>
          <a:solidFill>
            <a:schemeClr val="bg1">
              <a:alpha val="18000"/>
            </a:schemeClr>
          </a:solidFill>
          <a:ln w="12700">
            <a:solidFill>
              <a:schemeClr val="bg1"/>
            </a:solidFill>
            <a:prstDash val="solid"/>
          </a:ln>
        </p:spPr>
      </p:sp>
      <p:pic>
        <p:nvPicPr>
          <p:cNvPr id="6" name="Image 0" descr="FaSearch">    </p:cNvPr>
          <p:cNvPicPr>
            <a:picLocks noChangeAspect="1"/>
          </p:cNvPicPr>
          <p:nvPr/>
        </p:nvPicPr>
        <p:blipFill>
          <a:blip r:embed="rId1"/>
          <a:stretch>
            <a:fillRect/>
          </a:stretch>
        </p:blipFill>
        <p:spPr>
          <a:xfrm>
            <a:off x="694944" y="1609344"/>
            <a:ext cx="210312" cy="210312"/>
          </a:xfrm>
          <a:prstGeom prst="rect">
            <a:avLst/>
          </a:prstGeom>
        </p:spPr>
      </p:pic>
      <p:sp>
        <p:nvSpPr>
          <p:cNvPr id="7" name="Text 3"/>
          <p:cNvSpPr txBox="1"/>
          <p:nvPr/>
        </p:nvSpPr>
        <p:spPr>
          <a:xfrm>
            <a:off x="594360" y="2011680"/>
            <a:ext cx="1508760" cy="1371600"/>
          </a:xfrm>
          <a:prstGeom prst="rect">
            <a:avLst/>
          </a:prstGeom>
          <a:noFill/>
          <a:ln/>
        </p:spPr>
        <p:txBody>
          <a:bodyPr wrap="square" lIns="0" tIns="0" rIns="0" bIns="0" rtlCol="0" anchor="t"/>
          <a:lstStyle/>
          <a:p>
            <a:pPr indent="0" marL="0">
              <a:buNone/>
            </a:pPr>
            <a:r>
              <a:rPr lang="en-US" sz="1600" b="1" dirty="0">
                <a:solidFill>
                  <a:schemeClr val="bg1"/>
                </a:solidFill>
              </a:rPr>
              <a:t>1  Gather</a:t>
            </a:r>
            <a:endParaRPr lang="en-US" sz="1600" dirty="0"/>
          </a:p>
          <a:p>
            <a:pPr indent="0" marL="0">
              <a:buNone/>
            </a:pPr>
            <a:r>
              <a:rPr lang="en-US" sz="1400" dirty="0">
                <a:solidFill>
                  <a:schemeClr val="bg1"/>
                </a:solidFill>
              </a:rPr>
              <a:t>Script retrieves status and logs, read-only</a:t>
            </a:r>
            <a:endParaRPr lang="en-US" sz="1600" dirty="0"/>
          </a:p>
        </p:txBody>
      </p:sp>
      <p:sp>
        <p:nvSpPr>
          <p:cNvPr id="8" name="arrow"/>
          <p:cNvSpPr/>
          <p:nvPr/>
        </p:nvSpPr>
        <p:spPr>
          <a:xfrm>
            <a:off x="2286000" y="2423160"/>
            <a:ext cx="274320" cy="0"/>
          </a:xfrm>
          <a:prstGeom prst="line">
            <a:avLst/>
          </a:prstGeom>
          <a:noFill/>
          <a:ln w="28575">
            <a:solidFill>
              <a:schemeClr val="tx2"/>
            </a:solidFill>
            <a:prstDash val="solid"/>
            <a:tailEnd type="triangle"/>
          </a:ln>
        </p:spPr>
      </p:sp>
      <p:sp>
        <p:nvSpPr>
          <p:cNvPr id="9" name="step 2"/>
          <p:cNvSpPr/>
          <p:nvPr/>
        </p:nvSpPr>
        <p:spPr>
          <a:xfrm>
            <a:off x="2606040" y="1371600"/>
            <a:ext cx="1783080" cy="2103120"/>
          </a:xfrm>
          <a:prstGeom prst="roundRect">
            <a:avLst>
              <a:gd name="adj" fmla="val 5128"/>
            </a:avLst>
          </a:prstGeom>
          <a:solidFill>
            <a:schemeClr val="accent1"/>
          </a:solidFill>
          <a:ln w="12700">
            <a:solidFill>
              <a:schemeClr val="accent1"/>
            </a:solidFill>
            <a:prstDash val="solid"/>
          </a:ln>
        </p:spPr>
      </p:sp>
      <p:sp>
        <p:nvSpPr>
          <p:cNvPr id="10" name="Shape 6"/>
          <p:cNvSpPr/>
          <p:nvPr/>
        </p:nvSpPr>
        <p:spPr>
          <a:xfrm>
            <a:off x="2743200" y="1508760"/>
            <a:ext cx="411480" cy="411480"/>
          </a:xfrm>
          <a:prstGeom prst="ellipse">
            <a:avLst/>
          </a:prstGeom>
          <a:solidFill>
            <a:schemeClr val="tx1"/>
          </a:solidFill>
          <a:ln w="12700">
            <a:solidFill>
              <a:schemeClr val="bg1"/>
            </a:solidFill>
            <a:prstDash val="solid"/>
          </a:ln>
        </p:spPr>
      </p:sp>
      <p:pic>
        <p:nvPicPr>
          <p:cNvPr id="11" name="Image 1" descr="FaRobot">    </p:cNvPr>
          <p:cNvPicPr>
            <a:picLocks noChangeAspect="1"/>
          </p:cNvPicPr>
          <p:nvPr/>
        </p:nvPicPr>
        <p:blipFill>
          <a:blip r:embed="rId2"/>
          <a:stretch>
            <a:fillRect/>
          </a:stretch>
        </p:blipFill>
        <p:spPr>
          <a:xfrm>
            <a:off x="2843784" y="1609344"/>
            <a:ext cx="210312" cy="210312"/>
          </a:xfrm>
          <a:prstGeom prst="rect">
            <a:avLst/>
          </a:prstGeom>
        </p:spPr>
      </p:pic>
      <p:sp>
        <p:nvSpPr>
          <p:cNvPr id="12" name="Text 7"/>
          <p:cNvSpPr txBox="1"/>
          <p:nvPr/>
        </p:nvSpPr>
        <p:spPr>
          <a:xfrm>
            <a:off x="2743200" y="2011680"/>
            <a:ext cx="1508760" cy="1371600"/>
          </a:xfrm>
          <a:prstGeom prst="rect">
            <a:avLst/>
          </a:prstGeom>
          <a:noFill/>
          <a:ln/>
        </p:spPr>
        <p:txBody>
          <a:bodyPr wrap="square" lIns="0" tIns="0" rIns="0" bIns="0" rtlCol="0" anchor="t"/>
          <a:lstStyle/>
          <a:p>
            <a:pPr indent="0" marL="0">
              <a:buNone/>
            </a:pPr>
            <a:r>
              <a:rPr lang="en-US" sz="1600" b="1" dirty="0">
                <a:solidFill>
                  <a:schemeClr val="tx1"/>
                </a:solidFill>
              </a:rPr>
              <a:t>2  Analyze</a:t>
            </a:r>
            <a:endParaRPr lang="en-US" sz="1600" dirty="0"/>
          </a:p>
          <a:p>
            <a:pPr indent="0" marL="0">
              <a:buNone/>
            </a:pPr>
            <a:r>
              <a:rPr lang="en-US" sz="1400" dirty="0">
                <a:solidFill>
                  <a:schemeClr val="tx1"/>
                </a:solidFill>
              </a:rPr>
              <a:t>Claude reads the report and explains the evidence</a:t>
            </a:r>
            <a:endParaRPr lang="en-US" sz="1600" dirty="0"/>
          </a:p>
        </p:txBody>
      </p:sp>
      <p:sp>
        <p:nvSpPr>
          <p:cNvPr id="13" name="arrow"/>
          <p:cNvSpPr/>
          <p:nvPr/>
        </p:nvSpPr>
        <p:spPr>
          <a:xfrm>
            <a:off x="4434840" y="2423160"/>
            <a:ext cx="274320" cy="0"/>
          </a:xfrm>
          <a:prstGeom prst="line">
            <a:avLst/>
          </a:prstGeom>
          <a:noFill/>
          <a:ln w="28575">
            <a:solidFill>
              <a:schemeClr val="tx2"/>
            </a:solidFill>
            <a:prstDash val="solid"/>
            <a:tailEnd type="triangle"/>
          </a:ln>
        </p:spPr>
      </p:sp>
      <p:sp>
        <p:nvSpPr>
          <p:cNvPr id="14" name="step 3"/>
          <p:cNvSpPr/>
          <p:nvPr/>
        </p:nvSpPr>
        <p:spPr>
          <a:xfrm>
            <a:off x="4754880" y="1371600"/>
            <a:ext cx="1783080" cy="2103120"/>
          </a:xfrm>
          <a:prstGeom prst="roundRect">
            <a:avLst>
              <a:gd name="adj" fmla="val 5128"/>
            </a:avLst>
          </a:prstGeom>
          <a:solidFill>
            <a:schemeClr val="accent6"/>
          </a:solidFill>
          <a:ln w="12700">
            <a:solidFill>
              <a:schemeClr val="accent6"/>
            </a:solidFill>
            <a:prstDash val="solid"/>
          </a:ln>
        </p:spPr>
      </p:sp>
      <p:sp>
        <p:nvSpPr>
          <p:cNvPr id="15" name="Shape 10"/>
          <p:cNvSpPr/>
          <p:nvPr/>
        </p:nvSpPr>
        <p:spPr>
          <a:xfrm>
            <a:off x="4892040" y="1508760"/>
            <a:ext cx="411480" cy="411480"/>
          </a:xfrm>
          <a:prstGeom prst="ellipse">
            <a:avLst/>
          </a:prstGeom>
          <a:solidFill>
            <a:schemeClr val="bg1">
              <a:alpha val="18000"/>
            </a:schemeClr>
          </a:solidFill>
          <a:ln w="12700">
            <a:solidFill>
              <a:schemeClr val="bg1"/>
            </a:solidFill>
            <a:prstDash val="solid"/>
          </a:ln>
        </p:spPr>
      </p:sp>
      <p:pic>
        <p:nvPicPr>
          <p:cNvPr id="16" name="Image 2" descr="FaUserCheck">    </p:cNvPr>
          <p:cNvPicPr>
            <a:picLocks noChangeAspect="1"/>
          </p:cNvPicPr>
          <p:nvPr/>
        </p:nvPicPr>
        <p:blipFill>
          <a:blip r:embed="rId3"/>
          <a:stretch>
            <a:fillRect/>
          </a:stretch>
        </p:blipFill>
        <p:spPr>
          <a:xfrm>
            <a:off x="4992624" y="1609344"/>
            <a:ext cx="210312" cy="210312"/>
          </a:xfrm>
          <a:prstGeom prst="rect">
            <a:avLst/>
          </a:prstGeom>
        </p:spPr>
      </p:pic>
      <p:sp>
        <p:nvSpPr>
          <p:cNvPr id="17" name="Text 11"/>
          <p:cNvSpPr txBox="1"/>
          <p:nvPr/>
        </p:nvSpPr>
        <p:spPr>
          <a:xfrm>
            <a:off x="4892040" y="2011680"/>
            <a:ext cx="1508760" cy="1371600"/>
          </a:xfrm>
          <a:prstGeom prst="rect">
            <a:avLst/>
          </a:prstGeom>
          <a:noFill/>
          <a:ln/>
        </p:spPr>
        <p:txBody>
          <a:bodyPr wrap="square" lIns="0" tIns="0" rIns="0" bIns="0" rtlCol="0" anchor="t"/>
          <a:lstStyle/>
          <a:p>
            <a:pPr indent="0" marL="0">
              <a:buNone/>
            </a:pPr>
            <a:r>
              <a:rPr lang="en-US" sz="1600" b="1" dirty="0">
                <a:solidFill>
                  <a:schemeClr val="bg1"/>
                </a:solidFill>
              </a:rPr>
              <a:t>3  Human Act</a:t>
            </a:r>
            <a:endParaRPr lang="en-US" sz="1600" dirty="0"/>
          </a:p>
          <a:p>
            <a:pPr indent="0" marL="0">
              <a:buNone/>
            </a:pPr>
            <a:r>
              <a:rPr lang="en-US" sz="1400" dirty="0">
                <a:solidFill>
                  <a:schemeClr val="bg1"/>
                </a:solidFill>
              </a:rPr>
              <a:t>Engineer reviews and applies one fix</a:t>
            </a:r>
            <a:endParaRPr lang="en-US" sz="1600" dirty="0"/>
          </a:p>
        </p:txBody>
      </p:sp>
      <p:sp>
        <p:nvSpPr>
          <p:cNvPr id="18" name="arrow"/>
          <p:cNvSpPr/>
          <p:nvPr/>
        </p:nvSpPr>
        <p:spPr>
          <a:xfrm>
            <a:off x="6583680" y="2423160"/>
            <a:ext cx="274320" cy="0"/>
          </a:xfrm>
          <a:prstGeom prst="line">
            <a:avLst/>
          </a:prstGeom>
          <a:noFill/>
          <a:ln w="28575">
            <a:solidFill>
              <a:schemeClr val="tx2"/>
            </a:solidFill>
            <a:prstDash val="solid"/>
            <a:tailEnd type="triangle"/>
          </a:ln>
        </p:spPr>
      </p:sp>
      <p:sp>
        <p:nvSpPr>
          <p:cNvPr id="19" name="step 4"/>
          <p:cNvSpPr/>
          <p:nvPr/>
        </p:nvSpPr>
        <p:spPr>
          <a:xfrm>
            <a:off x="6903720" y="1371600"/>
            <a:ext cx="1783080" cy="2103120"/>
          </a:xfrm>
          <a:prstGeom prst="roundRect">
            <a:avLst>
              <a:gd name="adj" fmla="val 5128"/>
            </a:avLst>
          </a:prstGeom>
          <a:solidFill>
            <a:schemeClr val="accent4"/>
          </a:solidFill>
          <a:ln w="12700">
            <a:solidFill>
              <a:schemeClr val="accent4"/>
            </a:solidFill>
            <a:prstDash val="solid"/>
          </a:ln>
        </p:spPr>
      </p:sp>
      <p:sp>
        <p:nvSpPr>
          <p:cNvPr id="20" name="Shape 14"/>
          <p:cNvSpPr/>
          <p:nvPr/>
        </p:nvSpPr>
        <p:spPr>
          <a:xfrm>
            <a:off x="7040880" y="1508760"/>
            <a:ext cx="411480" cy="411480"/>
          </a:xfrm>
          <a:prstGeom prst="ellipse">
            <a:avLst/>
          </a:prstGeom>
          <a:solidFill>
            <a:schemeClr val="bg1">
              <a:alpha val="18000"/>
            </a:schemeClr>
          </a:solidFill>
          <a:ln w="12700">
            <a:solidFill>
              <a:schemeClr val="bg1"/>
            </a:solidFill>
            <a:prstDash val="solid"/>
          </a:ln>
        </p:spPr>
      </p:sp>
      <p:pic>
        <p:nvPicPr>
          <p:cNvPr id="21" name="Image 3" descr="FaCheckCircle">    </p:cNvPr>
          <p:cNvPicPr>
            <a:picLocks noChangeAspect="1"/>
          </p:cNvPicPr>
          <p:nvPr/>
        </p:nvPicPr>
        <p:blipFill>
          <a:blip r:embed="rId4"/>
          <a:stretch>
            <a:fillRect/>
          </a:stretch>
        </p:blipFill>
        <p:spPr>
          <a:xfrm>
            <a:off x="7141464" y="1609344"/>
            <a:ext cx="210312" cy="210312"/>
          </a:xfrm>
          <a:prstGeom prst="rect">
            <a:avLst/>
          </a:prstGeom>
        </p:spPr>
      </p:pic>
      <p:sp>
        <p:nvSpPr>
          <p:cNvPr id="22" name="Text 15"/>
          <p:cNvSpPr txBox="1"/>
          <p:nvPr/>
        </p:nvSpPr>
        <p:spPr>
          <a:xfrm>
            <a:off x="7040880" y="2011680"/>
            <a:ext cx="1508760" cy="1371600"/>
          </a:xfrm>
          <a:prstGeom prst="rect">
            <a:avLst/>
          </a:prstGeom>
          <a:noFill/>
          <a:ln/>
        </p:spPr>
        <p:txBody>
          <a:bodyPr wrap="square" lIns="0" tIns="0" rIns="0" bIns="0" rtlCol="0" anchor="t"/>
          <a:lstStyle/>
          <a:p>
            <a:pPr indent="0" marL="0">
              <a:buNone/>
            </a:pPr>
            <a:r>
              <a:rPr lang="en-US" sz="1600" b="1" dirty="0">
                <a:solidFill>
                  <a:schemeClr val="bg1"/>
                </a:solidFill>
              </a:rPr>
              <a:t>4  Verify</a:t>
            </a:r>
            <a:endParaRPr lang="en-US" sz="1600" dirty="0"/>
          </a:p>
          <a:p>
            <a:pPr indent="0" marL="0">
              <a:buNone/>
            </a:pPr>
            <a:r>
              <a:rPr lang="en-US" sz="1400" dirty="0">
                <a:solidFill>
                  <a:schemeClr val="bg1"/>
                </a:solidFill>
              </a:rPr>
              <a:t>Run triage again and expect HEALTHY</a:t>
            </a:r>
            <a:endParaRPr lang="en-US" sz="1600" dirty="0"/>
          </a:p>
        </p:txBody>
      </p:sp>
      <p:sp>
        <p:nvSpPr>
          <p:cNvPr id="23" name="arrow"/>
          <p:cNvSpPr/>
          <p:nvPr/>
        </p:nvSpPr>
        <p:spPr>
          <a:xfrm flipH="1">
            <a:off x="1463040" y="3703320"/>
            <a:ext cx="6217920" cy="0"/>
          </a:xfrm>
          <a:prstGeom prst="line">
            <a:avLst/>
          </a:prstGeom>
          <a:noFill/>
          <a:ln w="28575">
            <a:solidFill>
              <a:schemeClr val="tx2"/>
            </a:solidFill>
            <a:prstDash val="solid"/>
            <a:tailEnd type="triangle"/>
          </a:ln>
        </p:spPr>
      </p:sp>
      <p:sp>
        <p:nvSpPr>
          <p:cNvPr id="24" name="Text 17"/>
          <p:cNvSpPr txBox="1"/>
          <p:nvPr/>
        </p:nvSpPr>
        <p:spPr>
          <a:xfrm>
            <a:off x="2011680" y="3794760"/>
            <a:ext cx="5486400" cy="274320"/>
          </a:xfrm>
          <a:prstGeom prst="rect">
            <a:avLst/>
          </a:prstGeom>
          <a:noFill/>
          <a:ln/>
        </p:spPr>
        <p:txBody>
          <a:bodyPr wrap="square" lIns="0" tIns="0" rIns="0" bIns="0" rtlCol="0" anchor="t"/>
          <a:lstStyle/>
          <a:p>
            <a:pPr algn="ctr" indent="0" marL="0">
              <a:buNone/>
            </a:pPr>
            <a:r>
              <a:rPr lang="en-US" sz="1400" i="1" dirty="0">
                <a:solidFill>
                  <a:schemeClr val="tx2"/>
                </a:solidFill>
              </a:rPr>
              <a:t>If still not healthy, loop again with the new evidence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Who does what</a:t>
            </a:r>
            <a:endParaRPr lang="en-US" sz="3000" dirty="0"/>
          </a:p>
        </p:txBody>
      </p:sp>
      <p:sp>
        <p:nvSpPr>
          <p:cNvPr id="4" name="card"/>
          <p:cNvSpPr/>
          <p:nvPr/>
        </p:nvSpPr>
        <p:spPr>
          <a:xfrm>
            <a:off x="457200" y="1234440"/>
            <a:ext cx="2560320" cy="3246120"/>
          </a:xfrm>
          <a:prstGeom prst="roundRect">
            <a:avLst>
              <a:gd name="adj" fmla="val 3571"/>
            </a:avLst>
          </a:prstGeom>
          <a:solidFill>
            <a:schemeClr val="bg2"/>
          </a:solidFill>
          <a:ln w="12700">
            <a:solidFill>
              <a:schemeClr val="bg2"/>
            </a:solidFill>
            <a:prstDash val="solid"/>
          </a:ln>
        </p:spPr>
      </p:sp>
      <p:sp>
        <p:nvSpPr>
          <p:cNvPr id="5" name="icon circle"/>
          <p:cNvSpPr/>
          <p:nvPr/>
        </p:nvSpPr>
        <p:spPr>
          <a:xfrm>
            <a:off x="640080" y="1417320"/>
            <a:ext cx="457200" cy="457200"/>
          </a:xfrm>
          <a:prstGeom prst="ellipse">
            <a:avLst/>
          </a:prstGeom>
          <a:solidFill>
            <a:schemeClr val="accent2"/>
          </a:solidFill>
          <a:ln w="12700">
            <a:solidFill>
              <a:schemeClr val="accent2"/>
            </a:solidFill>
            <a:prstDash val="solid"/>
          </a:ln>
        </p:spPr>
      </p:sp>
      <p:pic>
        <p:nvPicPr>
          <p:cNvPr id="6" name="icon FaTerminal" descr="FaTerminal">    </p:cNvPr>
          <p:cNvPicPr>
            <a:picLocks noChangeAspect="1"/>
          </p:cNvPicPr>
          <p:nvPr/>
        </p:nvPicPr>
        <p:blipFill>
          <a:blip r:embed="rId1"/>
          <a:stretch>
            <a:fillRect/>
          </a:stretch>
        </p:blipFill>
        <p:spPr>
          <a:xfrm>
            <a:off x="749808" y="1527048"/>
            <a:ext cx="237744" cy="237744"/>
          </a:xfrm>
          <a:prstGeom prst="rect">
            <a:avLst/>
          </a:prstGeom>
        </p:spPr>
      </p:pic>
      <p:sp>
        <p:nvSpPr>
          <p:cNvPr id="7" name="Text 3"/>
          <p:cNvSpPr txBox="1"/>
          <p:nvPr/>
        </p:nvSpPr>
        <p:spPr>
          <a:xfrm>
            <a:off x="640080" y="1984248"/>
            <a:ext cx="2194560" cy="292608"/>
          </a:xfrm>
          <a:prstGeom prst="rect">
            <a:avLst/>
          </a:prstGeom>
          <a:noFill/>
          <a:ln/>
        </p:spPr>
        <p:txBody>
          <a:bodyPr wrap="square" lIns="0" tIns="0" rIns="0" bIns="0" rtlCol="0" anchor="t"/>
          <a:lstStyle/>
          <a:p>
            <a:pPr indent="0" marL="0">
              <a:buNone/>
            </a:pPr>
            <a:r>
              <a:rPr lang="en-US" sz="1800" b="1" dirty="0">
                <a:solidFill>
                  <a:schemeClr val="tx1"/>
                </a:solidFill>
              </a:rPr>
              <a:t>Bash script</a:t>
            </a:r>
            <a:endParaRPr lang="en-US" sz="1800" dirty="0"/>
          </a:p>
        </p:txBody>
      </p:sp>
      <p:sp>
        <p:nvSpPr>
          <p:cNvPr id="8" name="Text 4"/>
          <p:cNvSpPr txBox="1"/>
          <p:nvPr/>
        </p:nvSpPr>
        <p:spPr>
          <a:xfrm>
            <a:off x="640080" y="2322576"/>
            <a:ext cx="2194560" cy="1975104"/>
          </a:xfrm>
          <a:prstGeom prst="rect">
            <a:avLst/>
          </a:prstGeom>
          <a:noFill/>
          <a:ln/>
        </p:spPr>
        <p:txBody>
          <a:bodyPr wrap="square" lIns="0" tIns="0" rIns="0" bIns="0" rtlCol="0" anchor="t"/>
          <a:lstStyle/>
          <a:p>
            <a:pPr indent="0" marL="0">
              <a:buNone/>
            </a:pPr>
            <a:r>
              <a:rPr lang="en-US" sz="1400" dirty="0">
                <a:solidFill>
                  <a:schemeClr val="tx1"/>
                </a:solidFill>
              </a:rPr>
              <a:t>Talks to Azure DevOps.</a:t>
            </a:r>
            <a:endParaRPr lang="en-US" sz="1400" dirty="0"/>
          </a:p>
          <a:p>
            <a:pPr indent="0" marL="0">
              <a:buNone/>
            </a:pPr>
            <a:r>
              <a:rPr lang="en-US" sz="1400" dirty="0">
                <a:solidFill>
                  <a:schemeClr val="tx1"/>
                </a:solidFill>
              </a:rPr>
              <a:t>Fetches run metadata and logs.</a:t>
            </a:r>
            <a:endParaRPr lang="en-US" sz="1400" dirty="0"/>
          </a:p>
          <a:p>
            <a:pPr indent="0" marL="0">
              <a:buNone/>
            </a:pPr>
            <a:r>
              <a:rPr lang="en-US" sz="1400" dirty="0">
                <a:solidFill>
                  <a:schemeClr val="tx1"/>
                </a:solidFill>
              </a:rPr>
              <a:t>Redacts secrets.</a:t>
            </a:r>
            <a:endParaRPr lang="en-US" sz="1400" dirty="0"/>
          </a:p>
          <a:p>
            <a:pPr indent="0" marL="0">
              <a:buNone/>
            </a:pPr>
            <a:r>
              <a:rPr lang="en-US" sz="1400" dirty="0">
                <a:solidFill>
                  <a:schemeClr val="tx1"/>
                </a:solidFill>
              </a:rPr>
              <a:t>Classifies the failure.</a:t>
            </a:r>
            <a:endParaRPr lang="en-US" sz="1400" dirty="0"/>
          </a:p>
          <a:p>
            <a:pPr indent="0" marL="0">
              <a:buNone/>
            </a:pPr>
            <a:r>
              <a:rPr lang="en-US" sz="1400" dirty="0">
                <a:solidFill>
                  <a:schemeClr val="tx1"/>
                </a:solidFill>
              </a:rPr>
              <a:t>Writes the report and an exit code.</a:t>
            </a:r>
            <a:endParaRPr lang="en-US" sz="1400" dirty="0"/>
          </a:p>
        </p:txBody>
      </p:sp>
      <p:sp>
        <p:nvSpPr>
          <p:cNvPr id="9" name="card"/>
          <p:cNvSpPr/>
          <p:nvPr/>
        </p:nvSpPr>
        <p:spPr>
          <a:xfrm>
            <a:off x="3291840" y="1234440"/>
            <a:ext cx="2560320" cy="3246120"/>
          </a:xfrm>
          <a:prstGeom prst="roundRect">
            <a:avLst>
              <a:gd name="adj" fmla="val 3571"/>
            </a:avLst>
          </a:prstGeom>
          <a:solidFill>
            <a:schemeClr val="bg2"/>
          </a:solidFill>
          <a:ln w="12700">
            <a:solidFill>
              <a:schemeClr val="bg2"/>
            </a:solidFill>
            <a:prstDash val="solid"/>
          </a:ln>
        </p:spPr>
      </p:sp>
      <p:sp>
        <p:nvSpPr>
          <p:cNvPr id="10" name="icon circle"/>
          <p:cNvSpPr/>
          <p:nvPr/>
        </p:nvSpPr>
        <p:spPr>
          <a:xfrm>
            <a:off x="3474720" y="1417320"/>
            <a:ext cx="457200" cy="457200"/>
          </a:xfrm>
          <a:prstGeom prst="ellipse">
            <a:avLst/>
          </a:prstGeom>
          <a:solidFill>
            <a:schemeClr val="accent1"/>
          </a:solidFill>
          <a:ln w="12700">
            <a:solidFill>
              <a:schemeClr val="accent1"/>
            </a:solidFill>
            <a:prstDash val="solid"/>
          </a:ln>
        </p:spPr>
      </p:sp>
      <p:pic>
        <p:nvPicPr>
          <p:cNvPr id="11" name="icon FaRobot" descr="FaRobot">    </p:cNvPr>
          <p:cNvPicPr>
            <a:picLocks noChangeAspect="1"/>
          </p:cNvPicPr>
          <p:nvPr/>
        </p:nvPicPr>
        <p:blipFill>
          <a:blip r:embed="rId2"/>
          <a:stretch>
            <a:fillRect/>
          </a:stretch>
        </p:blipFill>
        <p:spPr>
          <a:xfrm>
            <a:off x="3584448" y="1527048"/>
            <a:ext cx="237744" cy="237744"/>
          </a:xfrm>
          <a:prstGeom prst="rect">
            <a:avLst/>
          </a:prstGeom>
        </p:spPr>
      </p:pic>
      <p:sp>
        <p:nvSpPr>
          <p:cNvPr id="12" name="Text 7"/>
          <p:cNvSpPr txBox="1"/>
          <p:nvPr/>
        </p:nvSpPr>
        <p:spPr>
          <a:xfrm>
            <a:off x="3474720" y="1984248"/>
            <a:ext cx="2194560" cy="292608"/>
          </a:xfrm>
          <a:prstGeom prst="rect">
            <a:avLst/>
          </a:prstGeom>
          <a:noFill/>
          <a:ln/>
        </p:spPr>
        <p:txBody>
          <a:bodyPr wrap="square" lIns="0" tIns="0" rIns="0" bIns="0" rtlCol="0" anchor="t"/>
          <a:lstStyle/>
          <a:p>
            <a:pPr indent="0" marL="0">
              <a:buNone/>
            </a:pPr>
            <a:r>
              <a:rPr lang="en-US" sz="1800" b="1" dirty="0">
                <a:solidFill>
                  <a:schemeClr val="tx1"/>
                </a:solidFill>
              </a:rPr>
              <a:t>Claude Code skill</a:t>
            </a:r>
            <a:endParaRPr lang="en-US" sz="1800" dirty="0"/>
          </a:p>
        </p:txBody>
      </p:sp>
      <p:sp>
        <p:nvSpPr>
          <p:cNvPr id="13" name="Text 8"/>
          <p:cNvSpPr txBox="1"/>
          <p:nvPr/>
        </p:nvSpPr>
        <p:spPr>
          <a:xfrm>
            <a:off x="3474720" y="2322576"/>
            <a:ext cx="2194560" cy="1975104"/>
          </a:xfrm>
          <a:prstGeom prst="rect">
            <a:avLst/>
          </a:prstGeom>
          <a:noFill/>
          <a:ln/>
        </p:spPr>
        <p:txBody>
          <a:bodyPr wrap="square" lIns="0" tIns="0" rIns="0" bIns="0" rtlCol="0" anchor="t"/>
          <a:lstStyle/>
          <a:p>
            <a:pPr indent="0" marL="0">
              <a:buNone/>
            </a:pPr>
            <a:r>
              <a:rPr lang="en-US" sz="1400" dirty="0">
                <a:solidFill>
                  <a:schemeClr val="tx1"/>
                </a:solidFill>
              </a:rPr>
              <a:t>Reads the report and logs.</a:t>
            </a:r>
            <a:endParaRPr lang="en-US" sz="1400" dirty="0"/>
          </a:p>
          <a:p>
            <a:pPr indent="0" marL="0">
              <a:buNone/>
            </a:pPr>
            <a:r>
              <a:rPr lang="en-US" sz="1400" dirty="0">
                <a:solidFill>
                  <a:schemeClr val="tx1"/>
                </a:solidFill>
              </a:rPr>
              <a:t>Explains the evidence.</a:t>
            </a:r>
            <a:endParaRPr lang="en-US" sz="1400" dirty="0"/>
          </a:p>
          <a:p>
            <a:pPr indent="0" marL="0">
              <a:buNone/>
            </a:pPr>
            <a:r>
              <a:rPr lang="en-US" sz="1400" dirty="0">
                <a:solidFill>
                  <a:schemeClr val="tx1"/>
                </a:solidFill>
              </a:rPr>
              <a:t>States one likely cause.</a:t>
            </a:r>
            <a:endParaRPr lang="en-US" sz="1400" dirty="0"/>
          </a:p>
          <a:p>
            <a:pPr indent="0" marL="0">
              <a:buNone/>
            </a:pPr>
            <a:r>
              <a:rPr lang="en-US" sz="1400" dirty="0">
                <a:solidFill>
                  <a:schemeClr val="tx1"/>
                </a:solidFill>
              </a:rPr>
              <a:t>Recommends ONE fix and one check.</a:t>
            </a:r>
            <a:endParaRPr lang="en-US" sz="1400" dirty="0"/>
          </a:p>
          <a:p>
            <a:pPr indent="0" marL="0">
              <a:buNone/>
            </a:pPr>
            <a:r>
              <a:rPr lang="en-US" sz="1400" dirty="0">
                <a:solidFill>
                  <a:schemeClr val="tx1"/>
                </a:solidFill>
              </a:rPr>
              <a:t>Never edits or runs fixes.</a:t>
            </a:r>
            <a:endParaRPr lang="en-US" sz="1400" dirty="0"/>
          </a:p>
        </p:txBody>
      </p:sp>
      <p:sp>
        <p:nvSpPr>
          <p:cNvPr id="14" name="card"/>
          <p:cNvSpPr/>
          <p:nvPr/>
        </p:nvSpPr>
        <p:spPr>
          <a:xfrm>
            <a:off x="6126480" y="1234440"/>
            <a:ext cx="2560320" cy="3246120"/>
          </a:xfrm>
          <a:prstGeom prst="roundRect">
            <a:avLst>
              <a:gd name="adj" fmla="val 3571"/>
            </a:avLst>
          </a:prstGeom>
          <a:solidFill>
            <a:schemeClr val="bg2"/>
          </a:solidFill>
          <a:ln w="12700">
            <a:solidFill>
              <a:schemeClr val="bg2"/>
            </a:solidFill>
            <a:prstDash val="solid"/>
          </a:ln>
        </p:spPr>
      </p:sp>
      <p:sp>
        <p:nvSpPr>
          <p:cNvPr id="15" name="icon circle"/>
          <p:cNvSpPr/>
          <p:nvPr/>
        </p:nvSpPr>
        <p:spPr>
          <a:xfrm>
            <a:off x="6309360" y="1417320"/>
            <a:ext cx="457200" cy="457200"/>
          </a:xfrm>
          <a:prstGeom prst="ellipse">
            <a:avLst/>
          </a:prstGeom>
          <a:solidFill>
            <a:schemeClr val="accent6"/>
          </a:solidFill>
          <a:ln w="12700">
            <a:solidFill>
              <a:schemeClr val="accent6"/>
            </a:solidFill>
            <a:prstDash val="solid"/>
          </a:ln>
        </p:spPr>
      </p:sp>
      <p:pic>
        <p:nvPicPr>
          <p:cNvPr id="16" name="icon FaUserCheck" descr="FaUserCheck">    </p:cNvPr>
          <p:cNvPicPr>
            <a:picLocks noChangeAspect="1"/>
          </p:cNvPicPr>
          <p:nvPr/>
        </p:nvPicPr>
        <p:blipFill>
          <a:blip r:embed="rId3"/>
          <a:stretch>
            <a:fillRect/>
          </a:stretch>
        </p:blipFill>
        <p:spPr>
          <a:xfrm>
            <a:off x="6419088" y="1527048"/>
            <a:ext cx="237744" cy="237744"/>
          </a:xfrm>
          <a:prstGeom prst="rect">
            <a:avLst/>
          </a:prstGeom>
        </p:spPr>
      </p:pic>
      <p:sp>
        <p:nvSpPr>
          <p:cNvPr id="17" name="Text 11"/>
          <p:cNvSpPr txBox="1"/>
          <p:nvPr/>
        </p:nvSpPr>
        <p:spPr>
          <a:xfrm>
            <a:off x="6309360" y="1984248"/>
            <a:ext cx="2194560" cy="292608"/>
          </a:xfrm>
          <a:prstGeom prst="rect">
            <a:avLst/>
          </a:prstGeom>
          <a:noFill/>
          <a:ln/>
        </p:spPr>
        <p:txBody>
          <a:bodyPr wrap="square" lIns="0" tIns="0" rIns="0" bIns="0" rtlCol="0" anchor="t"/>
          <a:lstStyle/>
          <a:p>
            <a:pPr indent="0" marL="0">
              <a:buNone/>
            </a:pPr>
            <a:r>
              <a:rPr lang="en-US" sz="1800" b="1" dirty="0">
                <a:solidFill>
                  <a:schemeClr val="tx1"/>
                </a:solidFill>
              </a:rPr>
              <a:t>You, the engineer</a:t>
            </a:r>
            <a:endParaRPr lang="en-US" sz="1800" dirty="0"/>
          </a:p>
        </p:txBody>
      </p:sp>
      <p:sp>
        <p:nvSpPr>
          <p:cNvPr id="18" name="Text 12"/>
          <p:cNvSpPr txBox="1"/>
          <p:nvPr/>
        </p:nvSpPr>
        <p:spPr>
          <a:xfrm>
            <a:off x="6309360" y="2322576"/>
            <a:ext cx="2194560" cy="1975104"/>
          </a:xfrm>
          <a:prstGeom prst="rect">
            <a:avLst/>
          </a:prstGeom>
          <a:noFill/>
          <a:ln/>
        </p:spPr>
        <p:txBody>
          <a:bodyPr wrap="square" lIns="0" tIns="0" rIns="0" bIns="0" rtlCol="0" anchor="t"/>
          <a:lstStyle/>
          <a:p>
            <a:pPr indent="0" marL="0">
              <a:buNone/>
            </a:pPr>
            <a:r>
              <a:rPr lang="en-US" sz="1400" dirty="0">
                <a:solidFill>
                  <a:schemeClr val="tx1"/>
                </a:solidFill>
              </a:rPr>
              <a:t>Judge the recommendation against the evidence.</a:t>
            </a:r>
            <a:endParaRPr lang="en-US" sz="1400" dirty="0"/>
          </a:p>
          <a:p>
            <a:pPr indent="0" marL="0">
              <a:buNone/>
            </a:pPr>
            <a:r>
              <a:rPr lang="en-US" sz="1400" dirty="0">
                <a:solidFill>
                  <a:schemeClr val="tx1"/>
                </a:solidFill>
              </a:rPr>
              <a:t>Apply the fix.</a:t>
            </a:r>
            <a:endParaRPr lang="en-US" sz="1400" dirty="0"/>
          </a:p>
          <a:p>
            <a:pPr indent="0" marL="0">
              <a:buNone/>
            </a:pPr>
            <a:r>
              <a:rPr lang="en-US" sz="1400" dirty="0">
                <a:solidFill>
                  <a:schemeClr val="tx1"/>
                </a:solidFill>
              </a:rPr>
              <a:t>Re-run the triage.</a:t>
            </a:r>
            <a:endParaRPr lang="en-US" sz="1400" dirty="0"/>
          </a:p>
          <a:p>
            <a:pPr indent="0" marL="0">
              <a:buNone/>
            </a:pPr>
            <a:r>
              <a:rPr lang="en-US" sz="1400" dirty="0">
                <a:solidFill>
                  <a:schemeClr val="tx1"/>
                </a:solidFill>
              </a:rPr>
              <a:t>Own the decision.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Core principle: read-only, human in the loop</a:t>
            </a:r>
            <a:endParaRPr lang="en-US" sz="3000" dirty="0"/>
          </a:p>
        </p:txBody>
      </p:sp>
      <p:sp>
        <p:nvSpPr>
          <p:cNvPr id="4" name="Shape 1"/>
          <p:cNvSpPr/>
          <p:nvPr/>
        </p:nvSpPr>
        <p:spPr>
          <a:xfrm>
            <a:off x="457200" y="1234440"/>
            <a:ext cx="3977640" cy="3246120"/>
          </a:xfrm>
          <a:prstGeom prst="roundRect">
            <a:avLst>
              <a:gd name="adj" fmla="val 2817"/>
            </a:avLst>
          </a:prstGeom>
          <a:solidFill>
            <a:schemeClr val="bg2"/>
          </a:solidFill>
          <a:ln w="12700">
            <a:solidFill>
              <a:schemeClr val="bg2"/>
            </a:solidFill>
            <a:prstDash val="solid"/>
          </a:ln>
        </p:spPr>
      </p:sp>
      <p:sp>
        <p:nvSpPr>
          <p:cNvPr id="5" name="icon circle"/>
          <p:cNvSpPr/>
          <p:nvPr/>
        </p:nvSpPr>
        <p:spPr>
          <a:xfrm>
            <a:off x="640080" y="1417320"/>
            <a:ext cx="457200" cy="457200"/>
          </a:xfrm>
          <a:prstGeom prst="ellipse">
            <a:avLst/>
          </a:prstGeom>
          <a:solidFill>
            <a:schemeClr val="accent6"/>
          </a:solidFill>
          <a:ln w="12700">
            <a:solidFill>
              <a:schemeClr val="accent6"/>
            </a:solidFill>
            <a:prstDash val="solid"/>
          </a:ln>
        </p:spPr>
      </p:sp>
      <p:pic>
        <p:nvPicPr>
          <p:cNvPr id="6" name="icon FaCheckCircle" descr="FaCheckCircle">    </p:cNvPr>
          <p:cNvPicPr>
            <a:picLocks noChangeAspect="1"/>
          </p:cNvPicPr>
          <p:nvPr/>
        </p:nvPicPr>
        <p:blipFill>
          <a:blip r:embed="rId1"/>
          <a:stretch>
            <a:fillRect/>
          </a:stretch>
        </p:blipFill>
        <p:spPr>
          <a:xfrm>
            <a:off x="749808" y="1527048"/>
            <a:ext cx="237744" cy="237744"/>
          </a:xfrm>
          <a:prstGeom prst="rect">
            <a:avLst/>
          </a:prstGeom>
        </p:spPr>
      </p:pic>
      <p:sp>
        <p:nvSpPr>
          <p:cNvPr id="7" name="Text 3"/>
          <p:cNvSpPr txBox="1"/>
          <p:nvPr/>
        </p:nvSpPr>
        <p:spPr>
          <a:xfrm>
            <a:off x="1234440" y="1463040"/>
            <a:ext cx="3017520" cy="365760"/>
          </a:xfrm>
          <a:prstGeom prst="rect">
            <a:avLst/>
          </a:prstGeom>
          <a:noFill/>
          <a:ln/>
        </p:spPr>
        <p:txBody>
          <a:bodyPr wrap="square" lIns="0" tIns="0" rIns="0" bIns="0" rtlCol="0" anchor="t"/>
          <a:lstStyle/>
          <a:p>
            <a:pPr indent="0" marL="0">
              <a:buNone/>
            </a:pPr>
            <a:r>
              <a:rPr lang="en-US" sz="1800" b="1" dirty="0">
                <a:solidFill>
                  <a:schemeClr val="tx1"/>
                </a:solidFill>
              </a:rPr>
              <a:t>Allowed (read-only)</a:t>
            </a:r>
            <a:endParaRPr lang="en-US" sz="1800" dirty="0"/>
          </a:p>
        </p:txBody>
      </p:sp>
      <p:sp>
        <p:nvSpPr>
          <p:cNvPr id="8" name="Text 4"/>
          <p:cNvSpPr txBox="1"/>
          <p:nvPr/>
        </p:nvSpPr>
        <p:spPr>
          <a:xfrm>
            <a:off x="685800" y="2103120"/>
            <a:ext cx="356616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Run the approved triage script</a:t>
            </a:r>
            <a:endParaRPr lang="en-US" sz="1500" dirty="0"/>
          </a:p>
          <a:p>
            <a:pPr marL="342900" indent="-342900">
              <a:spcAft>
                <a:spcPts val="600"/>
              </a:spcAft>
              <a:buSzPct val="100000"/>
              <a:buChar char="•"/>
            </a:pPr>
            <a:r>
              <a:rPr lang="en-US" sz="1500" dirty="0">
                <a:solidFill>
                  <a:schemeClr val="tx1"/>
                </a:solidFill>
              </a:rPr>
              <a:t>Read the report and sanitised logs</a:t>
            </a:r>
            <a:endParaRPr lang="en-US" sz="1500" dirty="0"/>
          </a:p>
          <a:p>
            <a:pPr marL="342900" indent="-342900">
              <a:spcAft>
                <a:spcPts val="600"/>
              </a:spcAft>
              <a:buSzPct val="100000"/>
              <a:buChar char="•"/>
            </a:pPr>
            <a:r>
              <a:rPr lang="en-US" sz="1500" dirty="0">
                <a:solidFill>
                  <a:schemeClr val="tx1"/>
                </a:solidFill>
              </a:rPr>
              <a:t>Analyse and explain the evidence</a:t>
            </a:r>
            <a:endParaRPr lang="en-US" sz="1500" dirty="0"/>
          </a:p>
          <a:p>
            <a:pPr marL="342900" indent="-342900">
              <a:spcAft>
                <a:spcPts val="600"/>
              </a:spcAft>
              <a:buSzPct val="100000"/>
              <a:buChar char="•"/>
            </a:pPr>
            <a:r>
              <a:rPr lang="en-US" sz="1500" dirty="0">
                <a:solidFill>
                  <a:schemeClr val="tx1"/>
                </a:solidFill>
              </a:rPr>
              <a:t>Recommend ONE fix for a human</a:t>
            </a:r>
            <a:endParaRPr lang="en-US" sz="1500" dirty="0"/>
          </a:p>
          <a:p>
            <a:pPr marL="342900" indent="-342900">
              <a:spcAft>
                <a:spcPts val="600"/>
              </a:spcAft>
              <a:buSzPct val="100000"/>
              <a:buChar char="•"/>
            </a:pPr>
            <a:r>
              <a:rPr lang="en-US" sz="1500" dirty="0">
                <a:solidFill>
                  <a:schemeClr val="tx1"/>
                </a:solidFill>
              </a:rPr>
              <a:t>Ask the human to verify afterwards</a:t>
            </a:r>
            <a:endParaRPr lang="en-US" sz="1500" dirty="0"/>
          </a:p>
        </p:txBody>
      </p:sp>
      <p:sp>
        <p:nvSpPr>
          <p:cNvPr id="9" name="Shape 5"/>
          <p:cNvSpPr/>
          <p:nvPr/>
        </p:nvSpPr>
        <p:spPr>
          <a:xfrm>
            <a:off x="4709160" y="1234440"/>
            <a:ext cx="3977640" cy="3246120"/>
          </a:xfrm>
          <a:prstGeom prst="roundRect">
            <a:avLst>
              <a:gd name="adj" fmla="val 2817"/>
            </a:avLst>
          </a:prstGeom>
          <a:solidFill>
            <a:schemeClr val="bg2"/>
          </a:solidFill>
          <a:ln w="12700">
            <a:solidFill>
              <a:schemeClr val="bg2"/>
            </a:solidFill>
            <a:prstDash val="solid"/>
          </a:ln>
        </p:spPr>
      </p:sp>
      <p:sp>
        <p:nvSpPr>
          <p:cNvPr id="10" name="icon circle"/>
          <p:cNvSpPr/>
          <p:nvPr/>
        </p:nvSpPr>
        <p:spPr>
          <a:xfrm>
            <a:off x="4892040" y="1417320"/>
            <a:ext cx="457200" cy="457200"/>
          </a:xfrm>
          <a:prstGeom prst="ellipse">
            <a:avLst/>
          </a:prstGeom>
          <a:solidFill>
            <a:schemeClr val="accent3"/>
          </a:solidFill>
          <a:ln w="12700">
            <a:solidFill>
              <a:schemeClr val="accent3"/>
            </a:solidFill>
            <a:prstDash val="solid"/>
          </a:ln>
        </p:spPr>
      </p:sp>
      <p:pic>
        <p:nvPicPr>
          <p:cNvPr id="11" name="icon FaBan" descr="FaBan">    </p:cNvPr>
          <p:cNvPicPr>
            <a:picLocks noChangeAspect="1"/>
          </p:cNvPicPr>
          <p:nvPr/>
        </p:nvPicPr>
        <p:blipFill>
          <a:blip r:embed="rId2"/>
          <a:stretch>
            <a:fillRect/>
          </a:stretch>
        </p:blipFill>
        <p:spPr>
          <a:xfrm>
            <a:off x="5001768" y="1527048"/>
            <a:ext cx="237744" cy="237744"/>
          </a:xfrm>
          <a:prstGeom prst="rect">
            <a:avLst/>
          </a:prstGeom>
        </p:spPr>
      </p:pic>
      <p:sp>
        <p:nvSpPr>
          <p:cNvPr id="12" name="Text 7"/>
          <p:cNvSpPr txBox="1"/>
          <p:nvPr/>
        </p:nvSpPr>
        <p:spPr>
          <a:xfrm>
            <a:off x="5486400" y="1463040"/>
            <a:ext cx="3017520" cy="365760"/>
          </a:xfrm>
          <a:prstGeom prst="rect">
            <a:avLst/>
          </a:prstGeom>
          <a:noFill/>
          <a:ln/>
        </p:spPr>
        <p:txBody>
          <a:bodyPr wrap="square" lIns="0" tIns="0" rIns="0" bIns="0" rtlCol="0" anchor="t"/>
          <a:lstStyle/>
          <a:p>
            <a:pPr indent="0" marL="0">
              <a:buNone/>
            </a:pPr>
            <a:r>
              <a:rPr lang="en-US" sz="1800" b="1" dirty="0">
                <a:solidFill>
                  <a:schemeClr val="tx1"/>
                </a:solidFill>
              </a:rPr>
              <a:t>Never allowed</a:t>
            </a:r>
            <a:endParaRPr lang="en-US" sz="1800" dirty="0"/>
          </a:p>
        </p:txBody>
      </p:sp>
      <p:sp>
        <p:nvSpPr>
          <p:cNvPr id="13" name="Text 8"/>
          <p:cNvSpPr txBox="1"/>
          <p:nvPr/>
        </p:nvSpPr>
        <p:spPr>
          <a:xfrm>
            <a:off x="4937760" y="2103120"/>
            <a:ext cx="356616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Edit code, YAML, Terraform, Ansible</a:t>
            </a:r>
            <a:endParaRPr lang="en-US" sz="1500" dirty="0"/>
          </a:p>
          <a:p>
            <a:pPr marL="342900" indent="-342900">
              <a:spcAft>
                <a:spcPts val="600"/>
              </a:spcAft>
              <a:buSzPct val="100000"/>
              <a:buChar char="•"/>
            </a:pPr>
            <a:r>
              <a:rPr lang="en-US" sz="1500" dirty="0">
                <a:solidFill>
                  <a:schemeClr val="tx1"/>
                </a:solidFill>
              </a:rPr>
              <a:t>Trigger, retry, cancel or approve runs</a:t>
            </a:r>
            <a:endParaRPr lang="en-US" sz="1500" dirty="0"/>
          </a:p>
          <a:p>
            <a:pPr marL="342900" indent="-342900">
              <a:spcAft>
                <a:spcPts val="600"/>
              </a:spcAft>
              <a:buSzPct val="100000"/>
              <a:buChar char="•"/>
            </a:pPr>
            <a:r>
              <a:rPr lang="en-US" sz="1500" dirty="0">
                <a:solidFill>
                  <a:schemeClr val="tx1"/>
                </a:solidFill>
              </a:rPr>
              <a:t>Create or change Azure resources</a:t>
            </a:r>
            <a:endParaRPr lang="en-US" sz="1500" dirty="0"/>
          </a:p>
          <a:p>
            <a:pPr marL="342900" indent="-342900">
              <a:spcAft>
                <a:spcPts val="600"/>
              </a:spcAft>
              <a:buSzPct val="100000"/>
              <a:buChar char="•"/>
            </a:pPr>
            <a:r>
              <a:rPr lang="en-US" sz="1500" dirty="0">
                <a:solidFill>
                  <a:schemeClr val="tx1"/>
                </a:solidFill>
              </a:rPr>
              <a:t>Touch service connections or permissions</a:t>
            </a:r>
            <a:endParaRPr lang="en-US" sz="1500" dirty="0"/>
          </a:p>
          <a:p>
            <a:pPr marL="342900" indent="-342900">
              <a:spcAft>
                <a:spcPts val="600"/>
              </a:spcAft>
              <a:buSzPct val="100000"/>
              <a:buChar char="•"/>
            </a:pPr>
            <a:r>
              <a:rPr lang="en-US" sz="1500" dirty="0">
                <a:solidFill>
                  <a:schemeClr val="tx1"/>
                </a:solidFill>
              </a:rPr>
              <a:t>Read, print or store any secret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640080" y="1783080"/>
            <a:ext cx="5669280" cy="1097280"/>
          </a:xfrm>
          <a:prstGeom prst="rect">
            <a:avLst/>
          </a:prstGeom>
          <a:noFill/>
          <a:ln/>
        </p:spPr>
        <p:txBody>
          <a:bodyPr wrap="square" lIns="0" tIns="0" rIns="0" bIns="0" rtlCol="0" anchor="t"/>
          <a:lstStyle/>
          <a:p>
            <a:pPr algn="l" indent="0" marL="0">
              <a:buNone/>
            </a:pPr>
            <a:r>
              <a:rPr lang="en-US" sz="3800" b="1" dirty="0">
                <a:solidFill>
                  <a:schemeClr val="bg1"/>
                </a:solidFill>
              </a:rPr>
              <a:t>Setup and Baseline</a:t>
            </a:r>
            <a:endParaRPr lang="en-US" sz="3800" dirty="0"/>
          </a:p>
        </p:txBody>
      </p:sp>
      <p:sp>
        <p:nvSpPr>
          <p:cNvPr id="3" name="Text 1"/>
          <p:cNvSpPr/>
          <p:nvPr>
            <p:ph idx="102" type="body" hasCustomPrompt="1"/>
          </p:nvPr>
        </p:nvSpPr>
        <p:spPr>
          <a:xfrm>
            <a:off x="640080" y="2971800"/>
            <a:ext cx="5669280" cy="1005840"/>
          </a:xfrm>
          <a:prstGeom prst="rect">
            <a:avLst/>
          </a:prstGeom>
          <a:noFill/>
          <a:ln/>
        </p:spPr>
        <p:txBody>
          <a:bodyPr wrap="square" lIns="0" tIns="0" rIns="0" bIns="0" rtlCol="0" anchor="t"/>
          <a:lstStyle/>
          <a:p>
            <a:pPr algn="l" indent="0" marL="0">
              <a:buNone/>
            </a:pPr>
            <a:r>
              <a:rPr lang="en-US" sz="1800" dirty="0">
                <a:solidFill>
                  <a:schemeClr val="bg1"/>
                </a:solidFill>
              </a:rPr>
              <a:t>Verify the tools, log in safely, record the pipeline IDs, and prove everything is healthy before we break anything.</a:t>
            </a:r>
            <a:endParaRPr lang="en-US" sz="1800" dirty="0"/>
          </a:p>
        </p:txBody>
      </p:sp>
      <p:sp>
        <p:nvSpPr>
          <p:cNvPr id="4" name="Text 2"/>
          <p:cNvSpPr txBox="1"/>
          <p:nvPr/>
        </p:nvSpPr>
        <p:spPr>
          <a:xfrm>
            <a:off x="640080" y="1325880"/>
            <a:ext cx="5486400" cy="320040"/>
          </a:xfrm>
          <a:prstGeom prst="rect">
            <a:avLst/>
          </a:prstGeom>
          <a:noFill/>
          <a:ln/>
        </p:spPr>
        <p:txBody>
          <a:bodyPr wrap="square" lIns="0" tIns="0" rIns="0" bIns="0" rtlCol="0" anchor="ctr"/>
          <a:lstStyle/>
          <a:p>
            <a:pPr indent="0" marL="0">
              <a:buNone/>
            </a:pPr>
            <a:r>
              <a:rPr lang="en-US" sz="1400" b="1" spc="300" kern="0" dirty="0">
                <a:solidFill>
                  <a:schemeClr val="bg1"/>
                </a:solidFill>
              </a:rPr>
              <a:t>PART 2 · TASKS 0-1</a:t>
            </a:r>
            <a:endParaRPr lang="en-US" sz="1400" dirty="0"/>
          </a:p>
        </p:txBody>
      </p:sp>
      <p:sp>
        <p:nvSpPr>
          <p:cNvPr id="5" name="Shape 3"/>
          <p:cNvSpPr/>
          <p:nvPr/>
        </p:nvSpPr>
        <p:spPr>
          <a:xfrm>
            <a:off x="6675120" y="1554480"/>
            <a:ext cx="1920240" cy="1920240"/>
          </a:xfrm>
          <a:prstGeom prst="ellipse">
            <a:avLst/>
          </a:prstGeom>
          <a:solidFill>
            <a:schemeClr val="tx1"/>
          </a:solidFill>
          <a:ln w="12700">
            <a:solidFill>
              <a:schemeClr val="tx1"/>
            </a:solidFill>
            <a:prstDash val="solid"/>
          </a:ln>
        </p:spPr>
      </p:sp>
      <p:pic>
        <p:nvPicPr>
          <p:cNvPr id="6" name="Image 0" descr="FaTools">    </p:cNvPr>
          <p:cNvPicPr>
            <a:picLocks noChangeAspect="1"/>
          </p:cNvPicPr>
          <p:nvPr/>
        </p:nvPicPr>
        <p:blipFill>
          <a:blip r:embed="rId1"/>
          <a:stretch>
            <a:fillRect/>
          </a:stretch>
        </p:blipFill>
        <p:spPr>
          <a:xfrm>
            <a:off x="7132320" y="2011680"/>
            <a:ext cx="1005840" cy="1005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0: check the four tools</a:t>
            </a:r>
            <a:endParaRPr lang="en-US" sz="30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457200" y="1234440"/>
          <a:ext cx="4754880" cy="914400"/>
        </p:xfrm>
        <a:graphic>
          <a:graphicData uri="http://schemas.openxmlformats.org/drawingml/2006/table">
            <a:tbl>
              <a:tblPr/>
              <a:tblGrid>
                <a:gridCol w="2103120"/>
                <a:gridCol w="2651760"/>
              </a:tblGrid>
              <a:tr h="640080">
                <a:tc>
                  <a:txBody>
                    <a:bodyPr/>
                    <a:lstStyle/>
                    <a:p>
                      <a:pPr indent="0" marL="0">
                        <a:buNone/>
                      </a:pPr>
                      <a:r>
                        <a:rPr lang="en-US" sz="1400" b="1" dirty="0">
                          <a:solidFill>
                            <a:schemeClr val="bg1"/>
                          </a:solidFill>
                        </a:rPr>
                        <a:t>Tool</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Its job in this workflow</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640080">
                <a:tc>
                  <a:txBody>
                    <a:bodyPr/>
                    <a:lstStyle/>
                    <a:p>
                      <a:pPr indent="0" marL="0">
                        <a:buNone/>
                      </a:pPr>
                      <a:r>
                        <a:rPr lang="en-US" sz="1400" b="1" dirty="0">
                          <a:solidFill>
                            <a:schemeClr val="tx1"/>
                          </a:solidFill>
                        </a:rPr>
                        <a:t>Bash</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Runs the read-only triage script</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Git</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Manages the workspace in the EpicBook repo</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Azure CLI + azure-devops</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Read-only window into pipelines and logs</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Claude Code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Runs /pipeline-triage (Task 5)</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bl>
          </a:graphicData>
        </a:graphic>
      </p:graphicFrame>
      <p:sp>
        <p:nvSpPr>
          <p:cNvPr id="5" name="code panel"/>
          <p:cNvSpPr/>
          <p:nvPr/>
        </p:nvSpPr>
        <p:spPr>
          <a:xfrm>
            <a:off x="5486400" y="1234440"/>
            <a:ext cx="3200400" cy="3246120"/>
          </a:xfrm>
          <a:prstGeom prst="roundRect">
            <a:avLst>
              <a:gd name="adj" fmla="val 2286"/>
            </a:avLst>
          </a:prstGeom>
          <a:solidFill>
            <a:schemeClr val="tx1"/>
          </a:solidFill>
          <a:ln w="12700">
            <a:solidFill>
              <a:schemeClr val="tx1"/>
            </a:solidFill>
            <a:prstDash val="solid"/>
          </a:ln>
        </p:spPr>
      </p:sp>
      <p:sp>
        <p:nvSpPr>
          <p:cNvPr id="6" name="code"/>
          <p:cNvSpPr txBox="1"/>
          <p:nvPr/>
        </p:nvSpPr>
        <p:spPr>
          <a:xfrm>
            <a:off x="5650992" y="1344168"/>
            <a:ext cx="2871216" cy="302666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bash --version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git --version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az --version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az extension show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--name azure-devops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claude --version</a:t>
            </a:r>
            <a:endParaRPr lang="en-US" sz="1300" dirty="0"/>
          </a:p>
          <a:p>
            <a:pPr indent="0" marL="0">
              <a:buNone/>
            </a:pPr>
            <a:endParaRPr lang="en-US" sz="1300" dirty="0"/>
          </a:p>
          <a:p>
            <a:pPr indent="0" marL="0">
              <a:buNone/>
            </a:pPr>
            <a:r>
              <a:rPr lang="en-US" sz="1300" dirty="0">
                <a:solidFill>
                  <a:schemeClr val="accent1"/>
                </a:solidFill>
                <a:latin typeface="Courier New" pitchFamily="34" charset="0"/>
                <a:ea typeface="Courier New" pitchFamily="34" charset="-122"/>
                <a:cs typeface="Courier New" pitchFamily="34" charset="-120"/>
              </a:rPr>
              <a:t># if the extension is missing:</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az extension add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--name azure-devops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0: sign in and set defaults</a:t>
            </a:r>
            <a:endParaRPr lang="en-US" sz="3000" dirty="0"/>
          </a:p>
        </p:txBody>
      </p:sp>
      <p:sp>
        <p:nvSpPr>
          <p:cNvPr id="4" name="code panel"/>
          <p:cNvSpPr/>
          <p:nvPr/>
        </p:nvSpPr>
        <p:spPr>
          <a:xfrm>
            <a:off x="457200" y="1234440"/>
            <a:ext cx="5303520" cy="2377440"/>
          </a:xfrm>
          <a:prstGeom prst="roundRect">
            <a:avLst>
              <a:gd name="adj" fmla="val 3077"/>
            </a:avLst>
          </a:prstGeom>
          <a:solidFill>
            <a:schemeClr val="tx1"/>
          </a:solidFill>
          <a:ln w="12700">
            <a:solidFill>
              <a:schemeClr val="tx1"/>
            </a:solidFill>
            <a:prstDash val="solid"/>
          </a:ln>
        </p:spPr>
      </p:sp>
      <p:sp>
        <p:nvSpPr>
          <p:cNvPr id="5" name="code"/>
          <p:cNvSpPr txBox="1"/>
          <p:nvPr/>
        </p:nvSpPr>
        <p:spPr>
          <a:xfrm>
            <a:off x="621792" y="1344168"/>
            <a:ext cx="4974336" cy="2157984"/>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 1. interactive Entra sign-in (browser)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az login</a:t>
            </a:r>
            <a:endParaRPr lang="en-US" sz="1200" dirty="0"/>
          </a:p>
          <a:p>
            <a:pPr indent="0" marL="0">
              <a:buNone/>
            </a:pP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2. save org and project as defaults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az devops configure --defaults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organization=https://dev.azure.com/DMI-Cohort-3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project="Epicbook Deployment"</a:t>
            </a:r>
            <a:endParaRPr lang="en-US" sz="1200" dirty="0"/>
          </a:p>
        </p:txBody>
      </p:sp>
      <p:sp>
        <p:nvSpPr>
          <p:cNvPr id="6" name="icon circle"/>
          <p:cNvSpPr/>
          <p:nvPr/>
        </p:nvSpPr>
        <p:spPr>
          <a:xfrm>
            <a:off x="5989320" y="1371600"/>
            <a:ext cx="457200" cy="457200"/>
          </a:xfrm>
          <a:prstGeom prst="ellipse">
            <a:avLst/>
          </a:prstGeom>
          <a:solidFill>
            <a:schemeClr val="accent4"/>
          </a:solidFill>
          <a:ln w="12700">
            <a:solidFill>
              <a:schemeClr val="accent4"/>
            </a:solidFill>
            <a:prstDash val="solid"/>
          </a:ln>
        </p:spPr>
      </p:sp>
      <p:pic>
        <p:nvPicPr>
          <p:cNvPr id="7" name="icon FaSignInAlt" descr="FaSignInAlt">    </p:cNvPr>
          <p:cNvPicPr>
            <a:picLocks noChangeAspect="1"/>
          </p:cNvPicPr>
          <p:nvPr/>
        </p:nvPicPr>
        <p:blipFill>
          <a:blip r:embed="rId1"/>
          <a:stretch>
            <a:fillRect/>
          </a:stretch>
        </p:blipFill>
        <p:spPr>
          <a:xfrm>
            <a:off x="6099048" y="1481328"/>
            <a:ext cx="237744" cy="237744"/>
          </a:xfrm>
          <a:prstGeom prst="rect">
            <a:avLst/>
          </a:prstGeom>
        </p:spPr>
      </p:pic>
      <p:sp>
        <p:nvSpPr>
          <p:cNvPr id="8" name="Text 4"/>
          <p:cNvSpPr txBox="1"/>
          <p:nvPr/>
        </p:nvSpPr>
        <p:spPr>
          <a:xfrm>
            <a:off x="6629400" y="1344168"/>
            <a:ext cx="2057400" cy="1097280"/>
          </a:xfrm>
          <a:prstGeom prst="rect">
            <a:avLst/>
          </a:prstGeom>
          <a:noFill/>
          <a:ln/>
        </p:spPr>
        <p:txBody>
          <a:bodyPr wrap="square" lIns="0" tIns="0" rIns="0" bIns="0" rtlCol="0" anchor="t"/>
          <a:lstStyle/>
          <a:p>
            <a:pPr indent="0" marL="0">
              <a:buNone/>
            </a:pPr>
            <a:r>
              <a:rPr lang="en-US" sz="1600" b="1" dirty="0">
                <a:solidFill>
                  <a:schemeClr val="tx1"/>
                </a:solidFill>
              </a:rPr>
              <a:t>az login</a:t>
            </a:r>
            <a:endParaRPr lang="en-US" sz="1600" dirty="0"/>
          </a:p>
          <a:p>
            <a:pPr indent="0" marL="0">
              <a:buNone/>
            </a:pPr>
            <a:r>
              <a:rPr lang="en-US" sz="1400" dirty="0">
                <a:solidFill>
                  <a:schemeClr val="tx1"/>
                </a:solidFill>
              </a:rPr>
              <a:t>Browser sign-in, no token typed</a:t>
            </a:r>
            <a:endParaRPr lang="en-US" sz="1600" dirty="0"/>
          </a:p>
        </p:txBody>
      </p:sp>
      <p:sp>
        <p:nvSpPr>
          <p:cNvPr id="9" name="icon circle"/>
          <p:cNvSpPr/>
          <p:nvPr/>
        </p:nvSpPr>
        <p:spPr>
          <a:xfrm>
            <a:off x="5989320" y="2560320"/>
            <a:ext cx="457200" cy="457200"/>
          </a:xfrm>
          <a:prstGeom prst="ellipse">
            <a:avLst/>
          </a:prstGeom>
          <a:solidFill>
            <a:schemeClr val="accent2"/>
          </a:solidFill>
          <a:ln w="12700">
            <a:solidFill>
              <a:schemeClr val="accent2"/>
            </a:solidFill>
            <a:prstDash val="solid"/>
          </a:ln>
        </p:spPr>
      </p:sp>
      <p:pic>
        <p:nvPicPr>
          <p:cNvPr id="10" name="icon FaSlidersH" descr="FaSlidersH">    </p:cNvPr>
          <p:cNvPicPr>
            <a:picLocks noChangeAspect="1"/>
          </p:cNvPicPr>
          <p:nvPr/>
        </p:nvPicPr>
        <p:blipFill>
          <a:blip r:embed="rId2"/>
          <a:stretch>
            <a:fillRect/>
          </a:stretch>
        </p:blipFill>
        <p:spPr>
          <a:xfrm>
            <a:off x="6099048" y="2670048"/>
            <a:ext cx="237744" cy="237744"/>
          </a:xfrm>
          <a:prstGeom prst="rect">
            <a:avLst/>
          </a:prstGeom>
        </p:spPr>
      </p:pic>
      <p:sp>
        <p:nvSpPr>
          <p:cNvPr id="11" name="Text 6"/>
          <p:cNvSpPr txBox="1"/>
          <p:nvPr/>
        </p:nvSpPr>
        <p:spPr>
          <a:xfrm>
            <a:off x="6629400" y="2532888"/>
            <a:ext cx="2057400" cy="1097280"/>
          </a:xfrm>
          <a:prstGeom prst="rect">
            <a:avLst/>
          </a:prstGeom>
          <a:noFill/>
          <a:ln/>
        </p:spPr>
        <p:txBody>
          <a:bodyPr wrap="square" lIns="0" tIns="0" rIns="0" bIns="0" rtlCol="0" anchor="t"/>
          <a:lstStyle/>
          <a:p>
            <a:pPr indent="0" marL="0">
              <a:buNone/>
            </a:pPr>
            <a:r>
              <a:rPr lang="en-US" sz="1600" b="1" dirty="0">
                <a:solidFill>
                  <a:schemeClr val="tx1"/>
                </a:solidFill>
              </a:rPr>
              <a:t>Defaults</a:t>
            </a:r>
            <a:endParaRPr lang="en-US" sz="1600" dirty="0"/>
          </a:p>
          <a:p>
            <a:pPr indent="0" marL="0">
              <a:buNone/>
            </a:pPr>
            <a:r>
              <a:rPr lang="en-US" sz="1400" dirty="0">
                <a:solidFill>
                  <a:schemeClr val="tx1"/>
                </a:solidFill>
              </a:rPr>
              <a:t>Org and project saved once; no repeats, nothing secret</a:t>
            </a:r>
            <a:endParaRPr lang="en-US" sz="1600" dirty="0"/>
          </a:p>
        </p:txBody>
      </p:sp>
      <p:sp>
        <p:nvSpPr>
          <p:cNvPr id="12" name="callout"/>
          <p:cNvSpPr/>
          <p:nvPr/>
        </p:nvSpPr>
        <p:spPr>
          <a:xfrm>
            <a:off x="457200" y="3840480"/>
            <a:ext cx="8229600" cy="548640"/>
          </a:xfrm>
          <a:prstGeom prst="roundRect">
            <a:avLst>
              <a:gd name="adj" fmla="val 16667"/>
            </a:avLst>
          </a:prstGeom>
          <a:solidFill>
            <a:schemeClr val="accent3"/>
          </a:solidFill>
          <a:ln w="12700">
            <a:solidFill>
              <a:schemeClr val="accent3"/>
            </a:solidFill>
            <a:prstDash val="solid"/>
          </a:ln>
        </p:spPr>
      </p:sp>
      <p:sp>
        <p:nvSpPr>
          <p:cNvPr id="13" name="Text 8"/>
          <p:cNvSpPr txBox="1"/>
          <p:nvPr/>
        </p:nvSpPr>
        <p:spPr>
          <a:xfrm>
            <a:off x="685800" y="384048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Check: no PAT, bearer token or authorization header appears in any output.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Why Entra sign-in, not a PAT?</a:t>
            </a:r>
            <a:endParaRPr lang="en-US" sz="3000" dirty="0"/>
          </a:p>
        </p:txBody>
      </p:sp>
      <p:sp>
        <p:nvSpPr>
          <p:cNvPr id="4" name="card"/>
          <p:cNvSpPr/>
          <p:nvPr/>
        </p:nvSpPr>
        <p:spPr>
          <a:xfrm>
            <a:off x="457200" y="1280160"/>
            <a:ext cx="3977640" cy="2743200"/>
          </a:xfrm>
          <a:prstGeom prst="roundRect">
            <a:avLst>
              <a:gd name="adj" fmla="val 3333"/>
            </a:avLst>
          </a:prstGeom>
          <a:solidFill>
            <a:schemeClr val="bg2"/>
          </a:solidFill>
          <a:ln w="12700">
            <a:solidFill>
              <a:schemeClr val="bg2"/>
            </a:solidFill>
            <a:prstDash val="solid"/>
          </a:ln>
        </p:spPr>
      </p:sp>
      <p:sp>
        <p:nvSpPr>
          <p:cNvPr id="5" name="icon circle"/>
          <p:cNvSpPr/>
          <p:nvPr/>
        </p:nvSpPr>
        <p:spPr>
          <a:xfrm>
            <a:off x="640080" y="1463040"/>
            <a:ext cx="457200" cy="457200"/>
          </a:xfrm>
          <a:prstGeom prst="ellipse">
            <a:avLst/>
          </a:prstGeom>
          <a:solidFill>
            <a:schemeClr val="accent3"/>
          </a:solidFill>
          <a:ln w="12700">
            <a:solidFill>
              <a:schemeClr val="accent3"/>
            </a:solidFill>
            <a:prstDash val="solid"/>
          </a:ln>
        </p:spPr>
      </p:sp>
      <p:pic>
        <p:nvPicPr>
          <p:cNvPr id="6" name="icon FaExclamationTriangle" descr="FaExclamationTriangle">    </p:cNvPr>
          <p:cNvPicPr>
            <a:picLocks noChangeAspect="1"/>
          </p:cNvPicPr>
          <p:nvPr/>
        </p:nvPicPr>
        <p:blipFill>
          <a:blip r:embed="rId1"/>
          <a:stretch>
            <a:fillRect/>
          </a:stretch>
        </p:blipFill>
        <p:spPr>
          <a:xfrm>
            <a:off x="749808" y="1572768"/>
            <a:ext cx="237744" cy="237744"/>
          </a:xfrm>
          <a:prstGeom prst="rect">
            <a:avLst/>
          </a:prstGeom>
        </p:spPr>
      </p:pic>
      <p:sp>
        <p:nvSpPr>
          <p:cNvPr id="7" name="Text 3"/>
          <p:cNvSpPr txBox="1"/>
          <p:nvPr/>
        </p:nvSpPr>
        <p:spPr>
          <a:xfrm>
            <a:off x="640080" y="2029968"/>
            <a:ext cx="3611880" cy="292608"/>
          </a:xfrm>
          <a:prstGeom prst="rect">
            <a:avLst/>
          </a:prstGeom>
          <a:noFill/>
          <a:ln/>
        </p:spPr>
        <p:txBody>
          <a:bodyPr wrap="square" lIns="0" tIns="0" rIns="0" bIns="0" rtlCol="0" anchor="t"/>
          <a:lstStyle/>
          <a:p>
            <a:pPr indent="0" marL="0">
              <a:buNone/>
            </a:pPr>
            <a:r>
              <a:rPr lang="en-US" sz="1600" b="1" dirty="0">
                <a:solidFill>
                  <a:schemeClr val="tx1"/>
                </a:solidFill>
              </a:rPr>
              <a:t>BEFORE: a PAT</a:t>
            </a:r>
            <a:endParaRPr lang="en-US" sz="1600" dirty="0"/>
          </a:p>
        </p:txBody>
      </p:sp>
      <p:sp>
        <p:nvSpPr>
          <p:cNvPr id="8" name="Text 4"/>
          <p:cNvSpPr txBox="1"/>
          <p:nvPr/>
        </p:nvSpPr>
        <p:spPr>
          <a:xfrm>
            <a:off x="640080" y="2368296"/>
            <a:ext cx="3611880" cy="1472184"/>
          </a:xfrm>
          <a:prstGeom prst="rect">
            <a:avLst/>
          </a:prstGeom>
          <a:noFill/>
          <a:ln/>
        </p:spPr>
        <p:txBody>
          <a:bodyPr wrap="square" lIns="0" tIns="0" rIns="0" bIns="0" rtlCol="0" anchor="t"/>
          <a:lstStyle/>
          <a:p>
            <a:pPr indent="0" marL="0">
              <a:buNone/>
            </a:pPr>
            <a:r>
              <a:rPr lang="en-US" sz="1400" dirty="0">
                <a:solidFill>
                  <a:schemeClr val="tx1"/>
                </a:solidFill>
              </a:rPr>
              <a:t>Long-lived secret you create and store.</a:t>
            </a:r>
            <a:endParaRPr lang="en-US" sz="1400" dirty="0"/>
          </a:p>
          <a:p>
            <a:pPr indent="0" marL="0">
              <a:buNone/>
            </a:pPr>
            <a:r>
              <a:rPr lang="en-US" sz="1400" dirty="0">
                <a:solidFill>
                  <a:schemeClr val="tx1"/>
                </a:solidFill>
              </a:rPr>
              <a:t>Easy to paste into a script or chat.</a:t>
            </a:r>
            <a:endParaRPr lang="en-US" sz="1400" dirty="0"/>
          </a:p>
          <a:p>
            <a:pPr indent="0" marL="0">
              <a:buNone/>
            </a:pPr>
            <a:r>
              <a:rPr lang="en-US" sz="1400" dirty="0">
                <a:solidFill>
                  <a:schemeClr val="tx1"/>
                </a:solidFill>
              </a:rPr>
              <a:t>Can leak into logs, history, screenshots.</a:t>
            </a:r>
            <a:endParaRPr lang="en-US" sz="1400" dirty="0"/>
          </a:p>
          <a:p>
            <a:pPr indent="0" marL="0">
              <a:buNone/>
            </a:pPr>
            <a:r>
              <a:rPr lang="en-US" sz="1400" dirty="0">
                <a:solidFill>
                  <a:schemeClr val="tx1"/>
                </a:solidFill>
              </a:rPr>
              <a:t>Must be rotated and revoked by hand.</a:t>
            </a:r>
            <a:endParaRPr lang="en-US" sz="1400" dirty="0"/>
          </a:p>
        </p:txBody>
      </p:sp>
      <p:sp>
        <p:nvSpPr>
          <p:cNvPr id="9" name="card"/>
          <p:cNvSpPr/>
          <p:nvPr/>
        </p:nvSpPr>
        <p:spPr>
          <a:xfrm>
            <a:off x="4709160" y="1280160"/>
            <a:ext cx="3977640" cy="2743200"/>
          </a:xfrm>
          <a:prstGeom prst="roundRect">
            <a:avLst>
              <a:gd name="adj" fmla="val 3333"/>
            </a:avLst>
          </a:prstGeom>
          <a:solidFill>
            <a:schemeClr val="bg2"/>
          </a:solidFill>
          <a:ln w="12700">
            <a:solidFill>
              <a:schemeClr val="bg2"/>
            </a:solidFill>
            <a:prstDash val="solid"/>
          </a:ln>
        </p:spPr>
      </p:sp>
      <p:sp>
        <p:nvSpPr>
          <p:cNvPr id="10" name="icon circle"/>
          <p:cNvSpPr/>
          <p:nvPr/>
        </p:nvSpPr>
        <p:spPr>
          <a:xfrm>
            <a:off x="4892040" y="1463040"/>
            <a:ext cx="457200" cy="457200"/>
          </a:xfrm>
          <a:prstGeom prst="ellipse">
            <a:avLst/>
          </a:prstGeom>
          <a:solidFill>
            <a:schemeClr val="accent6"/>
          </a:solidFill>
          <a:ln w="12700">
            <a:solidFill>
              <a:schemeClr val="accent6"/>
            </a:solidFill>
            <a:prstDash val="solid"/>
          </a:ln>
        </p:spPr>
      </p:sp>
      <p:pic>
        <p:nvPicPr>
          <p:cNvPr id="11" name="icon FaShieldAlt" descr="FaShieldAlt">    </p:cNvPr>
          <p:cNvPicPr>
            <a:picLocks noChangeAspect="1"/>
          </p:cNvPicPr>
          <p:nvPr/>
        </p:nvPicPr>
        <p:blipFill>
          <a:blip r:embed="rId2"/>
          <a:stretch>
            <a:fillRect/>
          </a:stretch>
        </p:blipFill>
        <p:spPr>
          <a:xfrm>
            <a:off x="5001768" y="1572768"/>
            <a:ext cx="237744" cy="237744"/>
          </a:xfrm>
          <a:prstGeom prst="rect">
            <a:avLst/>
          </a:prstGeom>
        </p:spPr>
      </p:pic>
      <p:sp>
        <p:nvSpPr>
          <p:cNvPr id="12" name="Text 7"/>
          <p:cNvSpPr txBox="1"/>
          <p:nvPr/>
        </p:nvSpPr>
        <p:spPr>
          <a:xfrm>
            <a:off x="4892040" y="2029968"/>
            <a:ext cx="3611880" cy="292608"/>
          </a:xfrm>
          <a:prstGeom prst="rect">
            <a:avLst/>
          </a:prstGeom>
          <a:noFill/>
          <a:ln/>
        </p:spPr>
        <p:txBody>
          <a:bodyPr wrap="square" lIns="0" tIns="0" rIns="0" bIns="0" rtlCol="0" anchor="t"/>
          <a:lstStyle/>
          <a:p>
            <a:pPr indent="0" marL="0">
              <a:buNone/>
            </a:pPr>
            <a:r>
              <a:rPr lang="en-US" sz="1600" b="1" dirty="0">
                <a:solidFill>
                  <a:schemeClr val="tx1"/>
                </a:solidFill>
              </a:rPr>
              <a:t>AFTER: Entra interactive login</a:t>
            </a:r>
            <a:endParaRPr lang="en-US" sz="1600" dirty="0"/>
          </a:p>
        </p:txBody>
      </p:sp>
      <p:sp>
        <p:nvSpPr>
          <p:cNvPr id="13" name="Text 8"/>
          <p:cNvSpPr txBox="1"/>
          <p:nvPr/>
        </p:nvSpPr>
        <p:spPr>
          <a:xfrm>
            <a:off x="4892040" y="2368296"/>
            <a:ext cx="3611880" cy="1472184"/>
          </a:xfrm>
          <a:prstGeom prst="rect">
            <a:avLst/>
          </a:prstGeom>
          <a:noFill/>
          <a:ln/>
        </p:spPr>
        <p:txBody>
          <a:bodyPr wrap="square" lIns="0" tIns="0" rIns="0" bIns="0" rtlCol="0" anchor="t"/>
          <a:lstStyle/>
          <a:p>
            <a:pPr indent="0" marL="0">
              <a:buNone/>
            </a:pPr>
            <a:r>
              <a:rPr lang="en-US" sz="1400" dirty="0">
                <a:solidFill>
                  <a:schemeClr val="tx1"/>
                </a:solidFill>
              </a:rPr>
              <a:t>You sign in with the browser.</a:t>
            </a:r>
            <a:endParaRPr lang="en-US" sz="1400" dirty="0"/>
          </a:p>
          <a:p>
            <a:pPr indent="0" marL="0">
              <a:buNone/>
            </a:pPr>
            <a:r>
              <a:rPr lang="en-US" sz="1400" dirty="0">
                <a:solidFill>
                  <a:schemeClr val="tx1"/>
                </a:solidFill>
              </a:rPr>
              <a:t>Nothing secret is typed or saved in files.</a:t>
            </a:r>
            <a:endParaRPr lang="en-US" sz="1400" dirty="0"/>
          </a:p>
          <a:p>
            <a:pPr indent="0" marL="0">
              <a:buNone/>
            </a:pPr>
            <a:r>
              <a:rPr lang="en-US" sz="1400" dirty="0">
                <a:solidFill>
                  <a:schemeClr val="tx1"/>
                </a:solidFill>
              </a:rPr>
              <a:t>Session handled by the Azure CLI.</a:t>
            </a:r>
            <a:endParaRPr lang="en-US" sz="1400" dirty="0"/>
          </a:p>
          <a:p>
            <a:pPr indent="0" marL="0">
              <a:buNone/>
            </a:pPr>
            <a:r>
              <a:rPr lang="en-US" sz="1400" dirty="0">
                <a:solidFill>
                  <a:schemeClr val="tx1"/>
                </a:solidFill>
              </a:rPr>
              <a:t>Matches the assignment requirement.</a:t>
            </a:r>
            <a:endParaRPr lang="en-US" sz="1400" dirty="0"/>
          </a:p>
        </p:txBody>
      </p:sp>
      <p:sp>
        <p:nvSpPr>
          <p:cNvPr id="14" name="callout"/>
          <p:cNvSpPr/>
          <p:nvPr/>
        </p:nvSpPr>
        <p:spPr>
          <a:xfrm>
            <a:off x="457200" y="4160520"/>
            <a:ext cx="8229600" cy="548640"/>
          </a:xfrm>
          <a:prstGeom prst="roundRect">
            <a:avLst>
              <a:gd name="adj" fmla="val 16667"/>
            </a:avLst>
          </a:prstGeom>
          <a:solidFill>
            <a:schemeClr val="accent2"/>
          </a:solidFill>
          <a:ln w="12700">
            <a:solidFill>
              <a:schemeClr val="accent2"/>
            </a:solidFill>
            <a:prstDash val="solid"/>
          </a:ln>
        </p:spPr>
      </p:sp>
      <p:sp>
        <p:nvSpPr>
          <p:cNvPr id="15" name="Text 10"/>
          <p:cNvSpPr txBox="1"/>
          <p:nvPr/>
        </p:nvSpPr>
        <p:spPr>
          <a:xfrm>
            <a:off x="685800" y="416052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Rule: nothing that could leak into a report or screenshot gets typed or stored.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0: list the pipelines and record their IDs</a:t>
            </a:r>
            <a:endParaRPr lang="en-US" sz="3000" dirty="0"/>
          </a:p>
        </p:txBody>
      </p:sp>
      <p:sp>
        <p:nvSpPr>
          <p:cNvPr id="4" name="code panel"/>
          <p:cNvSpPr/>
          <p:nvPr/>
        </p:nvSpPr>
        <p:spPr>
          <a:xfrm>
            <a:off x="457200" y="1234440"/>
            <a:ext cx="5394960" cy="1600200"/>
          </a:xfrm>
          <a:prstGeom prst="roundRect">
            <a:avLst>
              <a:gd name="adj" fmla="val 4571"/>
            </a:avLst>
          </a:prstGeom>
          <a:solidFill>
            <a:schemeClr val="tx1"/>
          </a:solidFill>
          <a:ln w="12700">
            <a:solidFill>
              <a:schemeClr val="tx1"/>
            </a:solidFill>
            <a:prstDash val="solid"/>
          </a:ln>
        </p:spPr>
      </p:sp>
      <p:sp>
        <p:nvSpPr>
          <p:cNvPr id="5" name="code"/>
          <p:cNvSpPr txBox="1"/>
          <p:nvPr/>
        </p:nvSpPr>
        <p:spPr>
          <a:xfrm>
            <a:off x="621792" y="1344168"/>
            <a:ext cx="5065776" cy="13807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az pipelines list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--organization https://dev.azure.com/DMI-Cohort-3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--project "Epicbook Deployment"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--output table</a:t>
            </a:r>
            <a:endParaRPr lang="en-US" sz="1200" dirty="0"/>
          </a:p>
        </p:txBody>
      </p:sp>
      <p:sp>
        <p:nvSpPr>
          <p:cNvPr id="6" name="Text 3"/>
          <p:cNvSpPr txBox="1"/>
          <p:nvPr/>
        </p:nvSpPr>
        <p:spPr>
          <a:xfrm>
            <a:off x="6126480" y="1280160"/>
            <a:ext cx="256032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Plain read-only metadata call</a:t>
            </a:r>
            <a:endParaRPr lang="en-US" sz="1400" dirty="0"/>
          </a:p>
          <a:p>
            <a:pPr marL="342900" indent="-342900">
              <a:spcAft>
                <a:spcPts val="600"/>
              </a:spcAft>
              <a:buSzPct val="100000"/>
              <a:buChar char="•"/>
            </a:pPr>
            <a:r>
              <a:rPr lang="en-US" sz="1400" dirty="0">
                <a:solidFill>
                  <a:schemeClr val="tx1"/>
                </a:solidFill>
              </a:rPr>
              <a:t>Shows both pipelines with numeric IDs</a:t>
            </a:r>
            <a:endParaRPr lang="en-US" sz="1400" dirty="0"/>
          </a:p>
          <a:p>
            <a:pPr marL="342900" indent="-342900">
              <a:spcAft>
                <a:spcPts val="600"/>
              </a:spcAft>
              <a:buSzPct val="100000"/>
              <a:buChar char="•"/>
            </a:pPr>
            <a:r>
              <a:rPr lang="en-US" sz="1400" dirty="0">
                <a:solidFill>
                  <a:schemeClr val="tx1"/>
                </a:solidFill>
              </a:rPr>
              <a:t>Scripts use IDs because names can change</a:t>
            </a:r>
            <a:endParaRPr lang="en-US" sz="14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457200" y="3108960"/>
          <a:ext cx="8229600" cy="914400"/>
        </p:xfrm>
        <a:graphic>
          <a:graphicData uri="http://schemas.openxmlformats.org/drawingml/2006/table">
            <a:tbl>
              <a:tblPr/>
              <a:tblGrid>
                <a:gridCol w="1828800"/>
                <a:gridCol w="4572000"/>
                <a:gridCol w="1828800"/>
              </a:tblGrid>
              <a:tr h="457200">
                <a:tc>
                  <a:txBody>
                    <a:bodyPr/>
                    <a:lstStyle/>
                    <a:p>
                      <a:pPr indent="0" marL="0">
                        <a:buNone/>
                      </a:pPr>
                      <a:r>
                        <a:rPr lang="en-US" sz="1500" b="1" dirty="0">
                          <a:solidFill>
                            <a:schemeClr val="bg1"/>
                          </a:solidFill>
                        </a:rPr>
                        <a:t>Pipeline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Name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ID</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457200">
                <a:tc>
                  <a:txBody>
                    <a:bodyPr/>
                    <a:lstStyle/>
                    <a:p>
                      <a:pPr indent="0" marL="0">
                        <a:buNone/>
                      </a:pPr>
                      <a:r>
                        <a:rPr lang="en-US" sz="1500" b="1" dirty="0">
                          <a:solidFill>
                            <a:schemeClr val="tx1"/>
                          </a:solidFill>
                        </a:rPr>
                        <a:t>Infrastructure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Epicbook-infra-pipeline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9</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Application</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Epicbook-App-Pipeline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10</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0: your recorded values (cheat sheet)</a:t>
            </a:r>
            <a:endParaRPr lang="en-US" sz="30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560320"/>
                <a:gridCol w="5669280"/>
              </a:tblGrid>
              <a:tr h="420624">
                <a:tc>
                  <a:txBody>
                    <a:bodyPr/>
                    <a:lstStyle/>
                    <a:p>
                      <a:pPr indent="0" marL="0">
                        <a:buNone/>
                      </a:pPr>
                      <a:r>
                        <a:rPr lang="en-US" sz="1500" b="1" dirty="0">
                          <a:solidFill>
                            <a:schemeClr val="bg1"/>
                          </a:solidFill>
                        </a:rPr>
                        <a:t>Value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Example from the assignment</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420624">
                <a:tc>
                  <a:txBody>
                    <a:bodyPr/>
                    <a:lstStyle/>
                    <a:p>
                      <a:pPr indent="0" marL="0">
                        <a:buNone/>
                      </a:pPr>
                      <a:r>
                        <a:rPr lang="en-US" sz="1500" b="1" dirty="0">
                          <a:solidFill>
                            <a:schemeClr val="tx1"/>
                          </a:solidFill>
                        </a:rPr>
                        <a:t>organization-url</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https://dev.azure.com/DMI-Cohort-3</a:t>
                      </a:r>
                      <a:endParaRPr lang="en-US" sz="14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20624">
                <a:tc>
                  <a:txBody>
                    <a:bodyPr/>
                    <a:lstStyle/>
                    <a:p>
                      <a:pPr indent="0" marL="0">
                        <a:buNone/>
                      </a:pPr>
                      <a:r>
                        <a:rPr lang="en-US" sz="1500" b="1" dirty="0">
                          <a:solidFill>
                            <a:schemeClr val="tx1"/>
                          </a:solidFill>
                        </a:rPr>
                        <a:t>project-name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Epicbook Deployment</a:t>
                      </a:r>
                      <a:endParaRPr lang="en-US" sz="14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20624">
                <a:tc>
                  <a:txBody>
                    <a:bodyPr/>
                    <a:lstStyle/>
                    <a:p>
                      <a:pPr indent="0" marL="0">
                        <a:buNone/>
                      </a:pPr>
                      <a:r>
                        <a:rPr lang="en-US" sz="1500" b="1" dirty="0">
                          <a:solidFill>
                            <a:schemeClr val="tx1"/>
                          </a:solidFill>
                        </a:rPr>
                        <a:t>infra-pipeline-id</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20624">
                <a:tc>
                  <a:txBody>
                    <a:bodyPr/>
                    <a:lstStyle/>
                    <a:p>
                      <a:pPr indent="0" marL="0">
                        <a:buNone/>
                      </a:pPr>
                      <a:r>
                        <a:rPr lang="en-US" sz="1500" b="1" dirty="0">
                          <a:solidFill>
                            <a:schemeClr val="tx1"/>
                          </a:solidFill>
                        </a:rPr>
                        <a:t>app-pipeline-id</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20624">
                <a:tc>
                  <a:txBody>
                    <a:bodyPr/>
                    <a:lstStyle/>
                    <a:p>
                      <a:pPr indent="0" marL="0">
                        <a:buNone/>
                      </a:pPr>
                      <a:r>
                        <a:rPr lang="en-US" sz="1500" b="1" dirty="0">
                          <a:solidFill>
                            <a:schemeClr val="tx1"/>
                          </a:solidFill>
                        </a:rPr>
                        <a:t>repository-path</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~/ansible-onboarding/theepicbook</a:t>
                      </a:r>
                      <a:endParaRPr lang="en-US" sz="14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20624">
                <a:tc>
                  <a:txBody>
                    <a:bodyPr/>
                    <a:lstStyle/>
                    <a:p>
                      <a:pPr indent="0" marL="0">
                        <a:buNone/>
                      </a:pPr>
                      <a:r>
                        <a:rPr lang="en-US" sz="1500" b="1" dirty="0">
                          <a:solidFill>
                            <a:schemeClr val="tx1"/>
                          </a:solidFill>
                        </a:rPr>
                        <a:t>assignment-folder</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week-10/assignment-05-pipeline-triage</a:t>
                      </a:r>
                      <a:endParaRPr lang="en-US" sz="14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400" i="1" dirty="0">
                <a:solidFill>
                  <a:schemeClr val="tx2"/>
                </a:solidFill>
              </a:rPr>
              <a:t>Tip: these are all non-secret configuration values. Secrets never belong in this table.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Why capture a healthy baseline first?</a:t>
            </a:r>
            <a:endParaRPr lang="en-US" sz="3000" dirty="0"/>
          </a:p>
        </p:txBody>
      </p:sp>
      <p:sp>
        <p:nvSpPr>
          <p:cNvPr id="4" name="step 1"/>
          <p:cNvSpPr/>
          <p:nvPr/>
        </p:nvSpPr>
        <p:spPr>
          <a:xfrm>
            <a:off x="457200" y="1371600"/>
            <a:ext cx="2499360" cy="1920240"/>
          </a:xfrm>
          <a:prstGeom prst="roundRect">
            <a:avLst>
              <a:gd name="adj" fmla="val 4762"/>
            </a:avLst>
          </a:prstGeom>
          <a:solidFill>
            <a:schemeClr val="accent6"/>
          </a:solidFill>
          <a:ln w="12700">
            <a:solidFill>
              <a:schemeClr val="accent6"/>
            </a:solidFill>
            <a:prstDash val="solid"/>
          </a:ln>
        </p:spPr>
      </p:sp>
      <p:sp>
        <p:nvSpPr>
          <p:cNvPr id="5" name="Shape 2"/>
          <p:cNvSpPr/>
          <p:nvPr/>
        </p:nvSpPr>
        <p:spPr>
          <a:xfrm>
            <a:off x="594360" y="1508760"/>
            <a:ext cx="411480" cy="411480"/>
          </a:xfrm>
          <a:prstGeom prst="ellipse">
            <a:avLst/>
          </a:prstGeom>
          <a:solidFill>
            <a:schemeClr val="bg1">
              <a:alpha val="18000"/>
            </a:schemeClr>
          </a:solidFill>
          <a:ln w="12700">
            <a:solidFill>
              <a:schemeClr val="bg1"/>
            </a:solidFill>
            <a:prstDash val="solid"/>
          </a:ln>
        </p:spPr>
      </p:sp>
      <p:pic>
        <p:nvPicPr>
          <p:cNvPr id="6" name="Image 0" descr="FaCheckCircle">    </p:cNvPr>
          <p:cNvPicPr>
            <a:picLocks noChangeAspect="1"/>
          </p:cNvPicPr>
          <p:nvPr/>
        </p:nvPicPr>
        <p:blipFill>
          <a:blip r:embed="rId1"/>
          <a:stretch>
            <a:fillRect/>
          </a:stretch>
        </p:blipFill>
        <p:spPr>
          <a:xfrm>
            <a:off x="694944" y="1609344"/>
            <a:ext cx="210312" cy="210312"/>
          </a:xfrm>
          <a:prstGeom prst="rect">
            <a:avLst/>
          </a:prstGeom>
        </p:spPr>
      </p:pic>
      <p:sp>
        <p:nvSpPr>
          <p:cNvPr id="7" name="Text 3"/>
          <p:cNvSpPr txBox="1"/>
          <p:nvPr/>
        </p:nvSpPr>
        <p:spPr>
          <a:xfrm>
            <a:off x="594360" y="2011680"/>
            <a:ext cx="2225040" cy="1188720"/>
          </a:xfrm>
          <a:prstGeom prst="rect">
            <a:avLst/>
          </a:prstGeom>
          <a:noFill/>
          <a:ln/>
        </p:spPr>
        <p:txBody>
          <a:bodyPr wrap="square" lIns="0" tIns="0" rIns="0" bIns="0" rtlCol="0" anchor="t"/>
          <a:lstStyle/>
          <a:p>
            <a:pPr indent="0" marL="0">
              <a:buNone/>
            </a:pPr>
            <a:r>
              <a:rPr lang="en-US" sz="1600" b="1" dirty="0">
                <a:solidFill>
                  <a:schemeClr val="bg1"/>
                </a:solidFill>
              </a:rPr>
              <a:t>Healthy baseline</a:t>
            </a:r>
            <a:endParaRPr lang="en-US" sz="1600" dirty="0"/>
          </a:p>
          <a:p>
            <a:pPr indent="0" marL="0">
              <a:buNone/>
            </a:pPr>
            <a:r>
              <a:rPr lang="en-US" sz="1400" dirty="0">
                <a:solidFill>
                  <a:schemeClr val="bg1"/>
                </a:solidFill>
              </a:rPr>
              <a:t>Both pipelines succeeded (proved in Task 1 and Task 4)</a:t>
            </a:r>
            <a:endParaRPr lang="en-US" sz="1600" dirty="0"/>
          </a:p>
        </p:txBody>
      </p:sp>
      <p:sp>
        <p:nvSpPr>
          <p:cNvPr id="8" name="arrow"/>
          <p:cNvSpPr/>
          <p:nvPr/>
        </p:nvSpPr>
        <p:spPr>
          <a:xfrm>
            <a:off x="3002280" y="2331720"/>
            <a:ext cx="274320" cy="0"/>
          </a:xfrm>
          <a:prstGeom prst="line">
            <a:avLst/>
          </a:prstGeom>
          <a:noFill/>
          <a:ln w="28575">
            <a:solidFill>
              <a:schemeClr val="tx2"/>
            </a:solidFill>
            <a:prstDash val="solid"/>
            <a:tailEnd type="triangle"/>
          </a:ln>
        </p:spPr>
      </p:sp>
      <p:sp>
        <p:nvSpPr>
          <p:cNvPr id="9" name="step 2"/>
          <p:cNvSpPr/>
          <p:nvPr/>
        </p:nvSpPr>
        <p:spPr>
          <a:xfrm>
            <a:off x="3322320" y="1371600"/>
            <a:ext cx="2499360" cy="1920240"/>
          </a:xfrm>
          <a:prstGeom prst="roundRect">
            <a:avLst>
              <a:gd name="adj" fmla="val 4762"/>
            </a:avLst>
          </a:prstGeom>
          <a:solidFill>
            <a:schemeClr val="accent3"/>
          </a:solidFill>
          <a:ln w="12700">
            <a:solidFill>
              <a:schemeClr val="accent3"/>
            </a:solidFill>
            <a:prstDash val="solid"/>
          </a:ln>
        </p:spPr>
      </p:sp>
      <p:sp>
        <p:nvSpPr>
          <p:cNvPr id="10" name="Shape 6"/>
          <p:cNvSpPr/>
          <p:nvPr/>
        </p:nvSpPr>
        <p:spPr>
          <a:xfrm>
            <a:off x="3459480" y="1508760"/>
            <a:ext cx="411480" cy="411480"/>
          </a:xfrm>
          <a:prstGeom prst="ellipse">
            <a:avLst/>
          </a:prstGeom>
          <a:solidFill>
            <a:schemeClr val="bg1">
              <a:alpha val="18000"/>
            </a:schemeClr>
          </a:solidFill>
          <a:ln w="12700">
            <a:solidFill>
              <a:schemeClr val="bg1"/>
            </a:solidFill>
            <a:prstDash val="solid"/>
          </a:ln>
        </p:spPr>
      </p:sp>
      <p:pic>
        <p:nvPicPr>
          <p:cNvPr id="11" name="Image 1" descr="FaBug">    </p:cNvPr>
          <p:cNvPicPr>
            <a:picLocks noChangeAspect="1"/>
          </p:cNvPicPr>
          <p:nvPr/>
        </p:nvPicPr>
        <p:blipFill>
          <a:blip r:embed="rId2"/>
          <a:stretch>
            <a:fillRect/>
          </a:stretch>
        </p:blipFill>
        <p:spPr>
          <a:xfrm>
            <a:off x="3560064" y="1609344"/>
            <a:ext cx="210312" cy="210312"/>
          </a:xfrm>
          <a:prstGeom prst="rect">
            <a:avLst/>
          </a:prstGeom>
        </p:spPr>
      </p:pic>
      <p:sp>
        <p:nvSpPr>
          <p:cNvPr id="12" name="Text 7"/>
          <p:cNvSpPr txBox="1"/>
          <p:nvPr/>
        </p:nvSpPr>
        <p:spPr>
          <a:xfrm>
            <a:off x="3459480" y="2011680"/>
            <a:ext cx="2225040" cy="1188720"/>
          </a:xfrm>
          <a:prstGeom prst="rect">
            <a:avLst/>
          </a:prstGeom>
          <a:noFill/>
          <a:ln/>
        </p:spPr>
        <p:txBody>
          <a:bodyPr wrap="square" lIns="0" tIns="0" rIns="0" bIns="0" rtlCol="0" anchor="t"/>
          <a:lstStyle/>
          <a:p>
            <a:pPr indent="0" marL="0">
              <a:buNone/>
            </a:pPr>
            <a:r>
              <a:rPr lang="en-US" sz="1600" b="1" dirty="0">
                <a:solidFill>
                  <a:schemeClr val="bg1"/>
                </a:solidFill>
              </a:rPr>
              <a:t>Introduce ONE failure</a:t>
            </a:r>
            <a:endParaRPr lang="en-US" sz="1600" dirty="0"/>
          </a:p>
          <a:p>
            <a:pPr indent="0" marL="0">
              <a:buNone/>
            </a:pPr>
            <a:r>
              <a:rPr lang="en-US" sz="1400" dirty="0">
                <a:solidFill>
                  <a:schemeClr val="bg1"/>
                </a:solidFill>
              </a:rPr>
              <a:t>A safe, deliberate break in Task 6</a:t>
            </a:r>
            <a:endParaRPr lang="en-US" sz="1600" dirty="0"/>
          </a:p>
        </p:txBody>
      </p:sp>
      <p:sp>
        <p:nvSpPr>
          <p:cNvPr id="13" name="arrow"/>
          <p:cNvSpPr/>
          <p:nvPr/>
        </p:nvSpPr>
        <p:spPr>
          <a:xfrm>
            <a:off x="5867400" y="2331720"/>
            <a:ext cx="274320" cy="0"/>
          </a:xfrm>
          <a:prstGeom prst="line">
            <a:avLst/>
          </a:prstGeom>
          <a:noFill/>
          <a:ln w="28575">
            <a:solidFill>
              <a:schemeClr val="tx2"/>
            </a:solidFill>
            <a:prstDash val="solid"/>
            <a:tailEnd type="triangle"/>
          </a:ln>
        </p:spPr>
      </p:sp>
      <p:sp>
        <p:nvSpPr>
          <p:cNvPr id="14" name="step 3"/>
          <p:cNvSpPr/>
          <p:nvPr/>
        </p:nvSpPr>
        <p:spPr>
          <a:xfrm>
            <a:off x="6187440" y="1371600"/>
            <a:ext cx="2499360" cy="1920240"/>
          </a:xfrm>
          <a:prstGeom prst="roundRect">
            <a:avLst>
              <a:gd name="adj" fmla="val 4762"/>
            </a:avLst>
          </a:prstGeom>
          <a:solidFill>
            <a:schemeClr val="accent1"/>
          </a:solidFill>
          <a:ln w="12700">
            <a:solidFill>
              <a:schemeClr val="accent1"/>
            </a:solidFill>
            <a:prstDash val="solid"/>
          </a:ln>
        </p:spPr>
      </p:sp>
      <p:sp>
        <p:nvSpPr>
          <p:cNvPr id="15" name="Shape 10"/>
          <p:cNvSpPr/>
          <p:nvPr/>
        </p:nvSpPr>
        <p:spPr>
          <a:xfrm>
            <a:off x="6324600" y="1508760"/>
            <a:ext cx="411480" cy="411480"/>
          </a:xfrm>
          <a:prstGeom prst="ellipse">
            <a:avLst/>
          </a:prstGeom>
          <a:solidFill>
            <a:schemeClr val="tx1"/>
          </a:solidFill>
          <a:ln w="12700">
            <a:solidFill>
              <a:schemeClr val="bg1"/>
            </a:solidFill>
            <a:prstDash val="solid"/>
          </a:ln>
        </p:spPr>
      </p:sp>
      <p:pic>
        <p:nvPicPr>
          <p:cNvPr id="16" name="Image 2" descr="FaSearch">    </p:cNvPr>
          <p:cNvPicPr>
            <a:picLocks noChangeAspect="1"/>
          </p:cNvPicPr>
          <p:nvPr/>
        </p:nvPicPr>
        <p:blipFill>
          <a:blip r:embed="rId3"/>
          <a:stretch>
            <a:fillRect/>
          </a:stretch>
        </p:blipFill>
        <p:spPr>
          <a:xfrm>
            <a:off x="6425184" y="1609344"/>
            <a:ext cx="210312" cy="210312"/>
          </a:xfrm>
          <a:prstGeom prst="rect">
            <a:avLst/>
          </a:prstGeom>
        </p:spPr>
      </p:pic>
      <p:sp>
        <p:nvSpPr>
          <p:cNvPr id="17" name="Text 11"/>
          <p:cNvSpPr txBox="1"/>
          <p:nvPr/>
        </p:nvSpPr>
        <p:spPr>
          <a:xfrm>
            <a:off x="6324600" y="2011680"/>
            <a:ext cx="2225040" cy="1188720"/>
          </a:xfrm>
          <a:prstGeom prst="rect">
            <a:avLst/>
          </a:prstGeom>
          <a:noFill/>
          <a:ln/>
        </p:spPr>
        <p:txBody>
          <a:bodyPr wrap="square" lIns="0" tIns="0" rIns="0" bIns="0" rtlCol="0" anchor="t"/>
          <a:lstStyle/>
          <a:p>
            <a:pPr indent="0" marL="0">
              <a:buNone/>
            </a:pPr>
            <a:r>
              <a:rPr lang="en-US" sz="1600" b="1" dirty="0">
                <a:solidFill>
                  <a:schemeClr val="tx1"/>
                </a:solidFill>
              </a:rPr>
              <a:t>Tool detects it</a:t>
            </a:r>
            <a:endParaRPr lang="en-US" sz="1600" dirty="0"/>
          </a:p>
          <a:p>
            <a:pPr indent="0" marL="0">
              <a:buNone/>
            </a:pPr>
            <a:r>
              <a:rPr lang="en-US" sz="1400" dirty="0">
                <a:solidFill>
                  <a:schemeClr val="tx1"/>
                </a:solidFill>
              </a:rPr>
              <a:t>The only thing that changed is the failure we caused</a:t>
            </a:r>
            <a:endParaRPr lang="en-US" sz="1600" dirty="0"/>
          </a:p>
        </p:txBody>
      </p:sp>
      <p:sp>
        <p:nvSpPr>
          <p:cNvPr id="18" name="callout"/>
          <p:cNvSpPr/>
          <p:nvPr/>
        </p:nvSpPr>
        <p:spPr>
          <a:xfrm>
            <a:off x="457200" y="3657600"/>
            <a:ext cx="8229600" cy="548640"/>
          </a:xfrm>
          <a:prstGeom prst="roundRect">
            <a:avLst>
              <a:gd name="adj" fmla="val 16667"/>
            </a:avLst>
          </a:prstGeom>
          <a:solidFill>
            <a:schemeClr val="accent2"/>
          </a:solidFill>
          <a:ln w="12700">
            <a:solidFill>
              <a:schemeClr val="accent2"/>
            </a:solidFill>
            <a:prstDash val="solid"/>
          </a:ln>
        </p:spPr>
      </p:sp>
      <p:sp>
        <p:nvSpPr>
          <p:cNvPr id="19" name="Text 13"/>
          <p:cNvSpPr txBox="1"/>
          <p:nvPr/>
        </p:nvSpPr>
        <p:spPr>
          <a:xfrm>
            <a:off x="685800" y="365760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Same idea as a control group: change one thing, then see exactly that change.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1: the baseline evidence</a:t>
            </a:r>
            <a:endParaRPr lang="en-US" sz="3000" dirty="0"/>
          </a:p>
        </p:txBody>
      </p:sp>
      <p:sp>
        <p:nvSpPr>
          <p:cNvPr id="4" name="code panel"/>
          <p:cNvSpPr/>
          <p:nvPr/>
        </p:nvSpPr>
        <p:spPr>
          <a:xfrm>
            <a:off x="457200" y="1234440"/>
            <a:ext cx="3291840" cy="2011680"/>
          </a:xfrm>
          <a:prstGeom prst="roundRect">
            <a:avLst>
              <a:gd name="adj" fmla="val 3636"/>
            </a:avLst>
          </a:prstGeom>
          <a:solidFill>
            <a:schemeClr val="tx1"/>
          </a:solidFill>
          <a:ln w="12700">
            <a:solidFill>
              <a:schemeClr val="tx1"/>
            </a:solidFill>
            <a:prstDash val="solid"/>
          </a:ln>
        </p:spPr>
      </p:sp>
      <p:sp>
        <p:nvSpPr>
          <p:cNvPr id="5" name="code"/>
          <p:cNvSpPr txBox="1"/>
          <p:nvPr/>
        </p:nvSpPr>
        <p:spPr>
          <a:xfrm>
            <a:off x="621792" y="1344168"/>
            <a:ext cx="2962656" cy="179222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az pipelines runs list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--pipeline-ids 9 --top 1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--output table</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az pipelines runs list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--pipeline-ids 10 --top 1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--output table</a:t>
            </a:r>
            <a:endParaRPr lang="en-US" sz="1300" dirty="0"/>
          </a:p>
        </p:txBody>
      </p:sp>
      <p:sp>
        <p:nvSpPr>
          <p:cNvPr id="6" name="Shape 3"/>
          <p:cNvSpPr/>
          <p:nvPr/>
        </p:nvSpPr>
        <p:spPr>
          <a:xfrm>
            <a:off x="4023360" y="1234440"/>
            <a:ext cx="4663440" cy="1417320"/>
          </a:xfrm>
          <a:prstGeom prst="roundRect">
            <a:avLst>
              <a:gd name="adj" fmla="val 6452"/>
            </a:avLst>
          </a:prstGeom>
          <a:solidFill>
            <a:schemeClr val="accent4"/>
          </a:solidFill>
          <a:ln w="12700">
            <a:solidFill>
              <a:schemeClr val="accent4"/>
            </a:solidFill>
            <a:prstDash val="solid"/>
          </a:ln>
        </p:spPr>
      </p:sp>
      <p:sp>
        <p:nvSpPr>
          <p:cNvPr id="7" name="Text 4"/>
          <p:cNvSpPr txBox="1"/>
          <p:nvPr/>
        </p:nvSpPr>
        <p:spPr>
          <a:xfrm>
            <a:off x="4206240" y="1371600"/>
            <a:ext cx="4297680" cy="1188720"/>
          </a:xfrm>
          <a:prstGeom prst="rect">
            <a:avLst/>
          </a:prstGeom>
          <a:noFill/>
          <a:ln/>
        </p:spPr>
        <p:txBody>
          <a:bodyPr wrap="square" lIns="0" tIns="0" rIns="0" bIns="0" rtlCol="0" anchor="t"/>
          <a:lstStyle/>
          <a:p>
            <a:pPr indent="0" marL="0">
              <a:buNone/>
            </a:pPr>
            <a:r>
              <a:rPr lang="en-US" sz="1600" b="1" dirty="0">
                <a:solidFill>
                  <a:schemeClr val="bg1"/>
                </a:solidFill>
              </a:rPr>
              <a:t>Infrastructure · ID 9</a:t>
            </a:r>
            <a:endParaRPr lang="en-US" sz="1400" dirty="0"/>
          </a:p>
          <a:p>
            <a:pPr indent="0" marL="0">
              <a:buNone/>
            </a:pPr>
            <a:r>
              <a:rPr lang="en-US" sz="1400" dirty="0">
                <a:solidFill>
                  <a:schemeClr val="bg1"/>
                </a:solidFill>
              </a:rPr>
              <a:t>Run ID 41 · Run 20260919.1 · main</a:t>
            </a:r>
            <a:endParaRPr lang="en-US" sz="1400" dirty="0"/>
          </a:p>
          <a:p>
            <a:pPr indent="0" marL="0">
              <a:buNone/>
            </a:pPr>
            <a:r>
              <a:rPr lang="en-US" sz="1400" dirty="0">
                <a:solidFill>
                  <a:schemeClr val="bg1"/>
                </a:solidFill>
              </a:rPr>
              <a:t>Status: completed · Result: succeeded</a:t>
            </a:r>
            <a:endParaRPr lang="en-US" sz="1400" dirty="0"/>
          </a:p>
        </p:txBody>
      </p:sp>
      <p:sp>
        <p:nvSpPr>
          <p:cNvPr id="8" name="Shape 5"/>
          <p:cNvSpPr/>
          <p:nvPr/>
        </p:nvSpPr>
        <p:spPr>
          <a:xfrm>
            <a:off x="4023360" y="2788920"/>
            <a:ext cx="4663440" cy="1417320"/>
          </a:xfrm>
          <a:prstGeom prst="roundRect">
            <a:avLst>
              <a:gd name="adj" fmla="val 6452"/>
            </a:avLst>
          </a:prstGeom>
          <a:solidFill>
            <a:schemeClr val="accent5"/>
          </a:solidFill>
          <a:ln w="12700">
            <a:solidFill>
              <a:schemeClr val="accent5"/>
            </a:solidFill>
            <a:prstDash val="solid"/>
          </a:ln>
        </p:spPr>
      </p:sp>
      <p:sp>
        <p:nvSpPr>
          <p:cNvPr id="9" name="Text 6"/>
          <p:cNvSpPr txBox="1"/>
          <p:nvPr/>
        </p:nvSpPr>
        <p:spPr>
          <a:xfrm>
            <a:off x="4206240" y="2926080"/>
            <a:ext cx="4297680" cy="1188720"/>
          </a:xfrm>
          <a:prstGeom prst="rect">
            <a:avLst/>
          </a:prstGeom>
          <a:noFill/>
          <a:ln/>
        </p:spPr>
        <p:txBody>
          <a:bodyPr wrap="square" lIns="0" tIns="0" rIns="0" bIns="0" rtlCol="0" anchor="t"/>
          <a:lstStyle/>
          <a:p>
            <a:pPr indent="0" marL="0">
              <a:buNone/>
            </a:pPr>
            <a:r>
              <a:rPr lang="en-US" sz="1600" b="1" dirty="0">
                <a:solidFill>
                  <a:schemeClr val="bg1"/>
                </a:solidFill>
              </a:rPr>
              <a:t>Application · ID 10</a:t>
            </a:r>
            <a:endParaRPr lang="en-US" sz="1400" dirty="0"/>
          </a:p>
          <a:p>
            <a:pPr indent="0" marL="0">
              <a:buNone/>
            </a:pPr>
            <a:r>
              <a:rPr lang="en-US" sz="1400" dirty="0">
                <a:solidFill>
                  <a:schemeClr val="bg1"/>
                </a:solidFill>
              </a:rPr>
              <a:t>Run ID 51 · Run 20260919.10 · main</a:t>
            </a:r>
            <a:endParaRPr lang="en-US" sz="1400" dirty="0"/>
          </a:p>
          <a:p>
            <a:pPr indent="0" marL="0">
              <a:buNone/>
            </a:pPr>
            <a:r>
              <a:rPr lang="en-US" sz="1400" dirty="0">
                <a:solidFill>
                  <a:schemeClr val="bg1"/>
                </a:solidFill>
              </a:rPr>
              <a:t>Status: completed · Result: succeeded</a:t>
            </a:r>
            <a:endParaRPr lang="en-US" sz="1400" dirty="0"/>
          </a:p>
        </p:txBody>
      </p:sp>
      <p:sp>
        <p:nvSpPr>
          <p:cNvPr id="10" name="Text 7"/>
          <p:cNvSpPr txBox="1"/>
          <p:nvPr/>
        </p:nvSpPr>
        <p:spPr>
          <a:xfrm>
            <a:off x="457200" y="3474720"/>
            <a:ext cx="3291840" cy="274320"/>
          </a:xfrm>
          <a:prstGeom prst="rect">
            <a:avLst/>
          </a:prstGeom>
          <a:noFill/>
          <a:ln/>
        </p:spPr>
        <p:txBody>
          <a:bodyPr wrap="square" lIns="0" tIns="0" rIns="0" bIns="0" rtlCol="0" anchor="t"/>
          <a:lstStyle/>
          <a:p>
            <a:pPr indent="0" marL="0">
              <a:buNone/>
            </a:pPr>
            <a:r>
              <a:rPr lang="en-US" sz="1400" i="1" dirty="0">
                <a:solidFill>
                  <a:schemeClr val="tx2"/>
                </a:solidFill>
              </a:rPr>
              <a:t>Your run IDs will differ.</a:t>
            </a:r>
            <a:endParaRPr lang="en-US" sz="1400" dirty="0"/>
          </a:p>
        </p:txBody>
      </p:sp>
      <p:sp>
        <p:nvSpPr>
          <p:cNvPr id="11" name="Text 8"/>
          <p:cNvSpPr txBox="1"/>
          <p:nvPr/>
        </p:nvSpPr>
        <p:spPr>
          <a:xfrm>
            <a:off x="457200" y="3840480"/>
            <a:ext cx="3291840" cy="548640"/>
          </a:xfrm>
          <a:prstGeom prst="rect">
            <a:avLst/>
          </a:prstGeom>
          <a:noFill/>
          <a:ln/>
        </p:spPr>
        <p:txBody>
          <a:bodyPr wrap="square" lIns="0" tIns="0" rIns="0" bIns="0" rtlCol="0" anchor="t"/>
          <a:lstStyle/>
          <a:p>
            <a:pPr indent="0" marL="0">
              <a:buNone/>
            </a:pPr>
            <a:r>
              <a:rPr lang="en-US" sz="1400" b="1" dirty="0">
                <a:solidFill>
                  <a:schemeClr val="tx1"/>
                </a:solidFill>
              </a:rPr>
              <a:t>Both must show succeeded before moving on.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1: build the workspace structure</a:t>
            </a:r>
            <a:endParaRPr lang="en-US" sz="3000" dirty="0"/>
          </a:p>
        </p:txBody>
      </p:sp>
      <p:sp>
        <p:nvSpPr>
          <p:cNvPr id="4" name="code panel"/>
          <p:cNvSpPr/>
          <p:nvPr/>
        </p:nvSpPr>
        <p:spPr>
          <a:xfrm>
            <a:off x="457200" y="1234440"/>
            <a:ext cx="5212080" cy="3154680"/>
          </a:xfrm>
          <a:prstGeom prst="roundRect">
            <a:avLst>
              <a:gd name="adj" fmla="val 2319"/>
            </a:avLst>
          </a:prstGeom>
          <a:solidFill>
            <a:schemeClr val="tx1"/>
          </a:solidFill>
          <a:ln w="12700">
            <a:solidFill>
              <a:schemeClr val="tx1"/>
            </a:solidFill>
            <a:prstDash val="solid"/>
          </a:ln>
        </p:spPr>
      </p:sp>
      <p:sp>
        <p:nvSpPr>
          <p:cNvPr id="5" name="code"/>
          <p:cNvSpPr txBox="1"/>
          <p:nvPr/>
        </p:nvSpPr>
        <p:spPr>
          <a:xfrm>
            <a:off x="621792" y="1344168"/>
            <a:ext cx="4882896" cy="29352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theepicbook/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week-10/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assignment-05-pipeline-triage/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pipeline-triage.sh    (supplied)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CLAUDE.md             (Task 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reports/              (script output)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.claude/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skills/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pipeline-triage/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SKILL.md  (supplied)</a:t>
            </a:r>
            <a:endParaRPr lang="en-US" sz="1200" dirty="0"/>
          </a:p>
        </p:txBody>
      </p:sp>
      <p:sp>
        <p:nvSpPr>
          <p:cNvPr id="6" name="icon circle"/>
          <p:cNvSpPr/>
          <p:nvPr/>
        </p:nvSpPr>
        <p:spPr>
          <a:xfrm>
            <a:off x="5943600" y="1325880"/>
            <a:ext cx="457200" cy="457200"/>
          </a:xfrm>
          <a:prstGeom prst="ellipse">
            <a:avLst/>
          </a:prstGeom>
          <a:solidFill>
            <a:schemeClr val="accent4"/>
          </a:solidFill>
          <a:ln w="12700">
            <a:solidFill>
              <a:schemeClr val="accent4"/>
            </a:solidFill>
            <a:prstDash val="solid"/>
          </a:ln>
        </p:spPr>
      </p:sp>
      <p:pic>
        <p:nvPicPr>
          <p:cNvPr id="7" name="icon FaMapSigns" descr="FaMapSigns">    </p:cNvPr>
          <p:cNvPicPr>
            <a:picLocks noChangeAspect="1"/>
          </p:cNvPicPr>
          <p:nvPr/>
        </p:nvPicPr>
        <p:blipFill>
          <a:blip r:embed="rId1"/>
          <a:stretch>
            <a:fillRect/>
          </a:stretch>
        </p:blipFill>
        <p:spPr>
          <a:xfrm>
            <a:off x="6053328" y="1435608"/>
            <a:ext cx="237744" cy="237744"/>
          </a:xfrm>
          <a:prstGeom prst="rect">
            <a:avLst/>
          </a:prstGeom>
        </p:spPr>
      </p:pic>
      <p:sp>
        <p:nvSpPr>
          <p:cNvPr id="8" name="Text 4"/>
          <p:cNvSpPr txBox="1"/>
          <p:nvPr/>
        </p:nvSpPr>
        <p:spPr>
          <a:xfrm>
            <a:off x="6583680" y="1298448"/>
            <a:ext cx="2103120" cy="914400"/>
          </a:xfrm>
          <a:prstGeom prst="rect">
            <a:avLst/>
          </a:prstGeom>
          <a:noFill/>
          <a:ln/>
        </p:spPr>
        <p:txBody>
          <a:bodyPr wrap="square" lIns="0" tIns="0" rIns="0" bIns="0" rtlCol="0" anchor="t"/>
          <a:lstStyle/>
          <a:p>
            <a:pPr indent="0" marL="0">
              <a:buNone/>
            </a:pPr>
            <a:r>
              <a:rPr lang="en-US" sz="1500" b="1" dirty="0">
                <a:solidFill>
                  <a:schemeClr val="tx1"/>
                </a:solidFill>
              </a:rPr>
              <a:t>Exact path matters</a:t>
            </a:r>
            <a:endParaRPr lang="en-US" sz="1500" dirty="0"/>
          </a:p>
          <a:p>
            <a:pPr indent="0" marL="0">
              <a:buNone/>
            </a:pPr>
            <a:r>
              <a:rPr lang="en-US" sz="1300" dirty="0">
                <a:solidFill>
                  <a:schemeClr val="tx1"/>
                </a:solidFill>
              </a:rPr>
              <a:t>Skills load only from .claude/skills/name/SKILL.md</a:t>
            </a:r>
            <a:endParaRPr lang="en-US" sz="1500" dirty="0"/>
          </a:p>
        </p:txBody>
      </p:sp>
      <p:sp>
        <p:nvSpPr>
          <p:cNvPr id="9" name="icon circle"/>
          <p:cNvSpPr/>
          <p:nvPr/>
        </p:nvSpPr>
        <p:spPr>
          <a:xfrm>
            <a:off x="5943600" y="2331720"/>
            <a:ext cx="457200" cy="457200"/>
          </a:xfrm>
          <a:prstGeom prst="ellipse">
            <a:avLst/>
          </a:prstGeom>
          <a:solidFill>
            <a:schemeClr val="accent2"/>
          </a:solidFill>
          <a:ln w="12700">
            <a:solidFill>
              <a:schemeClr val="accent2"/>
            </a:solidFill>
            <a:prstDash val="solid"/>
          </a:ln>
        </p:spPr>
      </p:sp>
      <p:pic>
        <p:nvPicPr>
          <p:cNvPr id="10" name="icon FaFolderOpen" descr="FaFolderOpen">    </p:cNvPr>
          <p:cNvPicPr>
            <a:picLocks noChangeAspect="1"/>
          </p:cNvPicPr>
          <p:nvPr/>
        </p:nvPicPr>
        <p:blipFill>
          <a:blip r:embed="rId2"/>
          <a:stretch>
            <a:fillRect/>
          </a:stretch>
        </p:blipFill>
        <p:spPr>
          <a:xfrm>
            <a:off x="6053328" y="2441448"/>
            <a:ext cx="237744" cy="237744"/>
          </a:xfrm>
          <a:prstGeom prst="rect">
            <a:avLst/>
          </a:prstGeom>
        </p:spPr>
      </p:pic>
      <p:sp>
        <p:nvSpPr>
          <p:cNvPr id="11" name="Text 6"/>
          <p:cNvSpPr txBox="1"/>
          <p:nvPr/>
        </p:nvSpPr>
        <p:spPr>
          <a:xfrm>
            <a:off x="6583680" y="2304288"/>
            <a:ext cx="2103120" cy="914400"/>
          </a:xfrm>
          <a:prstGeom prst="rect">
            <a:avLst/>
          </a:prstGeom>
          <a:noFill/>
          <a:ln/>
        </p:spPr>
        <p:txBody>
          <a:bodyPr wrap="square" lIns="0" tIns="0" rIns="0" bIns="0" rtlCol="0" anchor="t"/>
          <a:lstStyle/>
          <a:p>
            <a:pPr indent="0" marL="0">
              <a:buNone/>
            </a:pPr>
            <a:r>
              <a:rPr lang="en-US" sz="1500" b="1" dirty="0">
                <a:solidFill>
                  <a:schemeClr val="tx1"/>
                </a:solidFill>
              </a:rPr>
              <a:t>reports/ first</a:t>
            </a:r>
            <a:endParaRPr lang="en-US" sz="1500" dirty="0"/>
          </a:p>
          <a:p>
            <a:pPr indent="0" marL="0">
              <a:buNone/>
            </a:pPr>
            <a:r>
              <a:rPr lang="en-US" sz="1300" dirty="0">
                <a:solidFill>
                  <a:schemeClr val="tx1"/>
                </a:solidFill>
              </a:rPr>
              <a:t>Script output has somewhere to go</a:t>
            </a:r>
            <a:endParaRPr lang="en-US" sz="1500" dirty="0"/>
          </a:p>
        </p:txBody>
      </p:sp>
      <p:sp>
        <p:nvSpPr>
          <p:cNvPr id="12" name="icon circle"/>
          <p:cNvSpPr/>
          <p:nvPr/>
        </p:nvSpPr>
        <p:spPr>
          <a:xfrm>
            <a:off x="5943600" y="3337560"/>
            <a:ext cx="457200" cy="457200"/>
          </a:xfrm>
          <a:prstGeom prst="ellipse">
            <a:avLst/>
          </a:prstGeom>
          <a:solidFill>
            <a:schemeClr val="accent1"/>
          </a:solidFill>
          <a:ln w="12700">
            <a:solidFill>
              <a:schemeClr val="accent1"/>
            </a:solidFill>
            <a:prstDash val="solid"/>
          </a:ln>
        </p:spPr>
      </p:sp>
      <p:pic>
        <p:nvPicPr>
          <p:cNvPr id="13" name="icon FaBook" descr="FaBook">    </p:cNvPr>
          <p:cNvPicPr>
            <a:picLocks noChangeAspect="1"/>
          </p:cNvPicPr>
          <p:nvPr/>
        </p:nvPicPr>
        <p:blipFill>
          <a:blip r:embed="rId3"/>
          <a:stretch>
            <a:fillRect/>
          </a:stretch>
        </p:blipFill>
        <p:spPr>
          <a:xfrm>
            <a:off x="6053328" y="3447288"/>
            <a:ext cx="237744" cy="237744"/>
          </a:xfrm>
          <a:prstGeom prst="rect">
            <a:avLst/>
          </a:prstGeom>
        </p:spPr>
      </p:pic>
      <p:sp>
        <p:nvSpPr>
          <p:cNvPr id="14" name="Text 8"/>
          <p:cNvSpPr txBox="1"/>
          <p:nvPr/>
        </p:nvSpPr>
        <p:spPr>
          <a:xfrm>
            <a:off x="6583680" y="3310128"/>
            <a:ext cx="2103120" cy="914400"/>
          </a:xfrm>
          <a:prstGeom prst="rect">
            <a:avLst/>
          </a:prstGeom>
          <a:noFill/>
          <a:ln/>
        </p:spPr>
        <p:txBody>
          <a:bodyPr wrap="square" lIns="0" tIns="0" rIns="0" bIns="0" rtlCol="0" anchor="t"/>
          <a:lstStyle/>
          <a:p>
            <a:pPr indent="0" marL="0">
              <a:buNone/>
            </a:pPr>
            <a:r>
              <a:rPr lang="en-US" sz="1500" b="1" dirty="0">
                <a:solidFill>
                  <a:schemeClr val="tx1"/>
                </a:solidFill>
              </a:rPr>
              <a:t>CLAUDE.md at the root</a:t>
            </a:r>
            <a:endParaRPr lang="en-US" sz="1500" dirty="0"/>
          </a:p>
          <a:p>
            <a:pPr indent="0" marL="0">
              <a:buNone/>
            </a:pPr>
            <a:r>
              <a:rPr lang="en-US" sz="1300" dirty="0">
                <a:solidFill>
                  <a:schemeClr val="tx1"/>
                </a:solidFill>
              </a:rPr>
              <a:t>Created in Task 2, not yet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1: copy the supplied files</a:t>
            </a:r>
            <a:endParaRPr lang="en-US" sz="3000" dirty="0"/>
          </a:p>
        </p:txBody>
      </p:sp>
      <p:sp>
        <p:nvSpPr>
          <p:cNvPr id="4" name="code panel"/>
          <p:cNvSpPr/>
          <p:nvPr/>
        </p:nvSpPr>
        <p:spPr>
          <a:xfrm>
            <a:off x="457200" y="1234440"/>
            <a:ext cx="8229600" cy="2514600"/>
          </a:xfrm>
          <a:prstGeom prst="roundRect">
            <a:avLst>
              <a:gd name="adj" fmla="val 2909"/>
            </a:avLst>
          </a:prstGeom>
          <a:solidFill>
            <a:schemeClr val="tx1"/>
          </a:solidFill>
          <a:ln w="12700">
            <a:solidFill>
              <a:schemeClr val="tx1"/>
            </a:solidFill>
            <a:prstDash val="solid"/>
          </a:ln>
        </p:spPr>
      </p:sp>
      <p:sp>
        <p:nvSpPr>
          <p:cNvPr id="5" name="code"/>
          <p:cNvSpPr txBox="1"/>
          <p:nvPr/>
        </p:nvSpPr>
        <p:spPr>
          <a:xfrm>
            <a:off x="621792" y="1344168"/>
            <a:ext cx="7900416" cy="22951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mkdir -p week-10/assignment-05-pipeline-triage/reports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mkdir -p week-10/assignment-05-pipeline-triage/.claude/skills/pipeline-triage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cd week-10/assignment-05-pipeline-triage</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cp "/mnt/c/Users/&lt;you&gt;/Downloads/.../SKILL.md"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.claude/skills/pipeline-triage/SKILL.md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cp "/mnt/c/Users/&lt;you&gt;/Downloads/.../pipeline-triage.sh"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pipeline-triage.sh</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find . -type f      # verify both landed</a:t>
            </a:r>
            <a:endParaRPr lang="en-US" sz="1200" dirty="0"/>
          </a:p>
        </p:txBody>
      </p:sp>
      <p:sp>
        <p:nvSpPr>
          <p:cNvPr id="6" name="Text 3"/>
          <p:cNvSpPr txBox="1"/>
          <p:nvPr/>
        </p:nvSpPr>
        <p:spPr>
          <a:xfrm>
            <a:off x="457200" y="3840480"/>
            <a:ext cx="8229600" cy="822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SKILL.md capitalisation must match exactly (not skill.md)</a:t>
            </a:r>
            <a:endParaRPr lang="en-US" sz="1400" dirty="0"/>
          </a:p>
          <a:p>
            <a:pPr marL="342900" indent="-342900">
              <a:spcAft>
                <a:spcPts val="500"/>
              </a:spcAft>
              <a:buSzPct val="100000"/>
              <a:buChar char="•"/>
            </a:pPr>
            <a:r>
              <a:rPr lang="en-US" sz="1400" dirty="0">
                <a:solidFill>
                  <a:schemeClr val="tx1"/>
                </a:solidFill>
              </a:rPr>
              <a:t>No CLAUDE.md yet and no reports from other students</a:t>
            </a:r>
            <a:endParaRPr lang="en-US" sz="1400" dirty="0"/>
          </a:p>
          <a:p>
            <a:pPr marL="342900" indent="-342900">
              <a:spcAft>
                <a:spcPts val="500"/>
              </a:spcAft>
              <a:buSzPct val="100000"/>
              <a:buChar char="•"/>
            </a:pPr>
            <a:r>
              <a:rPr lang="en-US" sz="1400" dirty="0">
                <a:solidFill>
                  <a:schemeClr val="tx1"/>
                </a:solidFill>
              </a:rPr>
              <a:t>Right-click the file &gt; Copy as path to get the source location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640080" y="1783080"/>
            <a:ext cx="5669280" cy="1097280"/>
          </a:xfrm>
          <a:prstGeom prst="rect">
            <a:avLst/>
          </a:prstGeom>
          <a:noFill/>
          <a:ln/>
        </p:spPr>
        <p:txBody>
          <a:bodyPr wrap="square" lIns="0" tIns="0" rIns="0" bIns="0" rtlCol="0" anchor="t"/>
          <a:lstStyle/>
          <a:p>
            <a:pPr algn="l" indent="0" marL="0">
              <a:buNone/>
            </a:pPr>
            <a:r>
              <a:rPr lang="en-US" sz="3800" b="1" dirty="0">
                <a:solidFill>
                  <a:schemeClr val="bg1"/>
                </a:solidFill>
              </a:rPr>
              <a:t>CLAUDE.md</a:t>
            </a:r>
            <a:endParaRPr lang="en-US" sz="3800" dirty="0"/>
          </a:p>
        </p:txBody>
      </p:sp>
      <p:sp>
        <p:nvSpPr>
          <p:cNvPr id="3" name="Text 1"/>
          <p:cNvSpPr/>
          <p:nvPr>
            <p:ph idx="102" type="body" hasCustomPrompt="1"/>
          </p:nvPr>
        </p:nvSpPr>
        <p:spPr>
          <a:xfrm>
            <a:off x="640080" y="2971800"/>
            <a:ext cx="5669280" cy="1005840"/>
          </a:xfrm>
          <a:prstGeom prst="rect">
            <a:avLst/>
          </a:prstGeom>
          <a:noFill/>
          <a:ln/>
        </p:spPr>
        <p:txBody>
          <a:bodyPr wrap="square" lIns="0" tIns="0" rIns="0" bIns="0" rtlCol="0" anchor="t"/>
          <a:lstStyle/>
          <a:p>
            <a:pPr algn="l" indent="0" marL="0">
              <a:buNone/>
            </a:pPr>
            <a:r>
              <a:rPr lang="en-US" sz="1800" dirty="0">
                <a:solidFill>
                  <a:schemeClr val="bg1"/>
                </a:solidFill>
              </a:rPr>
              <a:t>The standing instruction manual: project context and safety boundaries that Claude reads before it touches anything.</a:t>
            </a:r>
            <a:endParaRPr lang="en-US" sz="1800" dirty="0"/>
          </a:p>
        </p:txBody>
      </p:sp>
      <p:sp>
        <p:nvSpPr>
          <p:cNvPr id="4" name="Text 2"/>
          <p:cNvSpPr txBox="1"/>
          <p:nvPr/>
        </p:nvSpPr>
        <p:spPr>
          <a:xfrm>
            <a:off x="640080" y="1325880"/>
            <a:ext cx="5486400" cy="320040"/>
          </a:xfrm>
          <a:prstGeom prst="rect">
            <a:avLst/>
          </a:prstGeom>
          <a:noFill/>
          <a:ln/>
        </p:spPr>
        <p:txBody>
          <a:bodyPr wrap="square" lIns="0" tIns="0" rIns="0" bIns="0" rtlCol="0" anchor="ctr"/>
          <a:lstStyle/>
          <a:p>
            <a:pPr indent="0" marL="0">
              <a:buNone/>
            </a:pPr>
            <a:r>
              <a:rPr lang="en-US" sz="1400" b="1" spc="300" kern="0" dirty="0">
                <a:solidFill>
                  <a:schemeClr val="bg1"/>
                </a:solidFill>
              </a:rPr>
              <a:t>PART 3 · TASK 2</a:t>
            </a:r>
            <a:endParaRPr lang="en-US" sz="1400" dirty="0"/>
          </a:p>
        </p:txBody>
      </p:sp>
      <p:sp>
        <p:nvSpPr>
          <p:cNvPr id="5" name="Shape 3"/>
          <p:cNvSpPr/>
          <p:nvPr/>
        </p:nvSpPr>
        <p:spPr>
          <a:xfrm>
            <a:off x="6675120" y="1554480"/>
            <a:ext cx="1920240" cy="1920240"/>
          </a:xfrm>
          <a:prstGeom prst="ellipse">
            <a:avLst/>
          </a:prstGeom>
          <a:solidFill>
            <a:schemeClr val="tx1"/>
          </a:solidFill>
          <a:ln w="12700">
            <a:solidFill>
              <a:schemeClr val="tx1"/>
            </a:solidFill>
            <a:prstDash val="solid"/>
          </a:ln>
        </p:spPr>
      </p:sp>
      <p:pic>
        <p:nvPicPr>
          <p:cNvPr id="6" name="Image 0" descr="FaBook">    </p:cNvPr>
          <p:cNvPicPr>
            <a:picLocks noChangeAspect="1"/>
          </p:cNvPicPr>
          <p:nvPr/>
        </p:nvPicPr>
        <p:blipFill>
          <a:blip r:embed="rId1"/>
          <a:stretch>
            <a:fillRect/>
          </a:stretch>
        </p:blipFill>
        <p:spPr>
          <a:xfrm>
            <a:off x="7132320" y="2011680"/>
            <a:ext cx="1005840" cy="10058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is CLAUDE.md?</a:t>
            </a:r>
            <a:endParaRPr lang="en-US" sz="3000" dirty="0"/>
          </a:p>
        </p:txBody>
      </p:sp>
      <p:sp>
        <p:nvSpPr>
          <p:cNvPr id="4" name="card"/>
          <p:cNvSpPr/>
          <p:nvPr/>
        </p:nvSpPr>
        <p:spPr>
          <a:xfrm>
            <a:off x="457200" y="1280160"/>
            <a:ext cx="3977640" cy="2743200"/>
          </a:xfrm>
          <a:prstGeom prst="roundRect">
            <a:avLst>
              <a:gd name="adj" fmla="val 3333"/>
            </a:avLst>
          </a:prstGeom>
          <a:solidFill>
            <a:schemeClr val="bg2"/>
          </a:solidFill>
          <a:ln w="12700">
            <a:solidFill>
              <a:schemeClr val="bg2"/>
            </a:solidFill>
            <a:prstDash val="solid"/>
          </a:ln>
        </p:spPr>
      </p:sp>
      <p:sp>
        <p:nvSpPr>
          <p:cNvPr id="5" name="icon circle"/>
          <p:cNvSpPr/>
          <p:nvPr/>
        </p:nvSpPr>
        <p:spPr>
          <a:xfrm>
            <a:off x="640080" y="1463040"/>
            <a:ext cx="457200" cy="457200"/>
          </a:xfrm>
          <a:prstGeom prst="ellipse">
            <a:avLst/>
          </a:prstGeom>
          <a:solidFill>
            <a:schemeClr val="accent3"/>
          </a:solidFill>
          <a:ln w="12700">
            <a:solidFill>
              <a:schemeClr val="accent3"/>
            </a:solidFill>
            <a:prstDash val="solid"/>
          </a:ln>
        </p:spPr>
      </p:sp>
      <p:pic>
        <p:nvPicPr>
          <p:cNvPr id="6" name="icon FaCommentDots" descr="FaCommentDots">    </p:cNvPr>
          <p:cNvPicPr>
            <a:picLocks noChangeAspect="1"/>
          </p:cNvPicPr>
          <p:nvPr/>
        </p:nvPicPr>
        <p:blipFill>
          <a:blip r:embed="rId1"/>
          <a:stretch>
            <a:fillRect/>
          </a:stretch>
        </p:blipFill>
        <p:spPr>
          <a:xfrm>
            <a:off x="749808" y="1572768"/>
            <a:ext cx="237744" cy="237744"/>
          </a:xfrm>
          <a:prstGeom prst="rect">
            <a:avLst/>
          </a:prstGeom>
        </p:spPr>
      </p:pic>
      <p:sp>
        <p:nvSpPr>
          <p:cNvPr id="7" name="Text 3"/>
          <p:cNvSpPr txBox="1"/>
          <p:nvPr/>
        </p:nvSpPr>
        <p:spPr>
          <a:xfrm>
            <a:off x="640080" y="2029968"/>
            <a:ext cx="3611880" cy="292608"/>
          </a:xfrm>
          <a:prstGeom prst="rect">
            <a:avLst/>
          </a:prstGeom>
          <a:noFill/>
          <a:ln/>
        </p:spPr>
        <p:txBody>
          <a:bodyPr wrap="square" lIns="0" tIns="0" rIns="0" bIns="0" rtlCol="0" anchor="t"/>
          <a:lstStyle/>
          <a:p>
            <a:pPr indent="0" marL="0">
              <a:buNone/>
            </a:pPr>
            <a:r>
              <a:rPr lang="en-US" sz="1600" b="1" dirty="0">
                <a:solidFill>
                  <a:schemeClr val="tx1"/>
                </a:solidFill>
              </a:rPr>
              <a:t>BEFORE: explain every session</a:t>
            </a:r>
            <a:endParaRPr lang="en-US" sz="1600" dirty="0"/>
          </a:p>
        </p:txBody>
      </p:sp>
      <p:sp>
        <p:nvSpPr>
          <p:cNvPr id="8" name="Text 4"/>
          <p:cNvSpPr txBox="1"/>
          <p:nvPr/>
        </p:nvSpPr>
        <p:spPr>
          <a:xfrm>
            <a:off x="640080" y="2368296"/>
            <a:ext cx="3611880" cy="1472184"/>
          </a:xfrm>
          <a:prstGeom prst="rect">
            <a:avLst/>
          </a:prstGeom>
          <a:noFill/>
          <a:ln/>
        </p:spPr>
        <p:txBody>
          <a:bodyPr wrap="square" lIns="0" tIns="0" rIns="0" bIns="0" rtlCol="0" anchor="t"/>
          <a:lstStyle/>
          <a:p>
            <a:pPr indent="0" marL="0">
              <a:buNone/>
            </a:pPr>
            <a:r>
              <a:rPr lang="en-US" sz="1400" dirty="0">
                <a:solidFill>
                  <a:schemeClr val="tx1"/>
                </a:solidFill>
              </a:rPr>
              <a:t>Re-type the rules each time.</a:t>
            </a:r>
            <a:endParaRPr lang="en-US" sz="1400" dirty="0"/>
          </a:p>
          <a:p>
            <a:pPr indent="0" marL="0">
              <a:buNone/>
            </a:pPr>
            <a:r>
              <a:rPr lang="en-US" sz="1400" dirty="0">
                <a:solidFill>
                  <a:schemeClr val="tx1"/>
                </a:solidFill>
              </a:rPr>
              <a:t>Easy to forget a safety rule.</a:t>
            </a:r>
            <a:endParaRPr lang="en-US" sz="1400" dirty="0"/>
          </a:p>
          <a:p>
            <a:pPr indent="0" marL="0">
              <a:buNone/>
            </a:pPr>
            <a:r>
              <a:rPr lang="en-US" sz="1400" dirty="0">
                <a:solidFill>
                  <a:schemeClr val="tx1"/>
                </a:solidFill>
              </a:rPr>
              <a:t>Different sessions behave differently.</a:t>
            </a:r>
            <a:endParaRPr lang="en-US" sz="1400" dirty="0"/>
          </a:p>
          <a:p>
            <a:pPr indent="0" marL="0">
              <a:buNone/>
            </a:pPr>
            <a:r>
              <a:rPr lang="en-US" sz="1400" dirty="0">
                <a:solidFill>
                  <a:schemeClr val="tx1"/>
                </a:solidFill>
              </a:rPr>
              <a:t>Nothing for a teammate to review.</a:t>
            </a:r>
            <a:endParaRPr lang="en-US" sz="1400" dirty="0"/>
          </a:p>
        </p:txBody>
      </p:sp>
      <p:sp>
        <p:nvSpPr>
          <p:cNvPr id="9" name="card"/>
          <p:cNvSpPr/>
          <p:nvPr/>
        </p:nvSpPr>
        <p:spPr>
          <a:xfrm>
            <a:off x="4709160" y="1280160"/>
            <a:ext cx="3977640" cy="2743200"/>
          </a:xfrm>
          <a:prstGeom prst="roundRect">
            <a:avLst>
              <a:gd name="adj" fmla="val 3333"/>
            </a:avLst>
          </a:prstGeom>
          <a:solidFill>
            <a:schemeClr val="bg2"/>
          </a:solidFill>
          <a:ln w="12700">
            <a:solidFill>
              <a:schemeClr val="bg2"/>
            </a:solidFill>
            <a:prstDash val="solid"/>
          </a:ln>
        </p:spPr>
      </p:sp>
      <p:sp>
        <p:nvSpPr>
          <p:cNvPr id="10" name="icon circle"/>
          <p:cNvSpPr/>
          <p:nvPr/>
        </p:nvSpPr>
        <p:spPr>
          <a:xfrm>
            <a:off x="4892040" y="1463040"/>
            <a:ext cx="457200" cy="457200"/>
          </a:xfrm>
          <a:prstGeom prst="ellipse">
            <a:avLst/>
          </a:prstGeom>
          <a:solidFill>
            <a:schemeClr val="accent6"/>
          </a:solidFill>
          <a:ln w="12700">
            <a:solidFill>
              <a:schemeClr val="accent6"/>
            </a:solidFill>
            <a:prstDash val="solid"/>
          </a:ln>
        </p:spPr>
      </p:sp>
      <p:pic>
        <p:nvPicPr>
          <p:cNvPr id="11" name="icon FaBook" descr="FaBook">    </p:cNvPr>
          <p:cNvPicPr>
            <a:picLocks noChangeAspect="1"/>
          </p:cNvPicPr>
          <p:nvPr/>
        </p:nvPicPr>
        <p:blipFill>
          <a:blip r:embed="rId2"/>
          <a:stretch>
            <a:fillRect/>
          </a:stretch>
        </p:blipFill>
        <p:spPr>
          <a:xfrm>
            <a:off x="5001768" y="1572768"/>
            <a:ext cx="237744" cy="237744"/>
          </a:xfrm>
          <a:prstGeom prst="rect">
            <a:avLst/>
          </a:prstGeom>
        </p:spPr>
      </p:pic>
      <p:sp>
        <p:nvSpPr>
          <p:cNvPr id="12" name="Text 7"/>
          <p:cNvSpPr txBox="1"/>
          <p:nvPr/>
        </p:nvSpPr>
        <p:spPr>
          <a:xfrm>
            <a:off x="4892040" y="2029968"/>
            <a:ext cx="3611880" cy="292608"/>
          </a:xfrm>
          <a:prstGeom prst="rect">
            <a:avLst/>
          </a:prstGeom>
          <a:noFill/>
          <a:ln/>
        </p:spPr>
        <p:txBody>
          <a:bodyPr wrap="square" lIns="0" tIns="0" rIns="0" bIns="0" rtlCol="0" anchor="t"/>
          <a:lstStyle/>
          <a:p>
            <a:pPr indent="0" marL="0">
              <a:buNone/>
            </a:pPr>
            <a:r>
              <a:rPr lang="en-US" sz="1600" b="1" dirty="0">
                <a:solidFill>
                  <a:schemeClr val="tx1"/>
                </a:solidFill>
              </a:rPr>
              <a:t>AFTER: write it once</a:t>
            </a:r>
            <a:endParaRPr lang="en-US" sz="1600" dirty="0"/>
          </a:p>
        </p:txBody>
      </p:sp>
      <p:sp>
        <p:nvSpPr>
          <p:cNvPr id="13" name="Text 8"/>
          <p:cNvSpPr txBox="1"/>
          <p:nvPr/>
        </p:nvSpPr>
        <p:spPr>
          <a:xfrm>
            <a:off x="4892040" y="2368296"/>
            <a:ext cx="3611880" cy="1472184"/>
          </a:xfrm>
          <a:prstGeom prst="rect">
            <a:avLst/>
          </a:prstGeom>
          <a:noFill/>
          <a:ln/>
        </p:spPr>
        <p:txBody>
          <a:bodyPr wrap="square" lIns="0" tIns="0" rIns="0" bIns="0" rtlCol="0" anchor="t"/>
          <a:lstStyle/>
          <a:p>
            <a:pPr indent="0" marL="0">
              <a:buNone/>
            </a:pPr>
            <a:r>
              <a:rPr lang="en-US" sz="1400" dirty="0">
                <a:solidFill>
                  <a:schemeClr val="tx1"/>
                </a:solidFill>
              </a:rPr>
              <a:t>Claude reads the file when working in the project.</a:t>
            </a:r>
            <a:endParaRPr lang="en-US" sz="1400" dirty="0"/>
          </a:p>
          <a:p>
            <a:pPr indent="0" marL="0">
              <a:buNone/>
            </a:pPr>
            <a:r>
              <a:rPr lang="en-US" sz="1400" dirty="0">
                <a:solidFill>
                  <a:schemeClr val="tx1"/>
                </a:solidFill>
              </a:rPr>
              <a:t>Rules are version-controlled and reviewable.</a:t>
            </a:r>
            <a:endParaRPr lang="en-US" sz="1400" dirty="0"/>
          </a:p>
          <a:p>
            <a:pPr indent="0" marL="0">
              <a:buNone/>
            </a:pPr>
            <a:r>
              <a:rPr lang="en-US" sz="1400" dirty="0">
                <a:solidFill>
                  <a:schemeClr val="tx1"/>
                </a:solidFill>
              </a:rPr>
              <a:t>Same boundaries in every session.</a:t>
            </a:r>
            <a:endParaRPr lang="en-US" sz="1400" dirty="0"/>
          </a:p>
          <a:p>
            <a:pPr indent="0" marL="0">
              <a:buNone/>
            </a:pPr>
            <a:r>
              <a:rPr lang="en-US" sz="1400" dirty="0">
                <a:solidFill>
                  <a:schemeClr val="tx1"/>
                </a:solidFill>
              </a:rPr>
              <a:t>Teammates can read and improve it.</a:t>
            </a:r>
            <a:endParaRPr lang="en-US" sz="1400" dirty="0"/>
          </a:p>
        </p:txBody>
      </p:sp>
      <p:sp>
        <p:nvSpPr>
          <p:cNvPr id="14" name="callout"/>
          <p:cNvSpPr/>
          <p:nvPr/>
        </p:nvSpPr>
        <p:spPr>
          <a:xfrm>
            <a:off x="457200" y="4160520"/>
            <a:ext cx="8229600" cy="548640"/>
          </a:xfrm>
          <a:prstGeom prst="roundRect">
            <a:avLst>
              <a:gd name="adj" fmla="val 16667"/>
            </a:avLst>
          </a:prstGeom>
          <a:solidFill>
            <a:schemeClr val="accent2"/>
          </a:solidFill>
          <a:ln w="12700">
            <a:solidFill>
              <a:schemeClr val="accent2"/>
            </a:solidFill>
            <a:prstDash val="solid"/>
          </a:ln>
        </p:spPr>
      </p:sp>
      <p:sp>
        <p:nvSpPr>
          <p:cNvPr id="15" name="Text 10"/>
          <p:cNvSpPr txBox="1"/>
          <p:nvPr/>
        </p:nvSpPr>
        <p:spPr>
          <a:xfrm>
            <a:off x="685800" y="416052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CLAUDE.md = project context + workflow + safety rules + output format.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four sections you must write</a:t>
            </a:r>
            <a:endParaRPr lang="en-US" sz="3000" dirty="0"/>
          </a:p>
        </p:txBody>
      </p:sp>
      <p:sp>
        <p:nvSpPr>
          <p:cNvPr id="4" name="card"/>
          <p:cNvSpPr/>
          <p:nvPr/>
        </p:nvSpPr>
        <p:spPr>
          <a:xfrm>
            <a:off x="457200" y="1234440"/>
            <a:ext cx="3977640" cy="1280160"/>
          </a:xfrm>
          <a:prstGeom prst="roundRect">
            <a:avLst>
              <a:gd name="adj" fmla="val 7143"/>
            </a:avLst>
          </a:prstGeom>
          <a:solidFill>
            <a:schemeClr val="bg2"/>
          </a:solidFill>
          <a:ln w="12700">
            <a:solidFill>
              <a:schemeClr val="bg2"/>
            </a:solidFill>
            <a:prstDash val="solid"/>
          </a:ln>
        </p:spPr>
      </p:sp>
      <p:sp>
        <p:nvSpPr>
          <p:cNvPr id="5" name="icon circle"/>
          <p:cNvSpPr/>
          <p:nvPr/>
        </p:nvSpPr>
        <p:spPr>
          <a:xfrm>
            <a:off x="640080" y="1600200"/>
            <a:ext cx="548640" cy="548640"/>
          </a:xfrm>
          <a:prstGeom prst="ellipse">
            <a:avLst/>
          </a:prstGeom>
          <a:solidFill>
            <a:schemeClr val="accent4"/>
          </a:solidFill>
          <a:ln w="12700">
            <a:solidFill>
              <a:schemeClr val="accent4"/>
            </a:solidFill>
            <a:prstDash val="solid"/>
          </a:ln>
        </p:spPr>
      </p:sp>
      <p:pic>
        <p:nvPicPr>
          <p:cNvPr id="6" name="icon FaHome" descr="FaHome">    </p:cNvPr>
          <p:cNvPicPr>
            <a:picLocks noChangeAspect="1"/>
          </p:cNvPicPr>
          <p:nvPr/>
        </p:nvPicPr>
        <p:blipFill>
          <a:blip r:embed="rId1"/>
          <a:stretch>
            <a:fillRect/>
          </a:stretch>
        </p:blipFill>
        <p:spPr>
          <a:xfrm>
            <a:off x="771754" y="1731874"/>
            <a:ext cx="285293" cy="285293"/>
          </a:xfrm>
          <a:prstGeom prst="rect">
            <a:avLst/>
          </a:prstGeom>
        </p:spPr>
      </p:pic>
      <p:sp>
        <p:nvSpPr>
          <p:cNvPr id="7" name="Text 3"/>
          <p:cNvSpPr txBox="1"/>
          <p:nvPr/>
        </p:nvSpPr>
        <p:spPr>
          <a:xfrm>
            <a:off x="1353312" y="1307592"/>
            <a:ext cx="2898648" cy="1133856"/>
          </a:xfrm>
          <a:prstGeom prst="rect">
            <a:avLst/>
          </a:prstGeom>
          <a:noFill/>
          <a:ln/>
        </p:spPr>
        <p:txBody>
          <a:bodyPr wrap="square" lIns="0" tIns="0" rIns="0" bIns="0" rtlCol="0" anchor="ctr"/>
          <a:lstStyle/>
          <a:p>
            <a:pPr indent="0" marL="0">
              <a:buNone/>
            </a:pPr>
            <a:r>
              <a:rPr lang="en-US" sz="1600" b="1" dirty="0">
                <a:solidFill>
                  <a:schemeClr val="tx1"/>
                </a:solidFill>
              </a:rPr>
              <a:t># Project Overview</a:t>
            </a:r>
            <a:endParaRPr lang="en-US" sz="1600" dirty="0"/>
          </a:p>
          <a:p>
            <a:pPr indent="0" marL="0">
              <a:buNone/>
            </a:pPr>
            <a:r>
              <a:rPr lang="en-US" sz="1400" dirty="0">
                <a:solidFill>
                  <a:schemeClr val="tx1"/>
                </a:solidFill>
              </a:rPr>
              <a:t>Explains the two pipelines and who does what: script gathers, Claude analyses.</a:t>
            </a:r>
            <a:endParaRPr lang="en-US" sz="1600" dirty="0"/>
          </a:p>
        </p:txBody>
      </p:sp>
      <p:sp>
        <p:nvSpPr>
          <p:cNvPr id="8" name="card"/>
          <p:cNvSpPr/>
          <p:nvPr/>
        </p:nvSpPr>
        <p:spPr>
          <a:xfrm>
            <a:off x="4709160" y="1234440"/>
            <a:ext cx="3977640" cy="1280160"/>
          </a:xfrm>
          <a:prstGeom prst="roundRect">
            <a:avLst>
              <a:gd name="adj" fmla="val 7143"/>
            </a:avLst>
          </a:prstGeom>
          <a:solidFill>
            <a:schemeClr val="bg2"/>
          </a:solidFill>
          <a:ln w="12700">
            <a:solidFill>
              <a:schemeClr val="bg2"/>
            </a:solidFill>
            <a:prstDash val="solid"/>
          </a:ln>
        </p:spPr>
      </p:sp>
      <p:sp>
        <p:nvSpPr>
          <p:cNvPr id="9" name="icon circle"/>
          <p:cNvSpPr/>
          <p:nvPr/>
        </p:nvSpPr>
        <p:spPr>
          <a:xfrm>
            <a:off x="4892040" y="1600200"/>
            <a:ext cx="548640" cy="548640"/>
          </a:xfrm>
          <a:prstGeom prst="ellipse">
            <a:avLst/>
          </a:prstGeom>
          <a:solidFill>
            <a:schemeClr val="accent2"/>
          </a:solidFill>
          <a:ln w="12700">
            <a:solidFill>
              <a:schemeClr val="accent2"/>
            </a:solidFill>
            <a:prstDash val="solid"/>
          </a:ln>
        </p:spPr>
      </p:sp>
      <p:pic>
        <p:nvPicPr>
          <p:cNvPr id="10" name="icon FaListOl" descr="FaListOl">    </p:cNvPr>
          <p:cNvPicPr>
            <a:picLocks noChangeAspect="1"/>
          </p:cNvPicPr>
          <p:nvPr/>
        </p:nvPicPr>
        <p:blipFill>
          <a:blip r:embed="rId2"/>
          <a:stretch>
            <a:fillRect/>
          </a:stretch>
        </p:blipFill>
        <p:spPr>
          <a:xfrm>
            <a:off x="5023714" y="1731874"/>
            <a:ext cx="285293" cy="285293"/>
          </a:xfrm>
          <a:prstGeom prst="rect">
            <a:avLst/>
          </a:prstGeom>
        </p:spPr>
      </p:pic>
      <p:sp>
        <p:nvSpPr>
          <p:cNvPr id="11" name="Text 6"/>
          <p:cNvSpPr txBox="1"/>
          <p:nvPr/>
        </p:nvSpPr>
        <p:spPr>
          <a:xfrm>
            <a:off x="5605272" y="1307592"/>
            <a:ext cx="2898648" cy="1133856"/>
          </a:xfrm>
          <a:prstGeom prst="rect">
            <a:avLst/>
          </a:prstGeom>
          <a:noFill/>
          <a:ln/>
        </p:spPr>
        <p:txBody>
          <a:bodyPr wrap="square" lIns="0" tIns="0" rIns="0" bIns="0" rtlCol="0" anchor="ctr"/>
          <a:lstStyle/>
          <a:p>
            <a:pPr indent="0" marL="0">
              <a:buNone/>
            </a:pPr>
            <a:r>
              <a:rPr lang="en-US" sz="1600" b="1" dirty="0">
                <a:solidFill>
                  <a:schemeClr val="tx1"/>
                </a:solidFill>
              </a:rPr>
              <a:t># Incident Workflow</a:t>
            </a:r>
            <a:endParaRPr lang="en-US" sz="1600" dirty="0"/>
          </a:p>
          <a:p>
            <a:pPr indent="0" marL="0">
              <a:buNone/>
            </a:pPr>
            <a:r>
              <a:rPr lang="en-US" sz="1400" dirty="0">
                <a:solidFill>
                  <a:schemeClr val="tx1"/>
                </a:solidFill>
              </a:rPr>
              <a:t>Gather &gt; Analyze &gt; Human Act &gt; Verify, always in that order.</a:t>
            </a:r>
            <a:endParaRPr lang="en-US" sz="1600" dirty="0"/>
          </a:p>
        </p:txBody>
      </p:sp>
      <p:sp>
        <p:nvSpPr>
          <p:cNvPr id="12" name="card"/>
          <p:cNvSpPr/>
          <p:nvPr/>
        </p:nvSpPr>
        <p:spPr>
          <a:xfrm>
            <a:off x="457200" y="2651760"/>
            <a:ext cx="3977640" cy="1280160"/>
          </a:xfrm>
          <a:prstGeom prst="roundRect">
            <a:avLst>
              <a:gd name="adj" fmla="val 7143"/>
            </a:avLst>
          </a:prstGeom>
          <a:solidFill>
            <a:schemeClr val="bg2"/>
          </a:solidFill>
          <a:ln w="12700">
            <a:solidFill>
              <a:schemeClr val="bg2"/>
            </a:solidFill>
            <a:prstDash val="solid"/>
          </a:ln>
        </p:spPr>
      </p:sp>
      <p:sp>
        <p:nvSpPr>
          <p:cNvPr id="13" name="icon circle"/>
          <p:cNvSpPr/>
          <p:nvPr/>
        </p:nvSpPr>
        <p:spPr>
          <a:xfrm>
            <a:off x="640080" y="3017520"/>
            <a:ext cx="548640" cy="548640"/>
          </a:xfrm>
          <a:prstGeom prst="ellipse">
            <a:avLst/>
          </a:prstGeom>
          <a:solidFill>
            <a:schemeClr val="accent3"/>
          </a:solidFill>
          <a:ln w="12700">
            <a:solidFill>
              <a:schemeClr val="accent3"/>
            </a:solidFill>
            <a:prstDash val="solid"/>
          </a:ln>
        </p:spPr>
      </p:sp>
      <p:pic>
        <p:nvPicPr>
          <p:cNvPr id="14" name="icon FaShieldAlt" descr="FaShieldAlt">    </p:cNvPr>
          <p:cNvPicPr>
            <a:picLocks noChangeAspect="1"/>
          </p:cNvPicPr>
          <p:nvPr/>
        </p:nvPicPr>
        <p:blipFill>
          <a:blip r:embed="rId3"/>
          <a:stretch>
            <a:fillRect/>
          </a:stretch>
        </p:blipFill>
        <p:spPr>
          <a:xfrm>
            <a:off x="771754" y="3149194"/>
            <a:ext cx="285293" cy="285293"/>
          </a:xfrm>
          <a:prstGeom prst="rect">
            <a:avLst/>
          </a:prstGeom>
        </p:spPr>
      </p:pic>
      <p:sp>
        <p:nvSpPr>
          <p:cNvPr id="15" name="Text 9"/>
          <p:cNvSpPr txBox="1"/>
          <p:nvPr/>
        </p:nvSpPr>
        <p:spPr>
          <a:xfrm>
            <a:off x="1353312" y="2724912"/>
            <a:ext cx="2898648" cy="1133856"/>
          </a:xfrm>
          <a:prstGeom prst="rect">
            <a:avLst/>
          </a:prstGeom>
          <a:noFill/>
          <a:ln/>
        </p:spPr>
        <p:txBody>
          <a:bodyPr wrap="square" lIns="0" tIns="0" rIns="0" bIns="0" rtlCol="0" anchor="ctr"/>
          <a:lstStyle/>
          <a:p>
            <a:pPr indent="0" marL="0">
              <a:buNone/>
            </a:pPr>
            <a:r>
              <a:rPr lang="en-US" sz="1600" b="1" dirty="0">
                <a:solidFill>
                  <a:schemeClr val="tx1"/>
                </a:solidFill>
              </a:rPr>
              <a:t># Safety Rules</a:t>
            </a:r>
            <a:endParaRPr lang="en-US" sz="1600" dirty="0"/>
          </a:p>
          <a:p>
            <a:pPr indent="0" marL="0">
              <a:buNone/>
            </a:pPr>
            <a:r>
              <a:rPr lang="en-US" sz="1400" dirty="0">
                <a:solidFill>
                  <a:schemeClr val="tx1"/>
                </a:solidFill>
              </a:rPr>
              <a:t>What Claude must never do, and how to treat evidence.</a:t>
            </a:r>
            <a:endParaRPr lang="en-US" sz="1600" dirty="0"/>
          </a:p>
        </p:txBody>
      </p:sp>
      <p:sp>
        <p:nvSpPr>
          <p:cNvPr id="16" name="card"/>
          <p:cNvSpPr/>
          <p:nvPr/>
        </p:nvSpPr>
        <p:spPr>
          <a:xfrm>
            <a:off x="4709160" y="2651760"/>
            <a:ext cx="3977640" cy="1280160"/>
          </a:xfrm>
          <a:prstGeom prst="roundRect">
            <a:avLst>
              <a:gd name="adj" fmla="val 7143"/>
            </a:avLst>
          </a:prstGeom>
          <a:solidFill>
            <a:schemeClr val="bg2"/>
          </a:solidFill>
          <a:ln w="12700">
            <a:solidFill>
              <a:schemeClr val="bg2"/>
            </a:solidFill>
            <a:prstDash val="solid"/>
          </a:ln>
        </p:spPr>
      </p:sp>
      <p:sp>
        <p:nvSpPr>
          <p:cNvPr id="17" name="icon circle"/>
          <p:cNvSpPr/>
          <p:nvPr/>
        </p:nvSpPr>
        <p:spPr>
          <a:xfrm>
            <a:off x="4892040" y="3017520"/>
            <a:ext cx="548640" cy="548640"/>
          </a:xfrm>
          <a:prstGeom prst="ellipse">
            <a:avLst/>
          </a:prstGeom>
          <a:solidFill>
            <a:schemeClr val="accent1"/>
          </a:solidFill>
          <a:ln w="12700">
            <a:solidFill>
              <a:schemeClr val="accent1"/>
            </a:solidFill>
            <a:prstDash val="solid"/>
          </a:ln>
        </p:spPr>
      </p:sp>
      <p:pic>
        <p:nvPicPr>
          <p:cNvPr id="18" name="icon FaClipboardCheck" descr="FaClipboardCheck">    </p:cNvPr>
          <p:cNvPicPr>
            <a:picLocks noChangeAspect="1"/>
          </p:cNvPicPr>
          <p:nvPr/>
        </p:nvPicPr>
        <p:blipFill>
          <a:blip r:embed="rId4"/>
          <a:stretch>
            <a:fillRect/>
          </a:stretch>
        </p:blipFill>
        <p:spPr>
          <a:xfrm>
            <a:off x="5023714" y="3149194"/>
            <a:ext cx="285293" cy="285293"/>
          </a:xfrm>
          <a:prstGeom prst="rect">
            <a:avLst/>
          </a:prstGeom>
        </p:spPr>
      </p:pic>
      <p:sp>
        <p:nvSpPr>
          <p:cNvPr id="19" name="Text 12"/>
          <p:cNvSpPr txBox="1"/>
          <p:nvPr/>
        </p:nvSpPr>
        <p:spPr>
          <a:xfrm>
            <a:off x="5605272" y="2724912"/>
            <a:ext cx="2898648" cy="1133856"/>
          </a:xfrm>
          <a:prstGeom prst="rect">
            <a:avLst/>
          </a:prstGeom>
          <a:noFill/>
          <a:ln/>
        </p:spPr>
        <p:txBody>
          <a:bodyPr wrap="square" lIns="0" tIns="0" rIns="0" bIns="0" rtlCol="0" anchor="ctr"/>
          <a:lstStyle/>
          <a:p>
            <a:pPr indent="0" marL="0">
              <a:buNone/>
            </a:pPr>
            <a:r>
              <a:rPr lang="en-US" sz="1600" b="1" dirty="0">
                <a:solidFill>
                  <a:schemeClr val="tx1"/>
                </a:solidFill>
              </a:rPr>
              <a:t># Output Rules</a:t>
            </a:r>
            <a:endParaRPr lang="en-US" sz="1600" dirty="0"/>
          </a:p>
          <a:p>
            <a:pPr indent="0" marL="0">
              <a:buNone/>
            </a:pPr>
            <a:r>
              <a:rPr lang="en-US" sz="1400" dirty="0">
                <a:solidFill>
                  <a:schemeClr val="tx1"/>
                </a:solidFill>
              </a:rPr>
              <a:t>The 9 things every analysis must report.</a:t>
            </a:r>
            <a:endParaRPr lang="en-US" sz="1600" dirty="0"/>
          </a:p>
        </p:txBody>
      </p:sp>
      <p:sp>
        <p:nvSpPr>
          <p:cNvPr id="20" name="callout"/>
          <p:cNvSpPr/>
          <p:nvPr/>
        </p:nvSpPr>
        <p:spPr>
          <a:xfrm>
            <a:off x="457200" y="4114800"/>
            <a:ext cx="8229600" cy="548640"/>
          </a:xfrm>
          <a:prstGeom prst="roundRect">
            <a:avLst>
              <a:gd name="adj" fmla="val 16667"/>
            </a:avLst>
          </a:prstGeom>
          <a:solidFill>
            <a:schemeClr val="accent1"/>
          </a:solidFill>
          <a:ln w="12700">
            <a:solidFill>
              <a:schemeClr val="accent1"/>
            </a:solidFill>
            <a:prstDash val="solid"/>
          </a:ln>
        </p:spPr>
      </p:sp>
      <p:sp>
        <p:nvSpPr>
          <p:cNvPr id="21" name="Text 14"/>
          <p:cNvSpPr txBox="1"/>
          <p:nvPr/>
        </p:nvSpPr>
        <p:spPr>
          <a:xfrm>
            <a:off x="685800" y="4114800"/>
            <a:ext cx="7772400" cy="548640"/>
          </a:xfrm>
          <a:prstGeom prst="rect">
            <a:avLst/>
          </a:prstGeom>
          <a:noFill/>
          <a:ln/>
        </p:spPr>
        <p:txBody>
          <a:bodyPr wrap="square" lIns="0" tIns="0" rIns="0" bIns="0" rtlCol="0" anchor="ctr"/>
          <a:lstStyle/>
          <a:p>
            <a:pPr indent="0" marL="0">
              <a:buNone/>
            </a:pPr>
            <a:r>
              <a:rPr lang="en-US" sz="1500" b="1" dirty="0">
                <a:solidFill>
                  <a:schemeClr val="tx1"/>
                </a:solidFill>
              </a:rPr>
              <a:t>Create it with nano CLAUDE.md in the assignment root. Exact filename and capitalisation.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Section 1: Project Overview</a:t>
            </a:r>
            <a:endParaRPr lang="en-US" sz="3000" dirty="0"/>
          </a:p>
        </p:txBody>
      </p:sp>
      <p:sp>
        <p:nvSpPr>
          <p:cNvPr id="4" name="code panel"/>
          <p:cNvSpPr/>
          <p:nvPr/>
        </p:nvSpPr>
        <p:spPr>
          <a:xfrm>
            <a:off x="457200" y="1234440"/>
            <a:ext cx="4937760" cy="3291840"/>
          </a:xfrm>
          <a:prstGeom prst="roundRect">
            <a:avLst>
              <a:gd name="adj" fmla="val 2222"/>
            </a:avLst>
          </a:prstGeom>
          <a:solidFill>
            <a:schemeClr val="tx1"/>
          </a:solidFill>
          <a:ln w="12700">
            <a:solidFill>
              <a:schemeClr val="tx1"/>
            </a:solidFill>
            <a:prstDash val="solid"/>
          </a:ln>
        </p:spPr>
      </p:sp>
      <p:sp>
        <p:nvSpPr>
          <p:cNvPr id="5" name="code"/>
          <p:cNvSpPr txBox="1"/>
          <p:nvPr/>
        </p:nvSpPr>
        <p:spPr>
          <a:xfrm>
            <a:off x="621792" y="1344168"/>
            <a:ext cx="4608576" cy="3072384"/>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 Project Overview</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This project builds a read-only CI/CD pipeline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failure-triage workflow for the EpicBook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dual-pipeline project in Azure DevOps.</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Infrastructure Pipeline: provisions Azure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infrastructure using Terraform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Application Pipeline: configures the server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and deploys EpicBook using Ansible</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The Bash script retrieves runs and logs,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classifies failures and writes the report.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Claude analyses, explains and recommends.</a:t>
            </a:r>
            <a:endParaRPr lang="en-US" sz="1200" dirty="0"/>
          </a:p>
        </p:txBody>
      </p:sp>
      <p:sp>
        <p:nvSpPr>
          <p:cNvPr id="6" name="icon circle"/>
          <p:cNvSpPr/>
          <p:nvPr/>
        </p:nvSpPr>
        <p:spPr>
          <a:xfrm>
            <a:off x="5669280" y="1371600"/>
            <a:ext cx="457200" cy="457200"/>
          </a:xfrm>
          <a:prstGeom prst="ellipse">
            <a:avLst/>
          </a:prstGeom>
          <a:solidFill>
            <a:schemeClr val="accent4"/>
          </a:solidFill>
          <a:ln w="12700">
            <a:solidFill>
              <a:schemeClr val="accent4"/>
            </a:solidFill>
            <a:prstDash val="solid"/>
          </a:ln>
        </p:spPr>
      </p:sp>
      <p:pic>
        <p:nvPicPr>
          <p:cNvPr id="7" name="icon FaCloud" descr="FaCloud">    </p:cNvPr>
          <p:cNvPicPr>
            <a:picLocks noChangeAspect="1"/>
          </p:cNvPicPr>
          <p:nvPr/>
        </p:nvPicPr>
        <p:blipFill>
          <a:blip r:embed="rId1"/>
          <a:stretch>
            <a:fillRect/>
          </a:stretch>
        </p:blipFill>
        <p:spPr>
          <a:xfrm>
            <a:off x="5779008" y="1481328"/>
            <a:ext cx="237744" cy="237744"/>
          </a:xfrm>
          <a:prstGeom prst="rect">
            <a:avLst/>
          </a:prstGeom>
        </p:spPr>
      </p:pic>
      <p:sp>
        <p:nvSpPr>
          <p:cNvPr id="8" name="Text 4"/>
          <p:cNvSpPr txBox="1"/>
          <p:nvPr/>
        </p:nvSpPr>
        <p:spPr>
          <a:xfrm>
            <a:off x="6309360" y="1344168"/>
            <a:ext cx="2377440" cy="1280160"/>
          </a:xfrm>
          <a:prstGeom prst="rect">
            <a:avLst/>
          </a:prstGeom>
          <a:noFill/>
          <a:ln/>
        </p:spPr>
        <p:txBody>
          <a:bodyPr wrap="square" lIns="0" tIns="0" rIns="0" bIns="0" rtlCol="0" anchor="t"/>
          <a:lstStyle/>
          <a:p>
            <a:pPr indent="0" marL="0">
              <a:buNone/>
            </a:pPr>
            <a:r>
              <a:rPr lang="en-US" sz="1500" b="1" dirty="0">
                <a:solidFill>
                  <a:schemeClr val="tx1"/>
                </a:solidFill>
              </a:rPr>
              <a:t>Right area first</a:t>
            </a:r>
            <a:endParaRPr lang="en-US" sz="1500" dirty="0"/>
          </a:p>
          <a:p>
            <a:pPr indent="0" marL="0">
              <a:buNone/>
            </a:pPr>
            <a:r>
              <a:rPr lang="en-US" sz="1400" dirty="0">
                <a:solidFill>
                  <a:schemeClr val="tx1"/>
                </a:solidFill>
              </a:rPr>
              <a:t>Terraform vs Ansible issues look different</a:t>
            </a:r>
            <a:endParaRPr lang="en-US" sz="1500" dirty="0"/>
          </a:p>
        </p:txBody>
      </p:sp>
      <p:sp>
        <p:nvSpPr>
          <p:cNvPr id="9" name="icon circle"/>
          <p:cNvSpPr/>
          <p:nvPr/>
        </p:nvSpPr>
        <p:spPr>
          <a:xfrm>
            <a:off x="5669280" y="2743200"/>
            <a:ext cx="457200" cy="457200"/>
          </a:xfrm>
          <a:prstGeom prst="ellipse">
            <a:avLst/>
          </a:prstGeom>
          <a:solidFill>
            <a:schemeClr val="accent2"/>
          </a:solidFill>
          <a:ln w="12700">
            <a:solidFill>
              <a:schemeClr val="accent2"/>
            </a:solidFill>
            <a:prstDash val="solid"/>
          </a:ln>
        </p:spPr>
      </p:sp>
      <p:pic>
        <p:nvPicPr>
          <p:cNvPr id="10" name="icon FaBalanceScale" descr="FaBalanceScale">    </p:cNvPr>
          <p:cNvPicPr>
            <a:picLocks noChangeAspect="1"/>
          </p:cNvPicPr>
          <p:nvPr/>
        </p:nvPicPr>
        <p:blipFill>
          <a:blip r:embed="rId2"/>
          <a:stretch>
            <a:fillRect/>
          </a:stretch>
        </p:blipFill>
        <p:spPr>
          <a:xfrm>
            <a:off x="5779008" y="2852928"/>
            <a:ext cx="237744" cy="237744"/>
          </a:xfrm>
          <a:prstGeom prst="rect">
            <a:avLst/>
          </a:prstGeom>
        </p:spPr>
      </p:pic>
      <p:sp>
        <p:nvSpPr>
          <p:cNvPr id="11" name="Text 6"/>
          <p:cNvSpPr txBox="1"/>
          <p:nvPr/>
        </p:nvSpPr>
        <p:spPr>
          <a:xfrm>
            <a:off x="6309360" y="2715768"/>
            <a:ext cx="2377440" cy="1280160"/>
          </a:xfrm>
          <a:prstGeom prst="rect">
            <a:avLst/>
          </a:prstGeom>
          <a:noFill/>
          <a:ln/>
        </p:spPr>
        <p:txBody>
          <a:bodyPr wrap="square" lIns="0" tIns="0" rIns="0" bIns="0" rtlCol="0" anchor="t"/>
          <a:lstStyle/>
          <a:p>
            <a:pPr indent="0" marL="0">
              <a:buNone/>
            </a:pPr>
            <a:r>
              <a:rPr lang="en-US" sz="1500" b="1" dirty="0">
                <a:solidFill>
                  <a:schemeClr val="tx1"/>
                </a:solidFill>
              </a:rPr>
              <a:t>Roles are explicit</a:t>
            </a:r>
            <a:endParaRPr lang="en-US" sz="1500" dirty="0"/>
          </a:p>
          <a:p>
            <a:pPr indent="0" marL="0">
              <a:buNone/>
            </a:pPr>
            <a:r>
              <a:rPr lang="en-US" sz="1400" dirty="0">
                <a:solidFill>
                  <a:schemeClr val="tx1"/>
                </a:solidFill>
              </a:rPr>
              <a:t>Script gathers, Claude analyses, human acts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Section 2: Incident Workflow</a:t>
            </a:r>
            <a:endParaRPr lang="en-US" sz="3000" dirty="0"/>
          </a:p>
        </p:txBody>
      </p:sp>
      <p:sp>
        <p:nvSpPr>
          <p:cNvPr id="4" name="step 1"/>
          <p:cNvSpPr/>
          <p:nvPr/>
        </p:nvSpPr>
        <p:spPr>
          <a:xfrm>
            <a:off x="457200" y="1280160"/>
            <a:ext cx="1783080" cy="1828800"/>
          </a:xfrm>
          <a:prstGeom prst="roundRect">
            <a:avLst>
              <a:gd name="adj" fmla="val 5128"/>
            </a:avLst>
          </a:prstGeom>
          <a:solidFill>
            <a:schemeClr val="accent2"/>
          </a:solidFill>
          <a:ln w="12700">
            <a:solidFill>
              <a:schemeClr val="accent2"/>
            </a:solidFill>
            <a:prstDash val="solid"/>
          </a:ln>
        </p:spPr>
      </p:sp>
      <p:sp>
        <p:nvSpPr>
          <p:cNvPr id="5" name="Text 2"/>
          <p:cNvSpPr txBox="1"/>
          <p:nvPr/>
        </p:nvSpPr>
        <p:spPr>
          <a:xfrm>
            <a:off x="594360" y="1417320"/>
            <a:ext cx="1508760" cy="1600200"/>
          </a:xfrm>
          <a:prstGeom prst="rect">
            <a:avLst/>
          </a:prstGeom>
          <a:noFill/>
          <a:ln/>
        </p:spPr>
        <p:txBody>
          <a:bodyPr wrap="square" lIns="0" tIns="0" rIns="0" bIns="0" rtlCol="0" anchor="t"/>
          <a:lstStyle/>
          <a:p>
            <a:pPr indent="0" marL="0">
              <a:buNone/>
            </a:pPr>
            <a:r>
              <a:rPr lang="en-US" sz="1600" b="1" dirty="0">
                <a:solidFill>
                  <a:schemeClr val="bg1"/>
                </a:solidFill>
              </a:rPr>
              <a:t>1  Gather</a:t>
            </a:r>
            <a:endParaRPr lang="en-US" sz="1600" dirty="0"/>
          </a:p>
          <a:p>
            <a:pPr indent="0" marL="0">
              <a:buNone/>
            </a:pPr>
            <a:r>
              <a:rPr lang="en-US" sz="1400" dirty="0">
                <a:solidFill>
                  <a:schemeClr val="bg1"/>
                </a:solidFill>
              </a:rPr>
              <a:t>Run the approved read-only script</a:t>
            </a:r>
            <a:endParaRPr lang="en-US" sz="1600" dirty="0"/>
          </a:p>
        </p:txBody>
      </p:sp>
      <p:sp>
        <p:nvSpPr>
          <p:cNvPr id="6" name="arrow"/>
          <p:cNvSpPr/>
          <p:nvPr/>
        </p:nvSpPr>
        <p:spPr>
          <a:xfrm>
            <a:off x="2286000" y="2194560"/>
            <a:ext cx="274320" cy="0"/>
          </a:xfrm>
          <a:prstGeom prst="line">
            <a:avLst/>
          </a:prstGeom>
          <a:noFill/>
          <a:ln w="28575">
            <a:solidFill>
              <a:schemeClr val="tx2"/>
            </a:solidFill>
            <a:prstDash val="solid"/>
            <a:tailEnd type="triangle"/>
          </a:ln>
        </p:spPr>
      </p:sp>
      <p:sp>
        <p:nvSpPr>
          <p:cNvPr id="7" name="step 2"/>
          <p:cNvSpPr/>
          <p:nvPr/>
        </p:nvSpPr>
        <p:spPr>
          <a:xfrm>
            <a:off x="2606040" y="1280160"/>
            <a:ext cx="1783080" cy="1828800"/>
          </a:xfrm>
          <a:prstGeom prst="roundRect">
            <a:avLst>
              <a:gd name="adj" fmla="val 5128"/>
            </a:avLst>
          </a:prstGeom>
          <a:solidFill>
            <a:schemeClr val="accent1"/>
          </a:solidFill>
          <a:ln w="12700">
            <a:solidFill>
              <a:schemeClr val="accent1"/>
            </a:solidFill>
            <a:prstDash val="solid"/>
          </a:ln>
        </p:spPr>
      </p:sp>
      <p:sp>
        <p:nvSpPr>
          <p:cNvPr id="8" name="Text 5"/>
          <p:cNvSpPr txBox="1"/>
          <p:nvPr/>
        </p:nvSpPr>
        <p:spPr>
          <a:xfrm>
            <a:off x="2743200" y="1417320"/>
            <a:ext cx="1508760" cy="1600200"/>
          </a:xfrm>
          <a:prstGeom prst="rect">
            <a:avLst/>
          </a:prstGeom>
          <a:noFill/>
          <a:ln/>
        </p:spPr>
        <p:txBody>
          <a:bodyPr wrap="square" lIns="0" tIns="0" rIns="0" bIns="0" rtlCol="0" anchor="t"/>
          <a:lstStyle/>
          <a:p>
            <a:pPr indent="0" marL="0">
              <a:buNone/>
            </a:pPr>
            <a:r>
              <a:rPr lang="en-US" sz="1600" b="1" dirty="0">
                <a:solidFill>
                  <a:schemeClr val="tx1"/>
                </a:solidFill>
              </a:rPr>
              <a:t>2  Analyze</a:t>
            </a:r>
            <a:endParaRPr lang="en-US" sz="1600" dirty="0"/>
          </a:p>
          <a:p>
            <a:pPr indent="0" marL="0">
              <a:buNone/>
            </a:pPr>
            <a:r>
              <a:rPr lang="en-US" sz="1400" dirty="0">
                <a:solidFill>
                  <a:schemeClr val="tx1"/>
                </a:solidFill>
              </a:rPr>
              <a:t>Review the report and sanitised log evidence</a:t>
            </a:r>
            <a:endParaRPr lang="en-US" sz="1600" dirty="0"/>
          </a:p>
        </p:txBody>
      </p:sp>
      <p:sp>
        <p:nvSpPr>
          <p:cNvPr id="9" name="arrow"/>
          <p:cNvSpPr/>
          <p:nvPr/>
        </p:nvSpPr>
        <p:spPr>
          <a:xfrm>
            <a:off x="4434840" y="2194560"/>
            <a:ext cx="274320" cy="0"/>
          </a:xfrm>
          <a:prstGeom prst="line">
            <a:avLst/>
          </a:prstGeom>
          <a:noFill/>
          <a:ln w="28575">
            <a:solidFill>
              <a:schemeClr val="tx2"/>
            </a:solidFill>
            <a:prstDash val="solid"/>
            <a:tailEnd type="triangle"/>
          </a:ln>
        </p:spPr>
      </p:sp>
      <p:sp>
        <p:nvSpPr>
          <p:cNvPr id="10" name="step 3"/>
          <p:cNvSpPr/>
          <p:nvPr/>
        </p:nvSpPr>
        <p:spPr>
          <a:xfrm>
            <a:off x="4754880" y="1280160"/>
            <a:ext cx="1783080" cy="1828800"/>
          </a:xfrm>
          <a:prstGeom prst="roundRect">
            <a:avLst>
              <a:gd name="adj" fmla="val 5128"/>
            </a:avLst>
          </a:prstGeom>
          <a:solidFill>
            <a:schemeClr val="accent6"/>
          </a:solidFill>
          <a:ln w="12700">
            <a:solidFill>
              <a:schemeClr val="accent6"/>
            </a:solidFill>
            <a:prstDash val="solid"/>
          </a:ln>
        </p:spPr>
      </p:sp>
      <p:sp>
        <p:nvSpPr>
          <p:cNvPr id="11" name="Text 8"/>
          <p:cNvSpPr txBox="1"/>
          <p:nvPr/>
        </p:nvSpPr>
        <p:spPr>
          <a:xfrm>
            <a:off x="4892040" y="1417320"/>
            <a:ext cx="1508760" cy="1600200"/>
          </a:xfrm>
          <a:prstGeom prst="rect">
            <a:avLst/>
          </a:prstGeom>
          <a:noFill/>
          <a:ln/>
        </p:spPr>
        <p:txBody>
          <a:bodyPr wrap="square" lIns="0" tIns="0" rIns="0" bIns="0" rtlCol="0" anchor="t"/>
          <a:lstStyle/>
          <a:p>
            <a:pPr indent="0" marL="0">
              <a:buNone/>
            </a:pPr>
            <a:r>
              <a:rPr lang="en-US" sz="1600" b="1" dirty="0">
                <a:solidFill>
                  <a:schemeClr val="bg1"/>
                </a:solidFill>
              </a:rPr>
              <a:t>3  Human Act</a:t>
            </a:r>
            <a:endParaRPr lang="en-US" sz="1600" dirty="0"/>
          </a:p>
          <a:p>
            <a:pPr indent="0" marL="0">
              <a:buNone/>
            </a:pPr>
            <a:r>
              <a:rPr lang="en-US" sz="1400" dirty="0">
                <a:solidFill>
                  <a:schemeClr val="bg1"/>
                </a:solidFill>
              </a:rPr>
              <a:t>Recommend one action; the engineer applies it</a:t>
            </a:r>
            <a:endParaRPr lang="en-US" sz="1600" dirty="0"/>
          </a:p>
        </p:txBody>
      </p:sp>
      <p:sp>
        <p:nvSpPr>
          <p:cNvPr id="12" name="arrow"/>
          <p:cNvSpPr/>
          <p:nvPr/>
        </p:nvSpPr>
        <p:spPr>
          <a:xfrm>
            <a:off x="6583680" y="2194560"/>
            <a:ext cx="274320" cy="0"/>
          </a:xfrm>
          <a:prstGeom prst="line">
            <a:avLst/>
          </a:prstGeom>
          <a:noFill/>
          <a:ln w="28575">
            <a:solidFill>
              <a:schemeClr val="tx2"/>
            </a:solidFill>
            <a:prstDash val="solid"/>
            <a:tailEnd type="triangle"/>
          </a:ln>
        </p:spPr>
      </p:sp>
      <p:sp>
        <p:nvSpPr>
          <p:cNvPr id="13" name="step 4"/>
          <p:cNvSpPr/>
          <p:nvPr/>
        </p:nvSpPr>
        <p:spPr>
          <a:xfrm>
            <a:off x="6903720" y="1280160"/>
            <a:ext cx="1783080" cy="1828800"/>
          </a:xfrm>
          <a:prstGeom prst="roundRect">
            <a:avLst>
              <a:gd name="adj" fmla="val 5128"/>
            </a:avLst>
          </a:prstGeom>
          <a:solidFill>
            <a:schemeClr val="accent4"/>
          </a:solidFill>
          <a:ln w="12700">
            <a:solidFill>
              <a:schemeClr val="accent4"/>
            </a:solidFill>
            <a:prstDash val="solid"/>
          </a:ln>
        </p:spPr>
      </p:sp>
      <p:sp>
        <p:nvSpPr>
          <p:cNvPr id="14" name="Text 11"/>
          <p:cNvSpPr txBox="1"/>
          <p:nvPr/>
        </p:nvSpPr>
        <p:spPr>
          <a:xfrm>
            <a:off x="7040880" y="1417320"/>
            <a:ext cx="1508760" cy="1600200"/>
          </a:xfrm>
          <a:prstGeom prst="rect">
            <a:avLst/>
          </a:prstGeom>
          <a:noFill/>
          <a:ln/>
        </p:spPr>
        <p:txBody>
          <a:bodyPr wrap="square" lIns="0" tIns="0" rIns="0" bIns="0" rtlCol="0" anchor="t"/>
          <a:lstStyle/>
          <a:p>
            <a:pPr indent="0" marL="0">
              <a:buNone/>
            </a:pPr>
            <a:r>
              <a:rPr lang="en-US" sz="1600" b="1" dirty="0">
                <a:solidFill>
                  <a:schemeClr val="bg1"/>
                </a:solidFill>
              </a:rPr>
              <a:t>4  Verify</a:t>
            </a:r>
            <a:endParaRPr lang="en-US" sz="1600" dirty="0"/>
          </a:p>
          <a:p>
            <a:pPr indent="0" marL="0">
              <a:buNone/>
            </a:pPr>
            <a:r>
              <a:rPr lang="en-US" sz="1400" dirty="0">
                <a:solidFill>
                  <a:schemeClr val="bg1"/>
                </a:solidFill>
              </a:rPr>
              <a:t>Run the triage again after the fix</a:t>
            </a:r>
            <a:endParaRPr lang="en-US" sz="1600" dirty="0"/>
          </a:p>
        </p:txBody>
      </p:sp>
      <p:sp>
        <p:nvSpPr>
          <p:cNvPr id="15" name="code panel"/>
          <p:cNvSpPr/>
          <p:nvPr/>
        </p:nvSpPr>
        <p:spPr>
          <a:xfrm>
            <a:off x="457200" y="3383280"/>
            <a:ext cx="8229600" cy="1005840"/>
          </a:xfrm>
          <a:prstGeom prst="roundRect">
            <a:avLst>
              <a:gd name="adj" fmla="val 7273"/>
            </a:avLst>
          </a:prstGeom>
          <a:solidFill>
            <a:schemeClr val="tx1"/>
          </a:solidFill>
          <a:ln w="12700">
            <a:solidFill>
              <a:schemeClr val="tx1"/>
            </a:solidFill>
            <a:prstDash val="solid"/>
          </a:ln>
        </p:spPr>
      </p:sp>
      <p:sp>
        <p:nvSpPr>
          <p:cNvPr id="16" name="code"/>
          <p:cNvSpPr txBox="1"/>
          <p:nvPr/>
        </p:nvSpPr>
        <p:spPr>
          <a:xfrm>
            <a:off x="621792" y="3493008"/>
            <a:ext cx="7900416" cy="786384"/>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 Incident Workflow</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Always follow this order: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1. Gather - 2. Analyze - 3. Human Act - 4. Verify</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Section 3: Safety Rules (the boundaries)</a:t>
            </a:r>
            <a:endParaRPr lang="en-US" sz="3000" dirty="0"/>
          </a:p>
        </p:txBody>
      </p:sp>
      <p:sp>
        <p:nvSpPr>
          <p:cNvPr id="4" name="card"/>
          <p:cNvSpPr/>
          <p:nvPr/>
        </p:nvSpPr>
        <p:spPr>
          <a:xfrm>
            <a:off x="457200" y="1188720"/>
            <a:ext cx="4023360" cy="594360"/>
          </a:xfrm>
          <a:prstGeom prst="roundRect">
            <a:avLst>
              <a:gd name="adj" fmla="val 15385"/>
            </a:avLst>
          </a:prstGeom>
          <a:solidFill>
            <a:schemeClr val="bg2"/>
          </a:solidFill>
          <a:ln w="12700">
            <a:solidFill>
              <a:schemeClr val="bg2"/>
            </a:solidFill>
            <a:prstDash val="solid"/>
          </a:ln>
        </p:spPr>
      </p:sp>
      <p:sp>
        <p:nvSpPr>
          <p:cNvPr id="5" name="icon circle"/>
          <p:cNvSpPr/>
          <p:nvPr/>
        </p:nvSpPr>
        <p:spPr>
          <a:xfrm>
            <a:off x="640080" y="1303020"/>
            <a:ext cx="365760" cy="365760"/>
          </a:xfrm>
          <a:prstGeom prst="ellipse">
            <a:avLst/>
          </a:prstGeom>
          <a:solidFill>
            <a:schemeClr val="accent3"/>
          </a:solidFill>
          <a:ln w="12700">
            <a:solidFill>
              <a:schemeClr val="accent3"/>
            </a:solidFill>
            <a:prstDash val="solid"/>
          </a:ln>
        </p:spPr>
      </p:sp>
      <p:pic>
        <p:nvPicPr>
          <p:cNvPr id="6" name="icon FaBan" descr="FaBan">    </p:cNvPr>
          <p:cNvPicPr>
            <a:picLocks noChangeAspect="1"/>
          </p:cNvPicPr>
          <p:nvPr/>
        </p:nvPicPr>
        <p:blipFill>
          <a:blip r:embed="rId1"/>
          <a:stretch>
            <a:fillRect/>
          </a:stretch>
        </p:blipFill>
        <p:spPr>
          <a:xfrm>
            <a:off x="727862" y="1390802"/>
            <a:ext cx="190195" cy="190195"/>
          </a:xfrm>
          <a:prstGeom prst="rect">
            <a:avLst/>
          </a:prstGeom>
        </p:spPr>
      </p:pic>
      <p:sp>
        <p:nvSpPr>
          <p:cNvPr id="7" name="Text 3"/>
          <p:cNvSpPr txBox="1"/>
          <p:nvPr/>
        </p:nvSpPr>
        <p:spPr>
          <a:xfrm>
            <a:off x="1170432" y="1261872"/>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Do not edit code, Terraform, Ansible, YAML or reports</a:t>
            </a:r>
            <a:endParaRPr lang="en-US" sz="1300" dirty="0"/>
          </a:p>
        </p:txBody>
      </p:sp>
      <p:sp>
        <p:nvSpPr>
          <p:cNvPr id="8" name="card"/>
          <p:cNvSpPr/>
          <p:nvPr/>
        </p:nvSpPr>
        <p:spPr>
          <a:xfrm>
            <a:off x="457200" y="1856232"/>
            <a:ext cx="4023360" cy="594360"/>
          </a:xfrm>
          <a:prstGeom prst="roundRect">
            <a:avLst>
              <a:gd name="adj" fmla="val 15385"/>
            </a:avLst>
          </a:prstGeom>
          <a:solidFill>
            <a:schemeClr val="bg2"/>
          </a:solidFill>
          <a:ln w="12700">
            <a:solidFill>
              <a:schemeClr val="bg2"/>
            </a:solidFill>
            <a:prstDash val="solid"/>
          </a:ln>
        </p:spPr>
      </p:sp>
      <p:sp>
        <p:nvSpPr>
          <p:cNvPr id="9" name="icon circle"/>
          <p:cNvSpPr/>
          <p:nvPr/>
        </p:nvSpPr>
        <p:spPr>
          <a:xfrm>
            <a:off x="640080" y="1970532"/>
            <a:ext cx="365760" cy="365760"/>
          </a:xfrm>
          <a:prstGeom prst="ellipse">
            <a:avLst/>
          </a:prstGeom>
          <a:solidFill>
            <a:schemeClr val="accent3"/>
          </a:solidFill>
          <a:ln w="12700">
            <a:solidFill>
              <a:schemeClr val="accent3"/>
            </a:solidFill>
            <a:prstDash val="solid"/>
          </a:ln>
        </p:spPr>
      </p:sp>
      <p:pic>
        <p:nvPicPr>
          <p:cNvPr id="10" name="icon FaBan" descr="FaBan">    </p:cNvPr>
          <p:cNvPicPr>
            <a:picLocks noChangeAspect="1"/>
          </p:cNvPicPr>
          <p:nvPr/>
        </p:nvPicPr>
        <p:blipFill>
          <a:blip r:embed="rId2"/>
          <a:stretch>
            <a:fillRect/>
          </a:stretch>
        </p:blipFill>
        <p:spPr>
          <a:xfrm>
            <a:off x="727862" y="2058314"/>
            <a:ext cx="190195" cy="190195"/>
          </a:xfrm>
          <a:prstGeom prst="rect">
            <a:avLst/>
          </a:prstGeom>
        </p:spPr>
      </p:pic>
      <p:sp>
        <p:nvSpPr>
          <p:cNvPr id="11" name="Text 6"/>
          <p:cNvSpPr txBox="1"/>
          <p:nvPr/>
        </p:nvSpPr>
        <p:spPr>
          <a:xfrm>
            <a:off x="1170432" y="1929384"/>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Do not trigger, retry, cancel, delete or approve runs</a:t>
            </a:r>
            <a:endParaRPr lang="en-US" sz="1300" dirty="0"/>
          </a:p>
        </p:txBody>
      </p:sp>
      <p:sp>
        <p:nvSpPr>
          <p:cNvPr id="12" name="card"/>
          <p:cNvSpPr/>
          <p:nvPr/>
        </p:nvSpPr>
        <p:spPr>
          <a:xfrm>
            <a:off x="457200" y="2523744"/>
            <a:ext cx="4023360" cy="594360"/>
          </a:xfrm>
          <a:prstGeom prst="roundRect">
            <a:avLst>
              <a:gd name="adj" fmla="val 15385"/>
            </a:avLst>
          </a:prstGeom>
          <a:solidFill>
            <a:schemeClr val="bg2"/>
          </a:solidFill>
          <a:ln w="12700">
            <a:solidFill>
              <a:schemeClr val="bg2"/>
            </a:solidFill>
            <a:prstDash val="solid"/>
          </a:ln>
        </p:spPr>
      </p:sp>
      <p:sp>
        <p:nvSpPr>
          <p:cNvPr id="13" name="icon circle"/>
          <p:cNvSpPr/>
          <p:nvPr/>
        </p:nvSpPr>
        <p:spPr>
          <a:xfrm>
            <a:off x="640080" y="2638044"/>
            <a:ext cx="365760" cy="365760"/>
          </a:xfrm>
          <a:prstGeom prst="ellipse">
            <a:avLst/>
          </a:prstGeom>
          <a:solidFill>
            <a:schemeClr val="accent3"/>
          </a:solidFill>
          <a:ln w="12700">
            <a:solidFill>
              <a:schemeClr val="accent3"/>
            </a:solidFill>
            <a:prstDash val="solid"/>
          </a:ln>
        </p:spPr>
      </p:sp>
      <p:pic>
        <p:nvPicPr>
          <p:cNvPr id="14" name="icon FaBan" descr="FaBan">    </p:cNvPr>
          <p:cNvPicPr>
            <a:picLocks noChangeAspect="1"/>
          </p:cNvPicPr>
          <p:nvPr/>
        </p:nvPicPr>
        <p:blipFill>
          <a:blip r:embed="rId3"/>
          <a:stretch>
            <a:fillRect/>
          </a:stretch>
        </p:blipFill>
        <p:spPr>
          <a:xfrm>
            <a:off x="727862" y="2725826"/>
            <a:ext cx="190195" cy="190195"/>
          </a:xfrm>
          <a:prstGeom prst="rect">
            <a:avLst/>
          </a:prstGeom>
        </p:spPr>
      </p:pic>
      <p:sp>
        <p:nvSpPr>
          <p:cNvPr id="15" name="Text 9"/>
          <p:cNvSpPr txBox="1"/>
          <p:nvPr/>
        </p:nvSpPr>
        <p:spPr>
          <a:xfrm>
            <a:off x="1170432" y="2596896"/>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Do not run Terraform or Ansible commands</a:t>
            </a:r>
            <a:endParaRPr lang="en-US" sz="1300" dirty="0"/>
          </a:p>
        </p:txBody>
      </p:sp>
      <p:sp>
        <p:nvSpPr>
          <p:cNvPr id="16" name="card"/>
          <p:cNvSpPr/>
          <p:nvPr/>
        </p:nvSpPr>
        <p:spPr>
          <a:xfrm>
            <a:off x="457200" y="3191256"/>
            <a:ext cx="4023360" cy="594360"/>
          </a:xfrm>
          <a:prstGeom prst="roundRect">
            <a:avLst>
              <a:gd name="adj" fmla="val 15385"/>
            </a:avLst>
          </a:prstGeom>
          <a:solidFill>
            <a:schemeClr val="bg2"/>
          </a:solidFill>
          <a:ln w="12700">
            <a:solidFill>
              <a:schemeClr val="bg2"/>
            </a:solidFill>
            <a:prstDash val="solid"/>
          </a:ln>
        </p:spPr>
      </p:sp>
      <p:sp>
        <p:nvSpPr>
          <p:cNvPr id="17" name="icon circle"/>
          <p:cNvSpPr/>
          <p:nvPr/>
        </p:nvSpPr>
        <p:spPr>
          <a:xfrm>
            <a:off x="640080" y="3305556"/>
            <a:ext cx="365760" cy="365760"/>
          </a:xfrm>
          <a:prstGeom prst="ellipse">
            <a:avLst/>
          </a:prstGeom>
          <a:solidFill>
            <a:schemeClr val="accent3"/>
          </a:solidFill>
          <a:ln w="12700">
            <a:solidFill>
              <a:schemeClr val="accent3"/>
            </a:solidFill>
            <a:prstDash val="solid"/>
          </a:ln>
        </p:spPr>
      </p:sp>
      <p:pic>
        <p:nvPicPr>
          <p:cNvPr id="18" name="icon FaBan" descr="FaBan">    </p:cNvPr>
          <p:cNvPicPr>
            <a:picLocks noChangeAspect="1"/>
          </p:cNvPicPr>
          <p:nvPr/>
        </p:nvPicPr>
        <p:blipFill>
          <a:blip r:embed="rId4"/>
          <a:stretch>
            <a:fillRect/>
          </a:stretch>
        </p:blipFill>
        <p:spPr>
          <a:xfrm>
            <a:off x="727862" y="3393338"/>
            <a:ext cx="190195" cy="190195"/>
          </a:xfrm>
          <a:prstGeom prst="rect">
            <a:avLst/>
          </a:prstGeom>
        </p:spPr>
      </p:pic>
      <p:sp>
        <p:nvSpPr>
          <p:cNvPr id="19" name="Text 12"/>
          <p:cNvSpPr txBox="1"/>
          <p:nvPr/>
        </p:nvSpPr>
        <p:spPr>
          <a:xfrm>
            <a:off x="1170432" y="3264408"/>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Do not create, update or delete Azure resources</a:t>
            </a:r>
            <a:endParaRPr lang="en-US" sz="1300" dirty="0"/>
          </a:p>
        </p:txBody>
      </p:sp>
      <p:sp>
        <p:nvSpPr>
          <p:cNvPr id="20" name="card"/>
          <p:cNvSpPr/>
          <p:nvPr/>
        </p:nvSpPr>
        <p:spPr>
          <a:xfrm>
            <a:off x="457200" y="3858768"/>
            <a:ext cx="4023360" cy="594360"/>
          </a:xfrm>
          <a:prstGeom prst="roundRect">
            <a:avLst>
              <a:gd name="adj" fmla="val 15385"/>
            </a:avLst>
          </a:prstGeom>
          <a:solidFill>
            <a:schemeClr val="bg2"/>
          </a:solidFill>
          <a:ln w="12700">
            <a:solidFill>
              <a:schemeClr val="bg2"/>
            </a:solidFill>
            <a:prstDash val="solid"/>
          </a:ln>
        </p:spPr>
      </p:sp>
      <p:sp>
        <p:nvSpPr>
          <p:cNvPr id="21" name="icon circle"/>
          <p:cNvSpPr/>
          <p:nvPr/>
        </p:nvSpPr>
        <p:spPr>
          <a:xfrm>
            <a:off x="640080" y="3973068"/>
            <a:ext cx="365760" cy="365760"/>
          </a:xfrm>
          <a:prstGeom prst="ellipse">
            <a:avLst/>
          </a:prstGeom>
          <a:solidFill>
            <a:schemeClr val="accent3"/>
          </a:solidFill>
          <a:ln w="12700">
            <a:solidFill>
              <a:schemeClr val="accent3"/>
            </a:solidFill>
            <a:prstDash val="solid"/>
          </a:ln>
        </p:spPr>
      </p:sp>
      <p:pic>
        <p:nvPicPr>
          <p:cNvPr id="22" name="icon FaBan" descr="FaBan">    </p:cNvPr>
          <p:cNvPicPr>
            <a:picLocks noChangeAspect="1"/>
          </p:cNvPicPr>
          <p:nvPr/>
        </p:nvPicPr>
        <p:blipFill>
          <a:blip r:embed="rId5"/>
          <a:stretch>
            <a:fillRect/>
          </a:stretch>
        </p:blipFill>
        <p:spPr>
          <a:xfrm>
            <a:off x="727862" y="4060850"/>
            <a:ext cx="190195" cy="190195"/>
          </a:xfrm>
          <a:prstGeom prst="rect">
            <a:avLst/>
          </a:prstGeom>
        </p:spPr>
      </p:pic>
      <p:sp>
        <p:nvSpPr>
          <p:cNvPr id="23" name="Text 15"/>
          <p:cNvSpPr txBox="1"/>
          <p:nvPr/>
        </p:nvSpPr>
        <p:spPr>
          <a:xfrm>
            <a:off x="1170432" y="3931920"/>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Do not change service connections, secure files, variable groups, agent pools or permissions</a:t>
            </a:r>
            <a:endParaRPr lang="en-US" sz="1300" dirty="0"/>
          </a:p>
        </p:txBody>
      </p:sp>
      <p:sp>
        <p:nvSpPr>
          <p:cNvPr id="24" name="card"/>
          <p:cNvSpPr/>
          <p:nvPr/>
        </p:nvSpPr>
        <p:spPr>
          <a:xfrm>
            <a:off x="4663440" y="1188720"/>
            <a:ext cx="4023360" cy="594360"/>
          </a:xfrm>
          <a:prstGeom prst="roundRect">
            <a:avLst>
              <a:gd name="adj" fmla="val 15385"/>
            </a:avLst>
          </a:prstGeom>
          <a:solidFill>
            <a:schemeClr val="bg2"/>
          </a:solidFill>
          <a:ln w="12700">
            <a:solidFill>
              <a:schemeClr val="bg2"/>
            </a:solidFill>
            <a:prstDash val="solid"/>
          </a:ln>
        </p:spPr>
      </p:sp>
      <p:sp>
        <p:nvSpPr>
          <p:cNvPr id="25" name="icon circle"/>
          <p:cNvSpPr/>
          <p:nvPr/>
        </p:nvSpPr>
        <p:spPr>
          <a:xfrm>
            <a:off x="4846320" y="1303020"/>
            <a:ext cx="365760" cy="365760"/>
          </a:xfrm>
          <a:prstGeom prst="ellipse">
            <a:avLst/>
          </a:prstGeom>
          <a:solidFill>
            <a:schemeClr val="accent3"/>
          </a:solidFill>
          <a:ln w="12700">
            <a:solidFill>
              <a:schemeClr val="accent3"/>
            </a:solidFill>
            <a:prstDash val="solid"/>
          </a:ln>
        </p:spPr>
      </p:sp>
      <p:pic>
        <p:nvPicPr>
          <p:cNvPr id="26" name="icon FaLock" descr="FaLock">    </p:cNvPr>
          <p:cNvPicPr>
            <a:picLocks noChangeAspect="1"/>
          </p:cNvPicPr>
          <p:nvPr/>
        </p:nvPicPr>
        <p:blipFill>
          <a:blip r:embed="rId6"/>
          <a:stretch>
            <a:fillRect/>
          </a:stretch>
        </p:blipFill>
        <p:spPr>
          <a:xfrm>
            <a:off x="4934102" y="1390802"/>
            <a:ext cx="190195" cy="190195"/>
          </a:xfrm>
          <a:prstGeom prst="rect">
            <a:avLst/>
          </a:prstGeom>
        </p:spPr>
      </p:pic>
      <p:sp>
        <p:nvSpPr>
          <p:cNvPr id="27" name="Text 18"/>
          <p:cNvSpPr txBox="1"/>
          <p:nvPr/>
        </p:nvSpPr>
        <p:spPr>
          <a:xfrm>
            <a:off x="5376672" y="1261872"/>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Never read, print, store or expose a secret</a:t>
            </a:r>
            <a:endParaRPr lang="en-US" sz="1300" dirty="0"/>
          </a:p>
        </p:txBody>
      </p:sp>
      <p:sp>
        <p:nvSpPr>
          <p:cNvPr id="28" name="card"/>
          <p:cNvSpPr/>
          <p:nvPr/>
        </p:nvSpPr>
        <p:spPr>
          <a:xfrm>
            <a:off x="4663440" y="1856232"/>
            <a:ext cx="4023360" cy="594360"/>
          </a:xfrm>
          <a:prstGeom prst="roundRect">
            <a:avLst>
              <a:gd name="adj" fmla="val 15385"/>
            </a:avLst>
          </a:prstGeom>
          <a:solidFill>
            <a:schemeClr val="bg2"/>
          </a:solidFill>
          <a:ln w="12700">
            <a:solidFill>
              <a:schemeClr val="bg2"/>
            </a:solidFill>
            <a:prstDash val="solid"/>
          </a:ln>
        </p:spPr>
      </p:sp>
      <p:sp>
        <p:nvSpPr>
          <p:cNvPr id="29" name="icon circle"/>
          <p:cNvSpPr/>
          <p:nvPr/>
        </p:nvSpPr>
        <p:spPr>
          <a:xfrm>
            <a:off x="4846320" y="1970532"/>
            <a:ext cx="365760" cy="365760"/>
          </a:xfrm>
          <a:prstGeom prst="ellipse">
            <a:avLst/>
          </a:prstGeom>
          <a:solidFill>
            <a:schemeClr val="accent3"/>
          </a:solidFill>
          <a:ln w="12700">
            <a:solidFill>
              <a:schemeClr val="accent3"/>
            </a:solidFill>
            <a:prstDash val="solid"/>
          </a:ln>
        </p:spPr>
      </p:sp>
      <p:pic>
        <p:nvPicPr>
          <p:cNvPr id="30" name="icon FaLock" descr="FaLock">    </p:cNvPr>
          <p:cNvPicPr>
            <a:picLocks noChangeAspect="1"/>
          </p:cNvPicPr>
          <p:nvPr/>
        </p:nvPicPr>
        <p:blipFill>
          <a:blip r:embed="rId7"/>
          <a:stretch>
            <a:fillRect/>
          </a:stretch>
        </p:blipFill>
        <p:spPr>
          <a:xfrm>
            <a:off x="4934102" y="2058314"/>
            <a:ext cx="190195" cy="190195"/>
          </a:xfrm>
          <a:prstGeom prst="rect">
            <a:avLst/>
          </a:prstGeom>
        </p:spPr>
      </p:pic>
      <p:sp>
        <p:nvSpPr>
          <p:cNvPr id="31" name="Text 21"/>
          <p:cNvSpPr txBox="1"/>
          <p:nvPr/>
        </p:nvSpPr>
        <p:spPr>
          <a:xfrm>
            <a:off x="5376672" y="1929384"/>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Never ask for a secret to be pasted into the session</a:t>
            </a:r>
            <a:endParaRPr lang="en-US" sz="1300" dirty="0"/>
          </a:p>
        </p:txBody>
      </p:sp>
      <p:sp>
        <p:nvSpPr>
          <p:cNvPr id="32" name="card"/>
          <p:cNvSpPr/>
          <p:nvPr/>
        </p:nvSpPr>
        <p:spPr>
          <a:xfrm>
            <a:off x="4663440" y="2523744"/>
            <a:ext cx="4023360" cy="594360"/>
          </a:xfrm>
          <a:prstGeom prst="roundRect">
            <a:avLst>
              <a:gd name="adj" fmla="val 15385"/>
            </a:avLst>
          </a:prstGeom>
          <a:solidFill>
            <a:schemeClr val="bg2"/>
          </a:solidFill>
          <a:ln w="12700">
            <a:solidFill>
              <a:schemeClr val="bg2"/>
            </a:solidFill>
            <a:prstDash val="solid"/>
          </a:ln>
        </p:spPr>
      </p:sp>
      <p:sp>
        <p:nvSpPr>
          <p:cNvPr id="33" name="icon circle"/>
          <p:cNvSpPr/>
          <p:nvPr/>
        </p:nvSpPr>
        <p:spPr>
          <a:xfrm>
            <a:off x="4846320" y="2638044"/>
            <a:ext cx="365760" cy="365760"/>
          </a:xfrm>
          <a:prstGeom prst="ellipse">
            <a:avLst/>
          </a:prstGeom>
          <a:solidFill>
            <a:schemeClr val="accent1"/>
          </a:solidFill>
          <a:ln w="12700">
            <a:solidFill>
              <a:schemeClr val="accent1"/>
            </a:solidFill>
            <a:prstDash val="solid"/>
          </a:ln>
        </p:spPr>
      </p:sp>
      <p:pic>
        <p:nvPicPr>
          <p:cNvPr id="34" name="icon FaHandPaper" descr="FaHandPaper">    </p:cNvPr>
          <p:cNvPicPr>
            <a:picLocks noChangeAspect="1"/>
          </p:cNvPicPr>
          <p:nvPr/>
        </p:nvPicPr>
        <p:blipFill>
          <a:blip r:embed="rId8"/>
          <a:stretch>
            <a:fillRect/>
          </a:stretch>
        </p:blipFill>
        <p:spPr>
          <a:xfrm>
            <a:off x="4934102" y="2725826"/>
            <a:ext cx="190195" cy="190195"/>
          </a:xfrm>
          <a:prstGeom prst="rect">
            <a:avLst/>
          </a:prstGeom>
        </p:spPr>
      </p:pic>
      <p:sp>
        <p:nvSpPr>
          <p:cNvPr id="35" name="Text 24"/>
          <p:cNvSpPr txBox="1"/>
          <p:nvPr/>
        </p:nvSpPr>
        <p:spPr>
          <a:xfrm>
            <a:off x="5376672" y="2596896"/>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Recommend a fix, but do not apply it</a:t>
            </a:r>
            <a:endParaRPr lang="en-US" sz="1300" dirty="0"/>
          </a:p>
        </p:txBody>
      </p:sp>
      <p:sp>
        <p:nvSpPr>
          <p:cNvPr id="36" name="card"/>
          <p:cNvSpPr/>
          <p:nvPr/>
        </p:nvSpPr>
        <p:spPr>
          <a:xfrm>
            <a:off x="4663440" y="3191256"/>
            <a:ext cx="4023360" cy="594360"/>
          </a:xfrm>
          <a:prstGeom prst="roundRect">
            <a:avLst>
              <a:gd name="adj" fmla="val 15385"/>
            </a:avLst>
          </a:prstGeom>
          <a:solidFill>
            <a:schemeClr val="bg2"/>
          </a:solidFill>
          <a:ln w="12700">
            <a:solidFill>
              <a:schemeClr val="bg2"/>
            </a:solidFill>
            <a:prstDash val="solid"/>
          </a:ln>
        </p:spPr>
      </p:sp>
      <p:sp>
        <p:nvSpPr>
          <p:cNvPr id="37" name="icon circle"/>
          <p:cNvSpPr/>
          <p:nvPr/>
        </p:nvSpPr>
        <p:spPr>
          <a:xfrm>
            <a:off x="4846320" y="3305556"/>
            <a:ext cx="365760" cy="365760"/>
          </a:xfrm>
          <a:prstGeom prst="ellipse">
            <a:avLst/>
          </a:prstGeom>
          <a:solidFill>
            <a:schemeClr val="accent6"/>
          </a:solidFill>
          <a:ln w="12700">
            <a:solidFill>
              <a:schemeClr val="accent6"/>
            </a:solidFill>
            <a:prstDash val="solid"/>
          </a:ln>
        </p:spPr>
      </p:sp>
      <p:pic>
        <p:nvPicPr>
          <p:cNvPr id="38" name="icon FaUserCheck" descr="FaUserCheck">    </p:cNvPr>
          <p:cNvPicPr>
            <a:picLocks noChangeAspect="1"/>
          </p:cNvPicPr>
          <p:nvPr/>
        </p:nvPicPr>
        <p:blipFill>
          <a:blip r:embed="rId9"/>
          <a:stretch>
            <a:fillRect/>
          </a:stretch>
        </p:blipFill>
        <p:spPr>
          <a:xfrm>
            <a:off x="4934102" y="3393338"/>
            <a:ext cx="190195" cy="190195"/>
          </a:xfrm>
          <a:prstGeom prst="rect">
            <a:avLst/>
          </a:prstGeom>
        </p:spPr>
      </p:pic>
      <p:sp>
        <p:nvSpPr>
          <p:cNvPr id="39" name="Text 27"/>
          <p:cNvSpPr txBox="1"/>
          <p:nvPr/>
        </p:nvSpPr>
        <p:spPr>
          <a:xfrm>
            <a:off x="5376672" y="3264408"/>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Require human approval for every recovery change</a:t>
            </a:r>
            <a:endParaRPr lang="en-US" sz="1300" dirty="0"/>
          </a:p>
        </p:txBody>
      </p:sp>
      <p:sp>
        <p:nvSpPr>
          <p:cNvPr id="40" name="card"/>
          <p:cNvSpPr/>
          <p:nvPr/>
        </p:nvSpPr>
        <p:spPr>
          <a:xfrm>
            <a:off x="4663440" y="3858768"/>
            <a:ext cx="4023360" cy="594360"/>
          </a:xfrm>
          <a:prstGeom prst="roundRect">
            <a:avLst>
              <a:gd name="adj" fmla="val 15385"/>
            </a:avLst>
          </a:prstGeom>
          <a:solidFill>
            <a:schemeClr val="bg2"/>
          </a:solidFill>
          <a:ln w="12700">
            <a:solidFill>
              <a:schemeClr val="bg2"/>
            </a:solidFill>
            <a:prstDash val="solid"/>
          </a:ln>
        </p:spPr>
      </p:sp>
      <p:sp>
        <p:nvSpPr>
          <p:cNvPr id="41" name="icon circle"/>
          <p:cNvSpPr/>
          <p:nvPr/>
        </p:nvSpPr>
        <p:spPr>
          <a:xfrm>
            <a:off x="4846320" y="3973068"/>
            <a:ext cx="365760" cy="365760"/>
          </a:xfrm>
          <a:prstGeom prst="ellipse">
            <a:avLst/>
          </a:prstGeom>
          <a:solidFill>
            <a:schemeClr val="accent4"/>
          </a:solidFill>
          <a:ln w="12700">
            <a:solidFill>
              <a:schemeClr val="accent4"/>
            </a:solidFill>
            <a:prstDash val="solid"/>
          </a:ln>
        </p:spPr>
      </p:sp>
      <p:pic>
        <p:nvPicPr>
          <p:cNvPr id="42" name="icon FaFileAlt" descr="FaFileAlt">    </p:cNvPr>
          <p:cNvPicPr>
            <a:picLocks noChangeAspect="1"/>
          </p:cNvPicPr>
          <p:nvPr/>
        </p:nvPicPr>
        <p:blipFill>
          <a:blip r:embed="rId10"/>
          <a:stretch>
            <a:fillRect/>
          </a:stretch>
        </p:blipFill>
        <p:spPr>
          <a:xfrm>
            <a:off x="4934102" y="4060850"/>
            <a:ext cx="190195" cy="190195"/>
          </a:xfrm>
          <a:prstGeom prst="rect">
            <a:avLst/>
          </a:prstGeom>
        </p:spPr>
      </p:pic>
      <p:sp>
        <p:nvSpPr>
          <p:cNvPr id="43" name="Text 30"/>
          <p:cNvSpPr txBox="1"/>
          <p:nvPr/>
        </p:nvSpPr>
        <p:spPr>
          <a:xfrm>
            <a:off x="5376672" y="3931920"/>
            <a:ext cx="3127248" cy="448056"/>
          </a:xfrm>
          <a:prstGeom prst="rect">
            <a:avLst/>
          </a:prstGeom>
          <a:noFill/>
          <a:ln/>
        </p:spPr>
        <p:txBody>
          <a:bodyPr wrap="square" lIns="0" tIns="0" rIns="0" bIns="0" rtlCol="0" anchor="ctr"/>
          <a:lstStyle/>
          <a:p>
            <a:pPr indent="0" marL="0">
              <a:buNone/>
            </a:pPr>
            <a:r>
              <a:rPr lang="en-US" sz="1300" b="1" dirty="0">
                <a:solidFill>
                  <a:schemeClr val="tx1"/>
                </a:solidFill>
              </a:rPr>
              <a:t>Treat the report and logs as the primary evidence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Evidence first: no invented causes</a:t>
            </a:r>
            <a:endParaRPr lang="en-US" sz="3000" dirty="0"/>
          </a:p>
        </p:txBody>
      </p:sp>
      <p:sp>
        <p:nvSpPr>
          <p:cNvPr id="4" name="card"/>
          <p:cNvSpPr/>
          <p:nvPr/>
        </p:nvSpPr>
        <p:spPr>
          <a:xfrm>
            <a:off x="457200" y="1280160"/>
            <a:ext cx="2560320" cy="2743200"/>
          </a:xfrm>
          <a:prstGeom prst="roundRect">
            <a:avLst>
              <a:gd name="adj" fmla="val 3571"/>
            </a:avLst>
          </a:prstGeom>
          <a:solidFill>
            <a:schemeClr val="bg2"/>
          </a:solidFill>
          <a:ln w="12700">
            <a:solidFill>
              <a:schemeClr val="bg2"/>
            </a:solidFill>
            <a:prstDash val="solid"/>
          </a:ln>
        </p:spPr>
      </p:sp>
      <p:sp>
        <p:nvSpPr>
          <p:cNvPr id="5" name="icon circle"/>
          <p:cNvSpPr/>
          <p:nvPr/>
        </p:nvSpPr>
        <p:spPr>
          <a:xfrm>
            <a:off x="640080" y="1463040"/>
            <a:ext cx="457200" cy="457200"/>
          </a:xfrm>
          <a:prstGeom prst="ellipse">
            <a:avLst/>
          </a:prstGeom>
          <a:solidFill>
            <a:schemeClr val="accent4"/>
          </a:solidFill>
          <a:ln w="12700">
            <a:solidFill>
              <a:schemeClr val="accent4"/>
            </a:solidFill>
            <a:prstDash val="solid"/>
          </a:ln>
        </p:spPr>
      </p:sp>
      <p:pic>
        <p:nvPicPr>
          <p:cNvPr id="6" name="icon FaFileAlt" descr="FaFileAlt">    </p:cNvPr>
          <p:cNvPicPr>
            <a:picLocks noChangeAspect="1"/>
          </p:cNvPicPr>
          <p:nvPr/>
        </p:nvPicPr>
        <p:blipFill>
          <a:blip r:embed="rId1"/>
          <a:stretch>
            <a:fillRect/>
          </a:stretch>
        </p:blipFill>
        <p:spPr>
          <a:xfrm>
            <a:off x="749808" y="1572768"/>
            <a:ext cx="237744" cy="237744"/>
          </a:xfrm>
          <a:prstGeom prst="rect">
            <a:avLst/>
          </a:prstGeom>
        </p:spPr>
      </p:pic>
      <p:sp>
        <p:nvSpPr>
          <p:cNvPr id="7" name="Text 3"/>
          <p:cNvSpPr txBox="1"/>
          <p:nvPr/>
        </p:nvSpPr>
        <p:spPr>
          <a:xfrm>
            <a:off x="640080" y="2029968"/>
            <a:ext cx="2194560" cy="292608"/>
          </a:xfrm>
          <a:prstGeom prst="rect">
            <a:avLst/>
          </a:prstGeom>
          <a:noFill/>
          <a:ln/>
        </p:spPr>
        <p:txBody>
          <a:bodyPr wrap="square" lIns="0" tIns="0" rIns="0" bIns="0" rtlCol="0" anchor="t"/>
          <a:lstStyle/>
          <a:p>
            <a:pPr indent="0" marL="0">
              <a:buNone/>
            </a:pPr>
            <a:r>
              <a:rPr lang="en-US" sz="1600" b="1" dirty="0">
                <a:solidFill>
                  <a:schemeClr val="tx1"/>
                </a:solidFill>
              </a:rPr>
              <a:t>Evidence sources</a:t>
            </a:r>
            <a:endParaRPr lang="en-US" sz="1600" dirty="0"/>
          </a:p>
        </p:txBody>
      </p:sp>
      <p:sp>
        <p:nvSpPr>
          <p:cNvPr id="8" name="Text 4"/>
          <p:cNvSpPr txBox="1"/>
          <p:nvPr/>
        </p:nvSpPr>
        <p:spPr>
          <a:xfrm>
            <a:off x="640080" y="2368296"/>
            <a:ext cx="2194560" cy="1472184"/>
          </a:xfrm>
          <a:prstGeom prst="rect">
            <a:avLst/>
          </a:prstGeom>
          <a:noFill/>
          <a:ln/>
        </p:spPr>
        <p:txBody>
          <a:bodyPr wrap="square" lIns="0" tIns="0" rIns="0" bIns="0" rtlCol="0" anchor="t"/>
          <a:lstStyle/>
          <a:p>
            <a:pPr indent="0" marL="0">
              <a:buNone/>
            </a:pPr>
            <a:r>
              <a:rPr lang="en-US" sz="1400" dirty="0">
                <a:solidFill>
                  <a:schemeClr val="tx1"/>
                </a:solidFill>
              </a:rPr>
              <a:t>The health report and the retrieved pipeline logs are the primary evidence.</a:t>
            </a:r>
            <a:endParaRPr lang="en-US" sz="1400" dirty="0"/>
          </a:p>
        </p:txBody>
      </p:sp>
      <p:sp>
        <p:nvSpPr>
          <p:cNvPr id="9" name="card"/>
          <p:cNvSpPr/>
          <p:nvPr/>
        </p:nvSpPr>
        <p:spPr>
          <a:xfrm>
            <a:off x="3291840" y="1280160"/>
            <a:ext cx="2560320" cy="2743200"/>
          </a:xfrm>
          <a:prstGeom prst="roundRect">
            <a:avLst>
              <a:gd name="adj" fmla="val 3571"/>
            </a:avLst>
          </a:prstGeom>
          <a:solidFill>
            <a:schemeClr val="bg2"/>
          </a:solidFill>
          <a:ln w="12700">
            <a:solidFill>
              <a:schemeClr val="bg2"/>
            </a:solidFill>
            <a:prstDash val="solid"/>
          </a:ln>
        </p:spPr>
      </p:sp>
      <p:sp>
        <p:nvSpPr>
          <p:cNvPr id="10" name="icon circle"/>
          <p:cNvSpPr/>
          <p:nvPr/>
        </p:nvSpPr>
        <p:spPr>
          <a:xfrm>
            <a:off x="3474720" y="1463040"/>
            <a:ext cx="457200" cy="457200"/>
          </a:xfrm>
          <a:prstGeom prst="ellipse">
            <a:avLst/>
          </a:prstGeom>
          <a:solidFill>
            <a:schemeClr val="accent1"/>
          </a:solidFill>
          <a:ln w="12700">
            <a:solidFill>
              <a:schemeClr val="accent1"/>
            </a:solidFill>
            <a:prstDash val="solid"/>
          </a:ln>
        </p:spPr>
      </p:sp>
      <p:pic>
        <p:nvPicPr>
          <p:cNvPr id="11" name="icon FaBullseye" descr="FaBullseye">    </p:cNvPr>
          <p:cNvPicPr>
            <a:picLocks noChangeAspect="1"/>
          </p:cNvPicPr>
          <p:nvPr/>
        </p:nvPicPr>
        <p:blipFill>
          <a:blip r:embed="rId2"/>
          <a:stretch>
            <a:fillRect/>
          </a:stretch>
        </p:blipFill>
        <p:spPr>
          <a:xfrm>
            <a:off x="3584448" y="1572768"/>
            <a:ext cx="237744" cy="237744"/>
          </a:xfrm>
          <a:prstGeom prst="rect">
            <a:avLst/>
          </a:prstGeom>
        </p:spPr>
      </p:pic>
      <p:sp>
        <p:nvSpPr>
          <p:cNvPr id="12" name="Text 7"/>
          <p:cNvSpPr txBox="1"/>
          <p:nvPr/>
        </p:nvSpPr>
        <p:spPr>
          <a:xfrm>
            <a:off x="3474720" y="2029968"/>
            <a:ext cx="2194560" cy="292608"/>
          </a:xfrm>
          <a:prstGeom prst="rect">
            <a:avLst/>
          </a:prstGeom>
          <a:noFill/>
          <a:ln/>
        </p:spPr>
        <p:txBody>
          <a:bodyPr wrap="square" lIns="0" tIns="0" rIns="0" bIns="0" rtlCol="0" anchor="t"/>
          <a:lstStyle/>
          <a:p>
            <a:pPr indent="0" marL="0">
              <a:buNone/>
            </a:pPr>
            <a:r>
              <a:rPr lang="en-US" sz="1600" b="1" dirty="0">
                <a:solidFill>
                  <a:schemeClr val="tx1"/>
                </a:solidFill>
              </a:rPr>
              <a:t>No unsupported claims</a:t>
            </a:r>
            <a:endParaRPr lang="en-US" sz="1600" dirty="0"/>
          </a:p>
        </p:txBody>
      </p:sp>
      <p:sp>
        <p:nvSpPr>
          <p:cNvPr id="13" name="Text 8"/>
          <p:cNvSpPr txBox="1"/>
          <p:nvPr/>
        </p:nvSpPr>
        <p:spPr>
          <a:xfrm>
            <a:off x="3474720" y="2368296"/>
            <a:ext cx="2194560" cy="1472184"/>
          </a:xfrm>
          <a:prstGeom prst="rect">
            <a:avLst/>
          </a:prstGeom>
          <a:noFill/>
          <a:ln/>
        </p:spPr>
        <p:txBody>
          <a:bodyPr wrap="square" lIns="0" tIns="0" rIns="0" bIns="0" rtlCol="0" anchor="t"/>
          <a:lstStyle/>
          <a:p>
            <a:pPr indent="0" marL="0">
              <a:buNone/>
            </a:pPr>
            <a:r>
              <a:rPr lang="en-US" sz="1400" dirty="0">
                <a:solidFill>
                  <a:schemeClr val="tx1"/>
                </a:solidFill>
              </a:rPr>
              <a:t>Do not claim a root cause unless the report or logs support it.</a:t>
            </a:r>
            <a:endParaRPr lang="en-US" sz="1400" dirty="0"/>
          </a:p>
        </p:txBody>
      </p:sp>
      <p:sp>
        <p:nvSpPr>
          <p:cNvPr id="14" name="card"/>
          <p:cNvSpPr/>
          <p:nvPr/>
        </p:nvSpPr>
        <p:spPr>
          <a:xfrm>
            <a:off x="6126480" y="1280160"/>
            <a:ext cx="2560320" cy="2743200"/>
          </a:xfrm>
          <a:prstGeom prst="roundRect">
            <a:avLst>
              <a:gd name="adj" fmla="val 3571"/>
            </a:avLst>
          </a:prstGeom>
          <a:solidFill>
            <a:schemeClr val="bg2"/>
          </a:solidFill>
          <a:ln w="12700">
            <a:solidFill>
              <a:schemeClr val="bg2"/>
            </a:solidFill>
            <a:prstDash val="solid"/>
          </a:ln>
        </p:spPr>
      </p:sp>
      <p:sp>
        <p:nvSpPr>
          <p:cNvPr id="15" name="icon circle"/>
          <p:cNvSpPr/>
          <p:nvPr/>
        </p:nvSpPr>
        <p:spPr>
          <a:xfrm>
            <a:off x="6309360" y="1463040"/>
            <a:ext cx="457200" cy="457200"/>
          </a:xfrm>
          <a:prstGeom prst="ellipse">
            <a:avLst/>
          </a:prstGeom>
          <a:solidFill>
            <a:schemeClr val="accent3"/>
          </a:solidFill>
          <a:ln w="12700">
            <a:solidFill>
              <a:schemeClr val="accent3"/>
            </a:solidFill>
            <a:prstDash val="solid"/>
          </a:ln>
        </p:spPr>
      </p:sp>
      <p:pic>
        <p:nvPicPr>
          <p:cNvPr id="16" name="icon FaQuestionCircle" descr="FaQuestionCircle">    </p:cNvPr>
          <p:cNvPicPr>
            <a:picLocks noChangeAspect="1"/>
          </p:cNvPicPr>
          <p:nvPr/>
        </p:nvPicPr>
        <p:blipFill>
          <a:blip r:embed="rId3"/>
          <a:stretch>
            <a:fillRect/>
          </a:stretch>
        </p:blipFill>
        <p:spPr>
          <a:xfrm>
            <a:off x="6419088" y="1572768"/>
            <a:ext cx="237744" cy="237744"/>
          </a:xfrm>
          <a:prstGeom prst="rect">
            <a:avLst/>
          </a:prstGeom>
        </p:spPr>
      </p:pic>
      <p:sp>
        <p:nvSpPr>
          <p:cNvPr id="17" name="Text 11"/>
          <p:cNvSpPr txBox="1"/>
          <p:nvPr/>
        </p:nvSpPr>
        <p:spPr>
          <a:xfrm>
            <a:off x="6309360" y="2029968"/>
            <a:ext cx="2194560" cy="292608"/>
          </a:xfrm>
          <a:prstGeom prst="rect">
            <a:avLst/>
          </a:prstGeom>
          <a:noFill/>
          <a:ln/>
        </p:spPr>
        <p:txBody>
          <a:bodyPr wrap="square" lIns="0" tIns="0" rIns="0" bIns="0" rtlCol="0" anchor="t"/>
          <a:lstStyle/>
          <a:p>
            <a:pPr indent="0" marL="0">
              <a:buNone/>
            </a:pPr>
            <a:r>
              <a:rPr lang="en-US" sz="1600" b="1" dirty="0">
                <a:solidFill>
                  <a:schemeClr val="tx1"/>
                </a:solidFill>
              </a:rPr>
              <a:t>Say when unsure</a:t>
            </a:r>
            <a:endParaRPr lang="en-US" sz="1600" dirty="0"/>
          </a:p>
        </p:txBody>
      </p:sp>
      <p:sp>
        <p:nvSpPr>
          <p:cNvPr id="18" name="Text 12"/>
          <p:cNvSpPr txBox="1"/>
          <p:nvPr/>
        </p:nvSpPr>
        <p:spPr>
          <a:xfrm>
            <a:off x="6309360" y="2368296"/>
            <a:ext cx="2194560" cy="1472184"/>
          </a:xfrm>
          <a:prstGeom prst="rect">
            <a:avLst/>
          </a:prstGeom>
          <a:noFill/>
          <a:ln/>
        </p:spPr>
        <p:txBody>
          <a:bodyPr wrap="square" lIns="0" tIns="0" rIns="0" bIns="0" rtlCol="0" anchor="t"/>
          <a:lstStyle/>
          <a:p>
            <a:pPr indent="0" marL="0">
              <a:buNone/>
            </a:pPr>
            <a:r>
              <a:rPr lang="en-US" sz="1400" dirty="0">
                <a:solidFill>
                  <a:schemeClr val="tx1"/>
                </a:solidFill>
              </a:rPr>
              <a:t>If the evidence is incomplete, state that the root cause is not confirmed.</a:t>
            </a:r>
            <a:endParaRPr lang="en-US" sz="1400" dirty="0"/>
          </a:p>
        </p:txBody>
      </p:sp>
      <p:sp>
        <p:nvSpPr>
          <p:cNvPr id="19" name="callout"/>
          <p:cNvSpPr/>
          <p:nvPr/>
        </p:nvSpPr>
        <p:spPr>
          <a:xfrm>
            <a:off x="457200" y="4160520"/>
            <a:ext cx="8229600" cy="548640"/>
          </a:xfrm>
          <a:prstGeom prst="roundRect">
            <a:avLst>
              <a:gd name="adj" fmla="val 16667"/>
            </a:avLst>
          </a:prstGeom>
          <a:solidFill>
            <a:schemeClr val="accent2"/>
          </a:solidFill>
          <a:ln w="12700">
            <a:solidFill>
              <a:schemeClr val="accent2"/>
            </a:solidFill>
            <a:prstDash val="solid"/>
          </a:ln>
        </p:spPr>
      </p:sp>
      <p:sp>
        <p:nvSpPr>
          <p:cNvPr id="20" name="Text 14"/>
          <p:cNvSpPr txBox="1"/>
          <p:nvPr/>
        </p:nvSpPr>
        <p:spPr>
          <a:xfrm>
            <a:off x="685800" y="416052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Good triage is honest: "Here is the evidence" beats "here is a confident guess".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Section 4: Output Rules, the 9-point report</a:t>
            </a:r>
            <a:endParaRPr lang="en-US" sz="3000" dirty="0"/>
          </a:p>
        </p:txBody>
      </p:sp>
      <p:sp>
        <p:nvSpPr>
          <p:cNvPr id="4" name="Shape 1"/>
          <p:cNvSpPr/>
          <p:nvPr/>
        </p:nvSpPr>
        <p:spPr>
          <a:xfrm>
            <a:off x="457200" y="1280160"/>
            <a:ext cx="2560320" cy="914400"/>
          </a:xfrm>
          <a:prstGeom prst="roundRect">
            <a:avLst>
              <a:gd name="adj" fmla="val 10000"/>
            </a:avLst>
          </a:prstGeom>
          <a:solidFill>
            <a:schemeClr val="bg2"/>
          </a:solidFill>
          <a:ln w="12700">
            <a:solidFill>
              <a:schemeClr val="bg2"/>
            </a:solidFill>
            <a:prstDash val="solid"/>
          </a:ln>
        </p:spPr>
      </p:sp>
      <p:sp>
        <p:nvSpPr>
          <p:cNvPr id="5" name="Shape 2"/>
          <p:cNvSpPr/>
          <p:nvPr/>
        </p:nvSpPr>
        <p:spPr>
          <a:xfrm>
            <a:off x="594360" y="1508760"/>
            <a:ext cx="457200" cy="457200"/>
          </a:xfrm>
          <a:prstGeom prst="ellipse">
            <a:avLst/>
          </a:prstGeom>
          <a:solidFill>
            <a:schemeClr val="accent2"/>
          </a:solidFill>
          <a:ln w="12700">
            <a:solidFill>
              <a:schemeClr val="bg1"/>
            </a:solidFill>
            <a:prstDash val="solid"/>
          </a:ln>
        </p:spPr>
      </p:sp>
      <p:sp>
        <p:nvSpPr>
          <p:cNvPr id="6" name="Text 3"/>
          <p:cNvSpPr txBox="1"/>
          <p:nvPr/>
        </p:nvSpPr>
        <p:spPr>
          <a:xfrm>
            <a:off x="59436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188720" y="137160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Overall pipeline health</a:t>
            </a:r>
            <a:endParaRPr lang="en-US" sz="1500" dirty="0"/>
          </a:p>
        </p:txBody>
      </p:sp>
      <p:sp>
        <p:nvSpPr>
          <p:cNvPr id="8" name="Shape 5"/>
          <p:cNvSpPr/>
          <p:nvPr/>
        </p:nvSpPr>
        <p:spPr>
          <a:xfrm>
            <a:off x="3291840" y="1280160"/>
            <a:ext cx="2560320" cy="914400"/>
          </a:xfrm>
          <a:prstGeom prst="roundRect">
            <a:avLst>
              <a:gd name="adj" fmla="val 10000"/>
            </a:avLst>
          </a:prstGeom>
          <a:solidFill>
            <a:schemeClr val="bg2"/>
          </a:solidFill>
          <a:ln w="12700">
            <a:solidFill>
              <a:schemeClr val="bg2"/>
            </a:solidFill>
            <a:prstDash val="solid"/>
          </a:ln>
        </p:spPr>
      </p:sp>
      <p:sp>
        <p:nvSpPr>
          <p:cNvPr id="9" name="Shape 6"/>
          <p:cNvSpPr/>
          <p:nvPr/>
        </p:nvSpPr>
        <p:spPr>
          <a:xfrm>
            <a:off x="3429000" y="150876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342900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4023360" y="137160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Affected pipeline</a:t>
            </a:r>
            <a:endParaRPr lang="en-US" sz="1500" dirty="0"/>
          </a:p>
        </p:txBody>
      </p:sp>
      <p:sp>
        <p:nvSpPr>
          <p:cNvPr id="12" name="Shape 9"/>
          <p:cNvSpPr/>
          <p:nvPr/>
        </p:nvSpPr>
        <p:spPr>
          <a:xfrm>
            <a:off x="6126480" y="1280160"/>
            <a:ext cx="2560320" cy="914400"/>
          </a:xfrm>
          <a:prstGeom prst="roundRect">
            <a:avLst>
              <a:gd name="adj" fmla="val 10000"/>
            </a:avLst>
          </a:prstGeom>
          <a:solidFill>
            <a:schemeClr val="bg2"/>
          </a:solidFill>
          <a:ln w="12700">
            <a:solidFill>
              <a:schemeClr val="bg2"/>
            </a:solidFill>
            <a:prstDash val="solid"/>
          </a:ln>
        </p:spPr>
      </p:sp>
      <p:sp>
        <p:nvSpPr>
          <p:cNvPr id="13" name="Shape 10"/>
          <p:cNvSpPr/>
          <p:nvPr/>
        </p:nvSpPr>
        <p:spPr>
          <a:xfrm>
            <a:off x="6263640" y="1508760"/>
            <a:ext cx="457200" cy="457200"/>
          </a:xfrm>
          <a:prstGeom prst="ellipse">
            <a:avLst/>
          </a:prstGeom>
          <a:solidFill>
            <a:schemeClr val="accent2"/>
          </a:solidFill>
          <a:ln w="12700">
            <a:solidFill>
              <a:schemeClr val="bg1"/>
            </a:solidFill>
            <a:prstDash val="solid"/>
          </a:ln>
        </p:spPr>
      </p:sp>
      <p:sp>
        <p:nvSpPr>
          <p:cNvPr id="14" name="Text 11"/>
          <p:cNvSpPr txBox="1"/>
          <p:nvPr/>
        </p:nvSpPr>
        <p:spPr>
          <a:xfrm>
            <a:off x="626364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6858000" y="137160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Pipeline run ID</a:t>
            </a:r>
            <a:endParaRPr lang="en-US" sz="1500" dirty="0"/>
          </a:p>
        </p:txBody>
      </p:sp>
      <p:sp>
        <p:nvSpPr>
          <p:cNvPr id="16" name="Shape 13"/>
          <p:cNvSpPr/>
          <p:nvPr/>
        </p:nvSpPr>
        <p:spPr>
          <a:xfrm>
            <a:off x="457200" y="2377440"/>
            <a:ext cx="2560320" cy="914400"/>
          </a:xfrm>
          <a:prstGeom prst="roundRect">
            <a:avLst>
              <a:gd name="adj" fmla="val 10000"/>
            </a:avLst>
          </a:prstGeom>
          <a:solidFill>
            <a:schemeClr val="bg2"/>
          </a:solidFill>
          <a:ln w="12700">
            <a:solidFill>
              <a:schemeClr val="bg2"/>
            </a:solidFill>
            <a:prstDash val="solid"/>
          </a:ln>
        </p:spPr>
      </p:sp>
      <p:sp>
        <p:nvSpPr>
          <p:cNvPr id="17" name="Shape 14"/>
          <p:cNvSpPr/>
          <p:nvPr/>
        </p:nvSpPr>
        <p:spPr>
          <a:xfrm>
            <a:off x="594360" y="2606040"/>
            <a:ext cx="457200" cy="457200"/>
          </a:xfrm>
          <a:prstGeom prst="ellipse">
            <a:avLst/>
          </a:prstGeom>
          <a:solidFill>
            <a:schemeClr val="accent2"/>
          </a:solidFill>
          <a:ln w="12700">
            <a:solidFill>
              <a:schemeClr val="bg1"/>
            </a:solidFill>
            <a:prstDash val="solid"/>
          </a:ln>
        </p:spPr>
      </p:sp>
      <p:sp>
        <p:nvSpPr>
          <p:cNvPr id="18" name="Text 15"/>
          <p:cNvSpPr txBox="1"/>
          <p:nvPr/>
        </p:nvSpPr>
        <p:spPr>
          <a:xfrm>
            <a:off x="594360" y="2606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1188720" y="246888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Every warning or failure</a:t>
            </a:r>
            <a:endParaRPr lang="en-US" sz="1500" dirty="0"/>
          </a:p>
        </p:txBody>
      </p:sp>
      <p:sp>
        <p:nvSpPr>
          <p:cNvPr id="20" name="Shape 17"/>
          <p:cNvSpPr/>
          <p:nvPr/>
        </p:nvSpPr>
        <p:spPr>
          <a:xfrm>
            <a:off x="3291840" y="2377440"/>
            <a:ext cx="2560320" cy="914400"/>
          </a:xfrm>
          <a:prstGeom prst="roundRect">
            <a:avLst>
              <a:gd name="adj" fmla="val 10000"/>
            </a:avLst>
          </a:prstGeom>
          <a:solidFill>
            <a:schemeClr val="bg2"/>
          </a:solidFill>
          <a:ln w="12700">
            <a:solidFill>
              <a:schemeClr val="bg2"/>
            </a:solidFill>
            <a:prstDash val="solid"/>
          </a:ln>
        </p:spPr>
      </p:sp>
      <p:sp>
        <p:nvSpPr>
          <p:cNvPr id="21" name="Shape 18"/>
          <p:cNvSpPr/>
          <p:nvPr/>
        </p:nvSpPr>
        <p:spPr>
          <a:xfrm>
            <a:off x="3429000" y="2606040"/>
            <a:ext cx="457200" cy="457200"/>
          </a:xfrm>
          <a:prstGeom prst="ellipse">
            <a:avLst/>
          </a:prstGeom>
          <a:solidFill>
            <a:schemeClr val="accent1"/>
          </a:solidFill>
          <a:ln w="12700">
            <a:solidFill>
              <a:schemeClr val="bg1"/>
            </a:solidFill>
            <a:prstDash val="solid"/>
          </a:ln>
        </p:spPr>
      </p:sp>
      <p:sp>
        <p:nvSpPr>
          <p:cNvPr id="22" name="Text 19"/>
          <p:cNvSpPr txBox="1"/>
          <p:nvPr/>
        </p:nvSpPr>
        <p:spPr>
          <a:xfrm>
            <a:off x="3429000" y="26060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3" name="Text 20"/>
          <p:cNvSpPr txBox="1"/>
          <p:nvPr/>
        </p:nvSpPr>
        <p:spPr>
          <a:xfrm>
            <a:off x="4023360" y="246888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Most likely failure category</a:t>
            </a:r>
            <a:endParaRPr lang="en-US" sz="1500" dirty="0"/>
          </a:p>
        </p:txBody>
      </p:sp>
      <p:sp>
        <p:nvSpPr>
          <p:cNvPr id="24" name="Shape 21"/>
          <p:cNvSpPr/>
          <p:nvPr/>
        </p:nvSpPr>
        <p:spPr>
          <a:xfrm>
            <a:off x="6126480" y="2377440"/>
            <a:ext cx="2560320" cy="914400"/>
          </a:xfrm>
          <a:prstGeom prst="roundRect">
            <a:avLst>
              <a:gd name="adj" fmla="val 10000"/>
            </a:avLst>
          </a:prstGeom>
          <a:solidFill>
            <a:schemeClr val="bg2"/>
          </a:solidFill>
          <a:ln w="12700">
            <a:solidFill>
              <a:schemeClr val="bg2"/>
            </a:solidFill>
            <a:prstDash val="solid"/>
          </a:ln>
        </p:spPr>
      </p:sp>
      <p:sp>
        <p:nvSpPr>
          <p:cNvPr id="25" name="Shape 22"/>
          <p:cNvSpPr/>
          <p:nvPr/>
        </p:nvSpPr>
        <p:spPr>
          <a:xfrm>
            <a:off x="6263640" y="2606040"/>
            <a:ext cx="457200" cy="457200"/>
          </a:xfrm>
          <a:prstGeom prst="ellipse">
            <a:avLst/>
          </a:prstGeom>
          <a:solidFill>
            <a:schemeClr val="accent2"/>
          </a:solidFill>
          <a:ln w="12700">
            <a:solidFill>
              <a:schemeClr val="bg1"/>
            </a:solidFill>
            <a:prstDash val="solid"/>
          </a:ln>
        </p:spPr>
      </p:sp>
      <p:sp>
        <p:nvSpPr>
          <p:cNvPr id="26" name="Text 23"/>
          <p:cNvSpPr txBox="1"/>
          <p:nvPr/>
        </p:nvSpPr>
        <p:spPr>
          <a:xfrm>
            <a:off x="6263640" y="2606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4"/>
          <p:cNvSpPr txBox="1"/>
          <p:nvPr/>
        </p:nvSpPr>
        <p:spPr>
          <a:xfrm>
            <a:off x="6858000" y="246888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Exact sanitised evidence</a:t>
            </a:r>
            <a:endParaRPr lang="en-US" sz="1500" dirty="0"/>
          </a:p>
        </p:txBody>
      </p:sp>
      <p:sp>
        <p:nvSpPr>
          <p:cNvPr id="28" name="Shape 25"/>
          <p:cNvSpPr/>
          <p:nvPr/>
        </p:nvSpPr>
        <p:spPr>
          <a:xfrm>
            <a:off x="457200" y="3474720"/>
            <a:ext cx="2560320" cy="914400"/>
          </a:xfrm>
          <a:prstGeom prst="roundRect">
            <a:avLst>
              <a:gd name="adj" fmla="val 10000"/>
            </a:avLst>
          </a:prstGeom>
          <a:solidFill>
            <a:schemeClr val="bg2"/>
          </a:solidFill>
          <a:ln w="12700">
            <a:solidFill>
              <a:schemeClr val="bg2"/>
            </a:solidFill>
            <a:prstDash val="solid"/>
          </a:ln>
        </p:spPr>
      </p:sp>
      <p:sp>
        <p:nvSpPr>
          <p:cNvPr id="29" name="Shape 26"/>
          <p:cNvSpPr/>
          <p:nvPr/>
        </p:nvSpPr>
        <p:spPr>
          <a:xfrm>
            <a:off x="594360" y="3703320"/>
            <a:ext cx="457200" cy="457200"/>
          </a:xfrm>
          <a:prstGeom prst="ellipse">
            <a:avLst/>
          </a:prstGeom>
          <a:solidFill>
            <a:schemeClr val="accent2"/>
          </a:solidFill>
          <a:ln w="12700">
            <a:solidFill>
              <a:schemeClr val="bg1"/>
            </a:solidFill>
            <a:prstDash val="solid"/>
          </a:ln>
        </p:spPr>
      </p:sp>
      <p:sp>
        <p:nvSpPr>
          <p:cNvPr id="30" name="Text 27"/>
          <p:cNvSpPr txBox="1"/>
          <p:nvPr/>
        </p:nvSpPr>
        <p:spPr>
          <a:xfrm>
            <a:off x="594360" y="3703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1" name="Text 28"/>
          <p:cNvSpPr txBox="1"/>
          <p:nvPr/>
        </p:nvSpPr>
        <p:spPr>
          <a:xfrm>
            <a:off x="1188720" y="356616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One root-cause explanation</a:t>
            </a:r>
            <a:endParaRPr lang="en-US" sz="1500" dirty="0"/>
          </a:p>
        </p:txBody>
      </p:sp>
      <p:sp>
        <p:nvSpPr>
          <p:cNvPr id="32" name="Shape 29"/>
          <p:cNvSpPr/>
          <p:nvPr/>
        </p:nvSpPr>
        <p:spPr>
          <a:xfrm>
            <a:off x="3291840" y="3474720"/>
            <a:ext cx="2560320" cy="914400"/>
          </a:xfrm>
          <a:prstGeom prst="roundRect">
            <a:avLst>
              <a:gd name="adj" fmla="val 10000"/>
            </a:avLst>
          </a:prstGeom>
          <a:solidFill>
            <a:schemeClr val="bg2"/>
          </a:solidFill>
          <a:ln w="12700">
            <a:solidFill>
              <a:schemeClr val="bg2"/>
            </a:solidFill>
            <a:prstDash val="solid"/>
          </a:ln>
        </p:spPr>
      </p:sp>
      <p:sp>
        <p:nvSpPr>
          <p:cNvPr id="33" name="Shape 30"/>
          <p:cNvSpPr/>
          <p:nvPr/>
        </p:nvSpPr>
        <p:spPr>
          <a:xfrm>
            <a:off x="3429000" y="3703320"/>
            <a:ext cx="457200" cy="457200"/>
          </a:xfrm>
          <a:prstGeom prst="ellipse">
            <a:avLst/>
          </a:prstGeom>
          <a:solidFill>
            <a:schemeClr val="accent2"/>
          </a:solidFill>
          <a:ln w="12700">
            <a:solidFill>
              <a:schemeClr val="bg1"/>
            </a:solidFill>
            <a:prstDash val="solid"/>
          </a:ln>
        </p:spPr>
      </p:sp>
      <p:sp>
        <p:nvSpPr>
          <p:cNvPr id="34" name="Text 31"/>
          <p:cNvSpPr txBox="1"/>
          <p:nvPr/>
        </p:nvSpPr>
        <p:spPr>
          <a:xfrm>
            <a:off x="3429000" y="3703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35" name="Text 32"/>
          <p:cNvSpPr txBox="1"/>
          <p:nvPr/>
        </p:nvSpPr>
        <p:spPr>
          <a:xfrm>
            <a:off x="4023360" y="356616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One recovery recommendation</a:t>
            </a:r>
            <a:endParaRPr lang="en-US" sz="1500" dirty="0"/>
          </a:p>
        </p:txBody>
      </p:sp>
      <p:sp>
        <p:nvSpPr>
          <p:cNvPr id="36" name="Shape 33"/>
          <p:cNvSpPr/>
          <p:nvPr/>
        </p:nvSpPr>
        <p:spPr>
          <a:xfrm>
            <a:off x="6126480" y="3474720"/>
            <a:ext cx="2560320" cy="914400"/>
          </a:xfrm>
          <a:prstGeom prst="roundRect">
            <a:avLst>
              <a:gd name="adj" fmla="val 10000"/>
            </a:avLst>
          </a:prstGeom>
          <a:solidFill>
            <a:schemeClr val="bg2"/>
          </a:solidFill>
          <a:ln w="12700">
            <a:solidFill>
              <a:schemeClr val="bg2"/>
            </a:solidFill>
            <a:prstDash val="solid"/>
          </a:ln>
        </p:spPr>
      </p:sp>
      <p:sp>
        <p:nvSpPr>
          <p:cNvPr id="37" name="Shape 34"/>
          <p:cNvSpPr/>
          <p:nvPr/>
        </p:nvSpPr>
        <p:spPr>
          <a:xfrm>
            <a:off x="6263640" y="3703320"/>
            <a:ext cx="457200" cy="457200"/>
          </a:xfrm>
          <a:prstGeom prst="ellipse">
            <a:avLst/>
          </a:prstGeom>
          <a:solidFill>
            <a:schemeClr val="accent2"/>
          </a:solidFill>
          <a:ln w="12700">
            <a:solidFill>
              <a:schemeClr val="bg1"/>
            </a:solidFill>
            <a:prstDash val="solid"/>
          </a:ln>
        </p:spPr>
      </p:sp>
      <p:sp>
        <p:nvSpPr>
          <p:cNvPr id="38" name="Text 35"/>
          <p:cNvSpPr txBox="1"/>
          <p:nvPr/>
        </p:nvSpPr>
        <p:spPr>
          <a:xfrm>
            <a:off x="6263640" y="3703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39" name="Text 36"/>
          <p:cNvSpPr txBox="1"/>
          <p:nvPr/>
        </p:nvSpPr>
        <p:spPr>
          <a:xfrm>
            <a:off x="6858000" y="356616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One verification step</a:t>
            </a:r>
            <a:endParaRPr lang="en-US" sz="1500" dirty="0"/>
          </a:p>
        </p:txBody>
      </p:sp>
      <p:sp>
        <p:nvSpPr>
          <p:cNvPr id="40" name="Text 37"/>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400" i="1" dirty="0">
                <a:solidFill>
                  <a:schemeClr val="tx2"/>
                </a:solidFill>
              </a:rPr>
              <a:t>Consistent structure makes a failure easy to compare with the baseline.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Verify CLAUDE.md with grep</a:t>
            </a:r>
            <a:endParaRPr lang="en-US" sz="3000" dirty="0"/>
          </a:p>
        </p:txBody>
      </p:sp>
      <p:graphicFrame>
        <p:nvGraphicFramePr>
          <p:cNvPr id="32"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188720"/>
                <a:gridCol w="4297680"/>
                <a:gridCol w="2743200"/>
              </a:tblGrid>
              <a:tr h="411480">
                <a:tc>
                  <a:txBody>
                    <a:bodyPr/>
                    <a:lstStyle/>
                    <a:p>
                      <a:pPr indent="0" marL="0">
                        <a:buNone/>
                      </a:pPr>
                      <a:r>
                        <a:rPr lang="en-US" sz="1300" b="1" dirty="0">
                          <a:solidFill>
                            <a:schemeClr val="bg1"/>
                          </a:solidFill>
                        </a:rPr>
                        <a:t>Check</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Command</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Proves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411480">
                <a:tc>
                  <a:txBody>
                    <a:bodyPr/>
                    <a:lstStyle/>
                    <a:p>
                      <a:pPr indent="0" marL="0">
                        <a:buNone/>
                      </a:pPr>
                      <a:r>
                        <a:rPr lang="en-US" sz="1300" b="1" dirty="0">
                          <a:solidFill>
                            <a:schemeClr val="tx1"/>
                          </a:solidFill>
                        </a:rPr>
                        <a:t>File name</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ls -la CLAUDE.md</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Exact capitalisation</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chemeClr val="tx1"/>
                          </a:solidFill>
                        </a:rPr>
                        <a:t>4 sections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-n "^#" CLAUDE.md</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 headings present</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11480">
                <a:tc>
                  <a:txBody>
                    <a:bodyPr/>
                    <a:lstStyle/>
                    <a:p>
                      <a:pPr indent="0" marL="0">
                        <a:buNone/>
                      </a:pPr>
                      <a:r>
                        <a:rPr lang="en-US" sz="1300" b="1" dirty="0">
                          <a:solidFill>
                            <a:schemeClr val="tx1"/>
                          </a:solidFill>
                        </a:rPr>
                        <a:t>Order</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-A10 "# Incident Workflow" CLAUDE.md</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Gather &gt; Analyze &gt; Act &gt; Verify</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chemeClr val="tx1"/>
                          </a:solidFill>
                        </a:rPr>
                        <a:t>No mutation</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-iE "trigger|retry|cancel|approve" CLAUDE.md</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Run changes blocked</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11480">
                <a:tc>
                  <a:txBody>
                    <a:bodyPr/>
                    <a:lstStyle/>
                    <a:p>
                      <a:pPr indent="0" marL="0">
                        <a:buNone/>
                      </a:pPr>
                      <a:r>
                        <a:rPr lang="en-US" sz="1300" b="1" dirty="0">
                          <a:solidFill>
                            <a:schemeClr val="tx1"/>
                          </a:solidFill>
                        </a:rPr>
                        <a:t>IaC tools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-iE "terraform|ansible" CLAUDE.md</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Not allowed to run them</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chemeClr val="tx1"/>
                          </a:solidFill>
                        </a:rPr>
                        <a:t>Secrets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-iE "token|password|credential" CLAUDE.md</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Secret handling covered</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11480">
                <a:tc>
                  <a:txBody>
                    <a:bodyPr/>
                    <a:lstStyle/>
                    <a:p>
                      <a:pPr indent="0" marL="0">
                        <a:buNone/>
                      </a:pPr>
                      <a:r>
                        <a:rPr lang="en-US" sz="1300" b="1" dirty="0">
                          <a:solidFill>
                            <a:schemeClr val="tx1"/>
                          </a:solidFill>
                        </a:rPr>
                        <a:t>No auto-fix</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-i "recommend a fix" CLAUDE.md</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Human applies the fix</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640080" y="1783080"/>
            <a:ext cx="5669280" cy="1097280"/>
          </a:xfrm>
          <a:prstGeom prst="rect">
            <a:avLst/>
          </a:prstGeom>
          <a:noFill/>
          <a:ln/>
        </p:spPr>
        <p:txBody>
          <a:bodyPr wrap="square" lIns="0" tIns="0" rIns="0" bIns="0" rtlCol="0" anchor="t"/>
          <a:lstStyle/>
          <a:p>
            <a:pPr algn="l" indent="0" marL="0">
              <a:buNone/>
            </a:pPr>
            <a:r>
              <a:rPr lang="en-US" sz="3800" b="1" dirty="0">
                <a:solidFill>
                  <a:schemeClr val="bg1"/>
                </a:solidFill>
              </a:rPr>
              <a:t>The Triage Script</a:t>
            </a:r>
            <a:endParaRPr lang="en-US" sz="3800" dirty="0"/>
          </a:p>
        </p:txBody>
      </p:sp>
      <p:sp>
        <p:nvSpPr>
          <p:cNvPr id="3" name="Text 1"/>
          <p:cNvSpPr/>
          <p:nvPr>
            <p:ph idx="102" type="body" hasCustomPrompt="1"/>
          </p:nvPr>
        </p:nvSpPr>
        <p:spPr>
          <a:xfrm>
            <a:off x="640080" y="2971800"/>
            <a:ext cx="5669280" cy="1005840"/>
          </a:xfrm>
          <a:prstGeom prst="rect">
            <a:avLst/>
          </a:prstGeom>
          <a:noFill/>
          <a:ln/>
        </p:spPr>
        <p:txBody>
          <a:bodyPr wrap="square" lIns="0" tIns="0" rIns="0" bIns="0" rtlCol="0" anchor="t"/>
          <a:lstStyle/>
          <a:p>
            <a:pPr algn="l" indent="0" marL="0">
              <a:buNone/>
            </a:pPr>
            <a:r>
              <a:rPr lang="en-US" sz="1800" dirty="0">
                <a:solidFill>
                  <a:schemeClr val="bg1"/>
                </a:solidFill>
              </a:rPr>
              <a:t>Configure the supplied pipeline-triage.sh, inspect it before trusting it, then run it on the healthy pipelines.</a:t>
            </a:r>
            <a:endParaRPr lang="en-US" sz="1800" dirty="0"/>
          </a:p>
        </p:txBody>
      </p:sp>
      <p:sp>
        <p:nvSpPr>
          <p:cNvPr id="4" name="Text 2"/>
          <p:cNvSpPr txBox="1"/>
          <p:nvPr/>
        </p:nvSpPr>
        <p:spPr>
          <a:xfrm>
            <a:off x="640080" y="1325880"/>
            <a:ext cx="5486400" cy="320040"/>
          </a:xfrm>
          <a:prstGeom prst="rect">
            <a:avLst/>
          </a:prstGeom>
          <a:noFill/>
          <a:ln/>
        </p:spPr>
        <p:txBody>
          <a:bodyPr wrap="square" lIns="0" tIns="0" rIns="0" bIns="0" rtlCol="0" anchor="ctr"/>
          <a:lstStyle/>
          <a:p>
            <a:pPr indent="0" marL="0">
              <a:buNone/>
            </a:pPr>
            <a:r>
              <a:rPr lang="en-US" sz="1400" b="1" spc="300" kern="0" dirty="0">
                <a:solidFill>
                  <a:schemeClr val="bg1"/>
                </a:solidFill>
              </a:rPr>
              <a:t>PART 4 · TASKS 3-4</a:t>
            </a:r>
            <a:endParaRPr lang="en-US" sz="1400" dirty="0"/>
          </a:p>
        </p:txBody>
      </p:sp>
      <p:sp>
        <p:nvSpPr>
          <p:cNvPr id="5" name="Shape 3"/>
          <p:cNvSpPr/>
          <p:nvPr/>
        </p:nvSpPr>
        <p:spPr>
          <a:xfrm>
            <a:off x="6675120" y="1554480"/>
            <a:ext cx="1920240" cy="1920240"/>
          </a:xfrm>
          <a:prstGeom prst="ellipse">
            <a:avLst/>
          </a:prstGeom>
          <a:solidFill>
            <a:schemeClr val="tx1"/>
          </a:solidFill>
          <a:ln w="12700">
            <a:solidFill>
              <a:schemeClr val="tx1"/>
            </a:solidFill>
            <a:prstDash val="solid"/>
          </a:ln>
        </p:spPr>
      </p:sp>
      <p:pic>
        <p:nvPicPr>
          <p:cNvPr id="6" name="Image 0" descr="FaTerminal">    </p:cNvPr>
          <p:cNvPicPr>
            <a:picLocks noChangeAspect="1"/>
          </p:cNvPicPr>
          <p:nvPr/>
        </p:nvPicPr>
        <p:blipFill>
          <a:blip r:embed="rId1"/>
          <a:stretch>
            <a:fillRect/>
          </a:stretch>
        </p:blipFill>
        <p:spPr>
          <a:xfrm>
            <a:off x="7132320" y="2011680"/>
            <a:ext cx="1005840" cy="10058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pipeline-triage.sh does, end to end</a:t>
            </a:r>
            <a:endParaRPr lang="en-US" sz="3000" dirty="0"/>
          </a:p>
        </p:txBody>
      </p:sp>
      <p:sp>
        <p:nvSpPr>
          <p:cNvPr id="4" name="step 1"/>
          <p:cNvSpPr/>
          <p:nvPr/>
        </p:nvSpPr>
        <p:spPr>
          <a:xfrm>
            <a:off x="457200" y="1234440"/>
            <a:ext cx="1817370" cy="1325880"/>
          </a:xfrm>
          <a:prstGeom prst="roundRect">
            <a:avLst>
              <a:gd name="adj" fmla="val 6897"/>
            </a:avLst>
          </a:prstGeom>
          <a:solidFill>
            <a:schemeClr val="accent4"/>
          </a:solidFill>
          <a:ln w="12700">
            <a:solidFill>
              <a:schemeClr val="accent4"/>
            </a:solidFill>
            <a:prstDash val="solid"/>
          </a:ln>
        </p:spPr>
      </p:sp>
      <p:sp>
        <p:nvSpPr>
          <p:cNvPr id="5" name="Text 2"/>
          <p:cNvSpPr txBox="1"/>
          <p:nvPr/>
        </p:nvSpPr>
        <p:spPr>
          <a:xfrm>
            <a:off x="594360" y="1371600"/>
            <a:ext cx="1543050" cy="1097280"/>
          </a:xfrm>
          <a:prstGeom prst="rect">
            <a:avLst/>
          </a:prstGeom>
          <a:noFill/>
          <a:ln/>
        </p:spPr>
        <p:txBody>
          <a:bodyPr wrap="square" lIns="0" tIns="0" rIns="0" bIns="0" rtlCol="0" anchor="t"/>
          <a:lstStyle/>
          <a:p>
            <a:pPr indent="0" marL="0">
              <a:buNone/>
            </a:pPr>
            <a:r>
              <a:rPr lang="en-US" sz="1500" b="1" dirty="0">
                <a:solidFill>
                  <a:schemeClr val="bg1"/>
                </a:solidFill>
              </a:rPr>
              <a:t>Config</a:t>
            </a:r>
            <a:endParaRPr lang="en-US" sz="1500" dirty="0"/>
          </a:p>
          <a:p>
            <a:pPr indent="0" marL="0">
              <a:buNone/>
            </a:pPr>
            <a:r>
              <a:rPr lang="en-US" sz="1300" dirty="0">
                <a:solidFill>
                  <a:schemeClr val="bg1"/>
                </a:solidFill>
              </a:rPr>
              <a:t>org, project, IDs, report paths</a:t>
            </a:r>
            <a:endParaRPr lang="en-US" sz="1500" dirty="0"/>
          </a:p>
        </p:txBody>
      </p:sp>
      <p:sp>
        <p:nvSpPr>
          <p:cNvPr id="6" name="arrow"/>
          <p:cNvSpPr/>
          <p:nvPr/>
        </p:nvSpPr>
        <p:spPr>
          <a:xfrm>
            <a:off x="2320290" y="1897380"/>
            <a:ext cx="228600" cy="0"/>
          </a:xfrm>
          <a:prstGeom prst="line">
            <a:avLst/>
          </a:prstGeom>
          <a:noFill/>
          <a:ln w="28575">
            <a:solidFill>
              <a:schemeClr val="tx2"/>
            </a:solidFill>
            <a:prstDash val="solid"/>
            <a:tailEnd type="triangle"/>
          </a:ln>
        </p:spPr>
      </p:sp>
      <p:sp>
        <p:nvSpPr>
          <p:cNvPr id="7" name="step 2"/>
          <p:cNvSpPr/>
          <p:nvPr/>
        </p:nvSpPr>
        <p:spPr>
          <a:xfrm>
            <a:off x="2594610" y="1234440"/>
            <a:ext cx="1817370" cy="1325880"/>
          </a:xfrm>
          <a:prstGeom prst="roundRect">
            <a:avLst>
              <a:gd name="adj" fmla="val 6897"/>
            </a:avLst>
          </a:prstGeom>
          <a:solidFill>
            <a:schemeClr val="accent4"/>
          </a:solidFill>
          <a:ln w="12700">
            <a:solidFill>
              <a:schemeClr val="accent4"/>
            </a:solidFill>
            <a:prstDash val="solid"/>
          </a:ln>
        </p:spPr>
      </p:sp>
      <p:sp>
        <p:nvSpPr>
          <p:cNvPr id="8" name="Text 5"/>
          <p:cNvSpPr txBox="1"/>
          <p:nvPr/>
        </p:nvSpPr>
        <p:spPr>
          <a:xfrm>
            <a:off x="2731770" y="1371600"/>
            <a:ext cx="1543050" cy="1097280"/>
          </a:xfrm>
          <a:prstGeom prst="rect">
            <a:avLst/>
          </a:prstGeom>
          <a:noFill/>
          <a:ln/>
        </p:spPr>
        <p:txBody>
          <a:bodyPr wrap="square" lIns="0" tIns="0" rIns="0" bIns="0" rtlCol="0" anchor="t"/>
          <a:lstStyle/>
          <a:p>
            <a:pPr indent="0" marL="0">
              <a:buNone/>
            </a:pPr>
            <a:r>
              <a:rPr lang="en-US" sz="1500" b="1" dirty="0">
                <a:solidFill>
                  <a:schemeClr val="bg1"/>
                </a:solidFill>
              </a:rPr>
              <a:t>Preflight</a:t>
            </a:r>
            <a:endParaRPr lang="en-US" sz="1500" dirty="0"/>
          </a:p>
          <a:p>
            <a:pPr indent="0" marL="0">
              <a:buNone/>
            </a:pPr>
            <a:r>
              <a:rPr lang="en-US" sz="1300" dirty="0">
                <a:solidFill>
                  <a:schemeClr val="bg1"/>
                </a:solidFill>
              </a:rPr>
              <a:t>tools and sign-in present?</a:t>
            </a:r>
            <a:endParaRPr lang="en-US" sz="1500" dirty="0"/>
          </a:p>
        </p:txBody>
      </p:sp>
      <p:sp>
        <p:nvSpPr>
          <p:cNvPr id="9" name="arrow"/>
          <p:cNvSpPr/>
          <p:nvPr/>
        </p:nvSpPr>
        <p:spPr>
          <a:xfrm>
            <a:off x="4457700" y="1897380"/>
            <a:ext cx="228600" cy="0"/>
          </a:xfrm>
          <a:prstGeom prst="line">
            <a:avLst/>
          </a:prstGeom>
          <a:noFill/>
          <a:ln w="28575">
            <a:solidFill>
              <a:schemeClr val="tx2"/>
            </a:solidFill>
            <a:prstDash val="solid"/>
            <a:tailEnd type="triangle"/>
          </a:ln>
        </p:spPr>
      </p:sp>
      <p:sp>
        <p:nvSpPr>
          <p:cNvPr id="10" name="step 3"/>
          <p:cNvSpPr/>
          <p:nvPr/>
        </p:nvSpPr>
        <p:spPr>
          <a:xfrm>
            <a:off x="4732020" y="1234440"/>
            <a:ext cx="1817370" cy="1325880"/>
          </a:xfrm>
          <a:prstGeom prst="roundRect">
            <a:avLst>
              <a:gd name="adj" fmla="val 6897"/>
            </a:avLst>
          </a:prstGeom>
          <a:solidFill>
            <a:schemeClr val="accent2"/>
          </a:solidFill>
          <a:ln w="12700">
            <a:solidFill>
              <a:schemeClr val="accent2"/>
            </a:solidFill>
            <a:prstDash val="solid"/>
          </a:ln>
        </p:spPr>
      </p:sp>
      <p:sp>
        <p:nvSpPr>
          <p:cNvPr id="11" name="Text 8"/>
          <p:cNvSpPr txBox="1"/>
          <p:nvPr/>
        </p:nvSpPr>
        <p:spPr>
          <a:xfrm>
            <a:off x="4869180" y="1371600"/>
            <a:ext cx="1543050" cy="1097280"/>
          </a:xfrm>
          <a:prstGeom prst="rect">
            <a:avLst/>
          </a:prstGeom>
          <a:noFill/>
          <a:ln/>
        </p:spPr>
        <p:txBody>
          <a:bodyPr wrap="square" lIns="0" tIns="0" rIns="0" bIns="0" rtlCol="0" anchor="t"/>
          <a:lstStyle/>
          <a:p>
            <a:pPr indent="0" marL="0">
              <a:buNone/>
            </a:pPr>
            <a:r>
              <a:rPr lang="en-US" sz="1500" b="1" dirty="0">
                <a:solidFill>
                  <a:schemeClr val="bg1"/>
                </a:solidFill>
              </a:rPr>
              <a:t>Get latest run</a:t>
            </a:r>
            <a:endParaRPr lang="en-US" sz="1500" dirty="0"/>
          </a:p>
          <a:p>
            <a:pPr indent="0" marL="0">
              <a:buNone/>
            </a:pPr>
            <a:r>
              <a:rPr lang="en-US" sz="1300" dirty="0">
                <a:solidFill>
                  <a:schemeClr val="bg1"/>
                </a:solidFill>
              </a:rPr>
              <a:t>status, result, branch, time</a:t>
            </a:r>
            <a:endParaRPr lang="en-US" sz="1500" dirty="0"/>
          </a:p>
        </p:txBody>
      </p:sp>
      <p:sp>
        <p:nvSpPr>
          <p:cNvPr id="12" name="arrow"/>
          <p:cNvSpPr/>
          <p:nvPr/>
        </p:nvSpPr>
        <p:spPr>
          <a:xfrm>
            <a:off x="6595110" y="1897380"/>
            <a:ext cx="228600" cy="0"/>
          </a:xfrm>
          <a:prstGeom prst="line">
            <a:avLst/>
          </a:prstGeom>
          <a:noFill/>
          <a:ln w="28575">
            <a:solidFill>
              <a:schemeClr val="tx2"/>
            </a:solidFill>
            <a:prstDash val="solid"/>
            <a:tailEnd type="triangle"/>
          </a:ln>
        </p:spPr>
      </p:sp>
      <p:sp>
        <p:nvSpPr>
          <p:cNvPr id="13" name="step 4"/>
          <p:cNvSpPr/>
          <p:nvPr/>
        </p:nvSpPr>
        <p:spPr>
          <a:xfrm>
            <a:off x="6869430" y="1234440"/>
            <a:ext cx="1817370" cy="1325880"/>
          </a:xfrm>
          <a:prstGeom prst="roundRect">
            <a:avLst>
              <a:gd name="adj" fmla="val 6897"/>
            </a:avLst>
          </a:prstGeom>
          <a:solidFill>
            <a:schemeClr val="accent2"/>
          </a:solidFill>
          <a:ln w="12700">
            <a:solidFill>
              <a:schemeClr val="accent2"/>
            </a:solidFill>
            <a:prstDash val="solid"/>
          </a:ln>
        </p:spPr>
      </p:sp>
      <p:sp>
        <p:nvSpPr>
          <p:cNvPr id="14" name="Text 11"/>
          <p:cNvSpPr txBox="1"/>
          <p:nvPr/>
        </p:nvSpPr>
        <p:spPr>
          <a:xfrm>
            <a:off x="7006590" y="1371600"/>
            <a:ext cx="1543050" cy="1097280"/>
          </a:xfrm>
          <a:prstGeom prst="rect">
            <a:avLst/>
          </a:prstGeom>
          <a:noFill/>
          <a:ln/>
        </p:spPr>
        <p:txBody>
          <a:bodyPr wrap="square" lIns="0" tIns="0" rIns="0" bIns="0" rtlCol="0" anchor="t"/>
          <a:lstStyle/>
          <a:p>
            <a:pPr indent="0" marL="0">
              <a:buNone/>
            </a:pPr>
            <a:r>
              <a:rPr lang="en-US" sz="1500" b="1" dirty="0">
                <a:solidFill>
                  <a:schemeClr val="bg1"/>
                </a:solidFill>
              </a:rPr>
              <a:t>Fetch logs</a:t>
            </a:r>
            <a:endParaRPr lang="en-US" sz="1500" dirty="0"/>
          </a:p>
          <a:p>
            <a:pPr indent="0" marL="0">
              <a:buNone/>
            </a:pPr>
            <a:r>
              <a:rPr lang="en-US" sz="1300" dirty="0">
                <a:solidFill>
                  <a:schemeClr val="bg1"/>
                </a:solidFill>
              </a:rPr>
              <a:t>fetch_build_logs()</a:t>
            </a:r>
            <a:endParaRPr lang="en-US" sz="1500" dirty="0"/>
          </a:p>
        </p:txBody>
      </p:sp>
      <p:sp>
        <p:nvSpPr>
          <p:cNvPr id="15" name="step 1"/>
          <p:cNvSpPr/>
          <p:nvPr/>
        </p:nvSpPr>
        <p:spPr>
          <a:xfrm>
            <a:off x="457200" y="2834640"/>
            <a:ext cx="1817370" cy="1325880"/>
          </a:xfrm>
          <a:prstGeom prst="roundRect">
            <a:avLst>
              <a:gd name="adj" fmla="val 6897"/>
            </a:avLst>
          </a:prstGeom>
          <a:solidFill>
            <a:schemeClr val="accent5"/>
          </a:solidFill>
          <a:ln w="12700">
            <a:solidFill>
              <a:schemeClr val="accent5"/>
            </a:solidFill>
            <a:prstDash val="solid"/>
          </a:ln>
        </p:spPr>
      </p:sp>
      <p:sp>
        <p:nvSpPr>
          <p:cNvPr id="16" name="Text 13"/>
          <p:cNvSpPr txBox="1"/>
          <p:nvPr/>
        </p:nvSpPr>
        <p:spPr>
          <a:xfrm>
            <a:off x="594360" y="2971800"/>
            <a:ext cx="1543050" cy="1097280"/>
          </a:xfrm>
          <a:prstGeom prst="rect">
            <a:avLst/>
          </a:prstGeom>
          <a:noFill/>
          <a:ln/>
        </p:spPr>
        <p:txBody>
          <a:bodyPr wrap="square" lIns="0" tIns="0" rIns="0" bIns="0" rtlCol="0" anchor="t"/>
          <a:lstStyle/>
          <a:p>
            <a:pPr indent="0" marL="0">
              <a:buNone/>
            </a:pPr>
            <a:r>
              <a:rPr lang="en-US" sz="1500" b="1" dirty="0">
                <a:solidFill>
                  <a:schemeClr val="bg1"/>
                </a:solidFill>
              </a:rPr>
              <a:t>Sanitize</a:t>
            </a:r>
            <a:endParaRPr lang="en-US" sz="1500" dirty="0"/>
          </a:p>
          <a:p>
            <a:pPr indent="0" marL="0">
              <a:buNone/>
            </a:pPr>
            <a:r>
              <a:rPr lang="en-US" sz="1300" dirty="0">
                <a:solidFill>
                  <a:schemeClr val="bg1"/>
                </a:solidFill>
              </a:rPr>
              <a:t>sanitize_line() redacts secrets</a:t>
            </a:r>
            <a:endParaRPr lang="en-US" sz="1500" dirty="0"/>
          </a:p>
        </p:txBody>
      </p:sp>
      <p:sp>
        <p:nvSpPr>
          <p:cNvPr id="17" name="arrow"/>
          <p:cNvSpPr/>
          <p:nvPr/>
        </p:nvSpPr>
        <p:spPr>
          <a:xfrm>
            <a:off x="2320290" y="3497580"/>
            <a:ext cx="228600" cy="0"/>
          </a:xfrm>
          <a:prstGeom prst="line">
            <a:avLst/>
          </a:prstGeom>
          <a:noFill/>
          <a:ln w="28575">
            <a:solidFill>
              <a:schemeClr val="tx2"/>
            </a:solidFill>
            <a:prstDash val="solid"/>
            <a:tailEnd type="triangle"/>
          </a:ln>
        </p:spPr>
      </p:sp>
      <p:sp>
        <p:nvSpPr>
          <p:cNvPr id="18" name="step 2"/>
          <p:cNvSpPr/>
          <p:nvPr/>
        </p:nvSpPr>
        <p:spPr>
          <a:xfrm>
            <a:off x="2594610" y="2834640"/>
            <a:ext cx="1817370" cy="1325880"/>
          </a:xfrm>
          <a:prstGeom prst="roundRect">
            <a:avLst>
              <a:gd name="adj" fmla="val 6897"/>
            </a:avLst>
          </a:prstGeom>
          <a:solidFill>
            <a:schemeClr val="accent5"/>
          </a:solidFill>
          <a:ln w="12700">
            <a:solidFill>
              <a:schemeClr val="accent5"/>
            </a:solidFill>
            <a:prstDash val="solid"/>
          </a:ln>
        </p:spPr>
      </p:sp>
      <p:sp>
        <p:nvSpPr>
          <p:cNvPr id="19" name="Text 16"/>
          <p:cNvSpPr txBox="1"/>
          <p:nvPr/>
        </p:nvSpPr>
        <p:spPr>
          <a:xfrm>
            <a:off x="2731770" y="2971800"/>
            <a:ext cx="1543050" cy="1097280"/>
          </a:xfrm>
          <a:prstGeom prst="rect">
            <a:avLst/>
          </a:prstGeom>
          <a:noFill/>
          <a:ln/>
        </p:spPr>
        <p:txBody>
          <a:bodyPr wrap="square" lIns="0" tIns="0" rIns="0" bIns="0" rtlCol="0" anchor="t"/>
          <a:lstStyle/>
          <a:p>
            <a:pPr indent="0" marL="0">
              <a:buNone/>
            </a:pPr>
            <a:r>
              <a:rPr lang="en-US" sz="1500" b="1" dirty="0">
                <a:solidFill>
                  <a:schemeClr val="bg1"/>
                </a:solidFill>
              </a:rPr>
              <a:t>Classify</a:t>
            </a:r>
            <a:endParaRPr lang="en-US" sz="1500" dirty="0"/>
          </a:p>
          <a:p>
            <a:pPr indent="0" marL="0">
              <a:buNone/>
            </a:pPr>
            <a:r>
              <a:rPr lang="en-US" sz="1300" dirty="0">
                <a:solidFill>
                  <a:schemeClr val="bg1"/>
                </a:solidFill>
              </a:rPr>
              <a:t>8 categories + fallback</a:t>
            </a:r>
            <a:endParaRPr lang="en-US" sz="1500" dirty="0"/>
          </a:p>
        </p:txBody>
      </p:sp>
      <p:sp>
        <p:nvSpPr>
          <p:cNvPr id="20" name="arrow"/>
          <p:cNvSpPr/>
          <p:nvPr/>
        </p:nvSpPr>
        <p:spPr>
          <a:xfrm>
            <a:off x="4457700" y="3497580"/>
            <a:ext cx="228600" cy="0"/>
          </a:xfrm>
          <a:prstGeom prst="line">
            <a:avLst/>
          </a:prstGeom>
          <a:noFill/>
          <a:ln w="28575">
            <a:solidFill>
              <a:schemeClr val="tx2"/>
            </a:solidFill>
            <a:prstDash val="solid"/>
            <a:tailEnd type="triangle"/>
          </a:ln>
        </p:spPr>
      </p:sp>
      <p:sp>
        <p:nvSpPr>
          <p:cNvPr id="21" name="step 3"/>
          <p:cNvSpPr/>
          <p:nvPr/>
        </p:nvSpPr>
        <p:spPr>
          <a:xfrm>
            <a:off x="4732020" y="2834640"/>
            <a:ext cx="1817370" cy="1325880"/>
          </a:xfrm>
          <a:prstGeom prst="roundRect">
            <a:avLst>
              <a:gd name="adj" fmla="val 6897"/>
            </a:avLst>
          </a:prstGeom>
          <a:solidFill>
            <a:schemeClr val="accent1"/>
          </a:solidFill>
          <a:ln w="12700">
            <a:solidFill>
              <a:schemeClr val="accent1"/>
            </a:solidFill>
            <a:prstDash val="solid"/>
          </a:ln>
        </p:spPr>
      </p:sp>
      <p:sp>
        <p:nvSpPr>
          <p:cNvPr id="22" name="Text 19"/>
          <p:cNvSpPr txBox="1"/>
          <p:nvPr/>
        </p:nvSpPr>
        <p:spPr>
          <a:xfrm>
            <a:off x="4869180" y="2971800"/>
            <a:ext cx="1543050" cy="1097280"/>
          </a:xfrm>
          <a:prstGeom prst="rect">
            <a:avLst/>
          </a:prstGeom>
          <a:noFill/>
          <a:ln/>
        </p:spPr>
        <p:txBody>
          <a:bodyPr wrap="square" lIns="0" tIns="0" rIns="0" bIns="0" rtlCol="0" anchor="t"/>
          <a:lstStyle/>
          <a:p>
            <a:pPr indent="0" marL="0">
              <a:buNone/>
            </a:pPr>
            <a:r>
              <a:rPr lang="en-US" sz="1500" b="1" dirty="0">
                <a:solidFill>
                  <a:schemeClr val="tx1"/>
                </a:solidFill>
              </a:rPr>
              <a:t>Report</a:t>
            </a:r>
            <a:endParaRPr lang="en-US" sz="1500" dirty="0"/>
          </a:p>
          <a:p>
            <a:pPr indent="0" marL="0">
              <a:buNone/>
            </a:pPr>
            <a:r>
              <a:rPr lang="en-US" sz="1300" dirty="0">
                <a:solidFill>
                  <a:schemeClr val="tx1"/>
                </a:solidFill>
              </a:rPr>
              <a:t>summary and evidence files</a:t>
            </a:r>
            <a:endParaRPr lang="en-US" sz="1500" dirty="0"/>
          </a:p>
        </p:txBody>
      </p:sp>
      <p:sp>
        <p:nvSpPr>
          <p:cNvPr id="23" name="arrow"/>
          <p:cNvSpPr/>
          <p:nvPr/>
        </p:nvSpPr>
        <p:spPr>
          <a:xfrm>
            <a:off x="6595110" y="3497580"/>
            <a:ext cx="228600" cy="0"/>
          </a:xfrm>
          <a:prstGeom prst="line">
            <a:avLst/>
          </a:prstGeom>
          <a:noFill/>
          <a:ln w="28575">
            <a:solidFill>
              <a:schemeClr val="tx2"/>
            </a:solidFill>
            <a:prstDash val="solid"/>
            <a:tailEnd type="triangle"/>
          </a:ln>
        </p:spPr>
      </p:sp>
      <p:sp>
        <p:nvSpPr>
          <p:cNvPr id="24" name="step 4"/>
          <p:cNvSpPr/>
          <p:nvPr/>
        </p:nvSpPr>
        <p:spPr>
          <a:xfrm>
            <a:off x="6869430" y="2834640"/>
            <a:ext cx="1817370" cy="1325880"/>
          </a:xfrm>
          <a:prstGeom prst="roundRect">
            <a:avLst>
              <a:gd name="adj" fmla="val 6897"/>
            </a:avLst>
          </a:prstGeom>
          <a:solidFill>
            <a:schemeClr val="accent6"/>
          </a:solidFill>
          <a:ln w="12700">
            <a:solidFill>
              <a:schemeClr val="accent6"/>
            </a:solidFill>
            <a:prstDash val="solid"/>
          </a:ln>
        </p:spPr>
      </p:sp>
      <p:sp>
        <p:nvSpPr>
          <p:cNvPr id="25" name="Text 22"/>
          <p:cNvSpPr txBox="1"/>
          <p:nvPr/>
        </p:nvSpPr>
        <p:spPr>
          <a:xfrm>
            <a:off x="7006590" y="2971800"/>
            <a:ext cx="1543050" cy="1097280"/>
          </a:xfrm>
          <a:prstGeom prst="rect">
            <a:avLst/>
          </a:prstGeom>
          <a:noFill/>
          <a:ln/>
        </p:spPr>
        <p:txBody>
          <a:bodyPr wrap="square" lIns="0" tIns="0" rIns="0" bIns="0" rtlCol="0" anchor="t"/>
          <a:lstStyle/>
          <a:p>
            <a:pPr indent="0" marL="0">
              <a:buNone/>
            </a:pPr>
            <a:r>
              <a:rPr lang="en-US" sz="1500" b="1" dirty="0">
                <a:solidFill>
                  <a:schemeClr val="bg1"/>
                </a:solidFill>
              </a:rPr>
              <a:t>Exit code</a:t>
            </a:r>
            <a:endParaRPr lang="en-US" sz="1500" dirty="0"/>
          </a:p>
          <a:p>
            <a:pPr indent="0" marL="0">
              <a:buNone/>
            </a:pPr>
            <a:r>
              <a:rPr lang="en-US" sz="1300" dirty="0">
                <a:solidFill>
                  <a:schemeClr val="bg1"/>
                </a:solidFill>
              </a:rPr>
              <a:t>0, 1, 2 or 3</a:t>
            </a:r>
            <a:endParaRPr lang="en-US" sz="1500" dirty="0"/>
          </a:p>
        </p:txBody>
      </p:sp>
      <p:sp>
        <p:nvSpPr>
          <p:cNvPr id="26" name="Text 23"/>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300" i="1" dirty="0">
                <a:solidFill>
                  <a:schemeClr val="tx2"/>
                </a:solidFill>
              </a:rPr>
              <a:t>process_pipeline() runs this for the Infrastructure and Application pipelines separately, so results never mix.</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3, step 1: configure the placeholders</a:t>
            </a:r>
            <a:endParaRPr lang="en-US" sz="3000" dirty="0"/>
          </a:p>
        </p:txBody>
      </p:sp>
      <p:sp>
        <p:nvSpPr>
          <p:cNvPr id="4" name="code panel"/>
          <p:cNvSpPr/>
          <p:nvPr/>
        </p:nvSpPr>
        <p:spPr>
          <a:xfrm>
            <a:off x="457200" y="1234440"/>
            <a:ext cx="5303520" cy="1600200"/>
          </a:xfrm>
          <a:prstGeom prst="roundRect">
            <a:avLst>
              <a:gd name="adj" fmla="val 4571"/>
            </a:avLst>
          </a:prstGeom>
          <a:solidFill>
            <a:schemeClr val="tx1"/>
          </a:solidFill>
          <a:ln w="12700">
            <a:solidFill>
              <a:schemeClr val="tx1"/>
            </a:solidFill>
            <a:prstDash val="solid"/>
          </a:ln>
        </p:spPr>
      </p:sp>
      <p:sp>
        <p:nvSpPr>
          <p:cNvPr id="5" name="code"/>
          <p:cNvSpPr txBox="1"/>
          <p:nvPr/>
        </p:nvSpPr>
        <p:spPr>
          <a:xfrm>
            <a:off x="621792" y="1344168"/>
            <a:ext cx="4974336" cy="138074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full_name="Your Full Name"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ado_org="https://dev.azure.com/DMI-Cohort-3"</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ado_project="Epicbook Deployment"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ado_infra_pipeline_id="9"</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ado_app_pipeline_id="10"</a:t>
            </a:r>
            <a:endParaRPr lang="en-US" sz="1300" dirty="0"/>
          </a:p>
        </p:txBody>
      </p:sp>
      <p:sp>
        <p:nvSpPr>
          <p:cNvPr id="6" name="code panel"/>
          <p:cNvSpPr/>
          <p:nvPr/>
        </p:nvSpPr>
        <p:spPr>
          <a:xfrm>
            <a:off x="457200" y="3017520"/>
            <a:ext cx="5303520" cy="1371600"/>
          </a:xfrm>
          <a:prstGeom prst="roundRect">
            <a:avLst>
              <a:gd name="adj" fmla="val 5333"/>
            </a:avLst>
          </a:prstGeom>
          <a:solidFill>
            <a:schemeClr val="tx1"/>
          </a:solidFill>
          <a:ln w="12700">
            <a:solidFill>
              <a:schemeClr val="tx1"/>
            </a:solidFill>
            <a:prstDash val="solid"/>
          </a:ln>
        </p:spPr>
      </p:sp>
      <p:sp>
        <p:nvSpPr>
          <p:cNvPr id="7" name="code"/>
          <p:cNvSpPr txBox="1"/>
          <p:nvPr/>
        </p:nvSpPr>
        <p:spPr>
          <a:xfrm>
            <a:off x="621792" y="3127248"/>
            <a:ext cx="4974336" cy="1152144"/>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 confirm all five are set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grep -n "full_name=\|ado_org=\|ado_project=\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\|ado_infra_pipeline_id=\|ado_app_pipeline_id="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pipeline-triage.sh</a:t>
            </a:r>
            <a:endParaRPr lang="en-US" sz="1200" dirty="0"/>
          </a:p>
        </p:txBody>
      </p:sp>
      <p:sp>
        <p:nvSpPr>
          <p:cNvPr id="8" name="icon circle"/>
          <p:cNvSpPr/>
          <p:nvPr/>
        </p:nvSpPr>
        <p:spPr>
          <a:xfrm>
            <a:off x="6035040" y="1371600"/>
            <a:ext cx="457200" cy="457200"/>
          </a:xfrm>
          <a:prstGeom prst="ellipse">
            <a:avLst/>
          </a:prstGeom>
          <a:solidFill>
            <a:schemeClr val="accent3"/>
          </a:solidFill>
          <a:ln w="12700">
            <a:solidFill>
              <a:schemeClr val="accent3"/>
            </a:solidFill>
            <a:prstDash val="solid"/>
          </a:ln>
        </p:spPr>
      </p:sp>
      <p:pic>
        <p:nvPicPr>
          <p:cNvPr id="9" name="icon FaKey" descr="FaKey">    </p:cNvPr>
          <p:cNvPicPr>
            <a:picLocks noChangeAspect="1"/>
          </p:cNvPicPr>
          <p:nvPr/>
        </p:nvPicPr>
        <p:blipFill>
          <a:blip r:embed="rId1"/>
          <a:stretch>
            <a:fillRect/>
          </a:stretch>
        </p:blipFill>
        <p:spPr>
          <a:xfrm>
            <a:off x="6144768" y="1481328"/>
            <a:ext cx="237744" cy="237744"/>
          </a:xfrm>
          <a:prstGeom prst="rect">
            <a:avLst/>
          </a:prstGeom>
        </p:spPr>
      </p:pic>
      <p:sp>
        <p:nvSpPr>
          <p:cNvPr id="10" name="Text 6"/>
          <p:cNvSpPr txBox="1"/>
          <p:nvPr/>
        </p:nvSpPr>
        <p:spPr>
          <a:xfrm>
            <a:off x="6675120" y="1344168"/>
            <a:ext cx="2011680" cy="1280160"/>
          </a:xfrm>
          <a:prstGeom prst="rect">
            <a:avLst/>
          </a:prstGeom>
          <a:noFill/>
          <a:ln/>
        </p:spPr>
        <p:txBody>
          <a:bodyPr wrap="square" lIns="0" tIns="0" rIns="0" bIns="0" rtlCol="0" anchor="t"/>
          <a:lstStyle/>
          <a:p>
            <a:pPr indent="0" marL="0">
              <a:buNone/>
            </a:pPr>
            <a:r>
              <a:rPr lang="en-US" sz="1500" b="1" dirty="0">
                <a:solidFill>
                  <a:schemeClr val="tx1"/>
                </a:solidFill>
              </a:rPr>
              <a:t>Non-secret only</a:t>
            </a:r>
            <a:endParaRPr lang="en-US" sz="1500" dirty="0"/>
          </a:p>
          <a:p>
            <a:pPr indent="0" marL="0">
              <a:buNone/>
            </a:pPr>
            <a:r>
              <a:rPr lang="en-US" sz="1300" dirty="0">
                <a:solidFill>
                  <a:schemeClr val="tx1"/>
                </a:solidFill>
              </a:rPr>
              <a:t>No tokens, passwords or keys in this block</a:t>
            </a:r>
            <a:endParaRPr lang="en-US" sz="1500" dirty="0"/>
          </a:p>
        </p:txBody>
      </p:sp>
      <p:sp>
        <p:nvSpPr>
          <p:cNvPr id="11" name="icon circle"/>
          <p:cNvSpPr/>
          <p:nvPr/>
        </p:nvSpPr>
        <p:spPr>
          <a:xfrm>
            <a:off x="6035040" y="2743200"/>
            <a:ext cx="457200" cy="457200"/>
          </a:xfrm>
          <a:prstGeom prst="ellipse">
            <a:avLst/>
          </a:prstGeom>
          <a:solidFill>
            <a:schemeClr val="accent4"/>
          </a:solidFill>
          <a:ln w="12700">
            <a:solidFill>
              <a:schemeClr val="accent4"/>
            </a:solidFill>
            <a:prstDash val="solid"/>
          </a:ln>
        </p:spPr>
      </p:sp>
      <p:pic>
        <p:nvPicPr>
          <p:cNvPr id="12" name="icon FaFileAlt" descr="FaFileAlt">    </p:cNvPr>
          <p:cNvPicPr>
            <a:picLocks noChangeAspect="1"/>
          </p:cNvPicPr>
          <p:nvPr/>
        </p:nvPicPr>
        <p:blipFill>
          <a:blip r:embed="rId2"/>
          <a:stretch>
            <a:fillRect/>
          </a:stretch>
        </p:blipFill>
        <p:spPr>
          <a:xfrm>
            <a:off x="6144768" y="2852928"/>
            <a:ext cx="237744" cy="237744"/>
          </a:xfrm>
          <a:prstGeom prst="rect">
            <a:avLst/>
          </a:prstGeom>
        </p:spPr>
      </p:pic>
      <p:sp>
        <p:nvSpPr>
          <p:cNvPr id="13" name="Text 8"/>
          <p:cNvSpPr txBox="1"/>
          <p:nvPr/>
        </p:nvSpPr>
        <p:spPr>
          <a:xfrm>
            <a:off x="6675120" y="2715768"/>
            <a:ext cx="2011680" cy="1280160"/>
          </a:xfrm>
          <a:prstGeom prst="rect">
            <a:avLst/>
          </a:prstGeom>
          <a:noFill/>
          <a:ln/>
        </p:spPr>
        <p:txBody>
          <a:bodyPr wrap="square" lIns="0" tIns="0" rIns="0" bIns="0" rtlCol="0" anchor="t"/>
          <a:lstStyle/>
          <a:p>
            <a:pPr indent="0" marL="0">
              <a:buNone/>
            </a:pPr>
            <a:r>
              <a:rPr lang="en-US" sz="1500" b="1" dirty="0">
                <a:solidFill>
                  <a:schemeClr val="tx1"/>
                </a:solidFill>
              </a:rPr>
              <a:t>Full name in report</a:t>
            </a:r>
            <a:endParaRPr lang="en-US" sz="1500" dirty="0"/>
          </a:p>
          <a:p>
            <a:pPr indent="0" marL="0">
              <a:buNone/>
            </a:pPr>
            <a:r>
              <a:rPr lang="en-US" sz="1300" dirty="0">
                <a:solidFill>
                  <a:schemeClr val="tx1"/>
                </a:solidFill>
              </a:rPr>
              <a:t>Evidence the report is yours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Inspect before you trust: the grep checklist</a:t>
            </a:r>
            <a:endParaRPr lang="en-US" sz="3000" dirty="0"/>
          </a:p>
        </p:txBody>
      </p:sp>
      <p:graphicFrame>
        <p:nvGraphicFramePr>
          <p:cNvPr id="36"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20240"/>
                <a:gridCol w="3566160"/>
                <a:gridCol w="2743200"/>
              </a:tblGrid>
              <a:tr h="438912">
                <a:tc>
                  <a:txBody>
                    <a:bodyPr/>
                    <a:lstStyle/>
                    <a:p>
                      <a:pPr indent="0" marL="0">
                        <a:buNone/>
                      </a:pPr>
                      <a:r>
                        <a:rPr lang="en-US" sz="1300" b="1" dirty="0">
                          <a:solidFill>
                            <a:schemeClr val="bg1"/>
                          </a:solidFill>
                        </a:rPr>
                        <a:t>Question</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Command (shortened)</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Confirm</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438912">
                <a:tc>
                  <a:txBody>
                    <a:bodyPr/>
                    <a:lstStyle/>
                    <a:p>
                      <a:pPr indent="0" marL="0">
                        <a:buNone/>
                      </a:pPr>
                      <a:r>
                        <a:rPr lang="en-US" sz="1300" b="1" dirty="0">
                          <a:solidFill>
                            <a:schemeClr val="tx1"/>
                          </a:solidFill>
                        </a:rPr>
                        <a:t>Where does it write?</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-n "SCRIPT_DIR\|dirname"</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Own folder, no fixed path</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Which files?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-n "health-report\|last-run.log"</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Report plus infra and app logs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Is it read-only?</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-niE "queue|retry|cancel|delete"</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 pipeline-changing calls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Do errors look healthy?</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-n "exit 3\|API error\|auth"</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Errors take a separate path</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Are secrets redacted?</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-n "REDACT\|sanitiz"</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Redaction before reporting</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Which categories?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grep -n "CHECKS=\|case "</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 8 present</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300" i="1" dirty="0">
                <a:solidFill>
                  <a:schemeClr val="tx2"/>
                </a:solidFill>
              </a:rPr>
              <a:t>Run each against pipeline-triage.sh.</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Proving the script is read-only</a:t>
            </a:r>
            <a:endParaRPr lang="en-US" sz="3000" dirty="0"/>
          </a:p>
        </p:txBody>
      </p:sp>
      <p:sp>
        <p:nvSpPr>
          <p:cNvPr id="4" name="card"/>
          <p:cNvSpPr/>
          <p:nvPr/>
        </p:nvSpPr>
        <p:spPr>
          <a:xfrm>
            <a:off x="457200" y="1234440"/>
            <a:ext cx="3977640" cy="2103120"/>
          </a:xfrm>
          <a:prstGeom prst="roundRect">
            <a:avLst>
              <a:gd name="adj" fmla="val 4348"/>
            </a:avLst>
          </a:prstGeom>
          <a:solidFill>
            <a:schemeClr val="bg2"/>
          </a:solidFill>
          <a:ln w="12700">
            <a:solidFill>
              <a:schemeClr val="bg2"/>
            </a:solidFill>
            <a:prstDash val="solid"/>
          </a:ln>
        </p:spPr>
      </p:sp>
      <p:sp>
        <p:nvSpPr>
          <p:cNvPr id="5" name="icon circle"/>
          <p:cNvSpPr/>
          <p:nvPr/>
        </p:nvSpPr>
        <p:spPr>
          <a:xfrm>
            <a:off x="640080" y="1417320"/>
            <a:ext cx="457200" cy="457200"/>
          </a:xfrm>
          <a:prstGeom prst="ellipse">
            <a:avLst/>
          </a:prstGeom>
          <a:solidFill>
            <a:schemeClr val="accent4"/>
          </a:solidFill>
          <a:ln w="12700">
            <a:solidFill>
              <a:schemeClr val="accent4"/>
            </a:solidFill>
            <a:prstDash val="solid"/>
          </a:ln>
        </p:spPr>
      </p:sp>
      <p:pic>
        <p:nvPicPr>
          <p:cNvPr id="6" name="icon FaDatabase" descr="FaDatabase">    </p:cNvPr>
          <p:cNvPicPr>
            <a:picLocks noChangeAspect="1"/>
          </p:cNvPicPr>
          <p:nvPr/>
        </p:nvPicPr>
        <p:blipFill>
          <a:blip r:embed="rId1"/>
          <a:stretch>
            <a:fillRect/>
          </a:stretch>
        </p:blipFill>
        <p:spPr>
          <a:xfrm>
            <a:off x="749808" y="1527048"/>
            <a:ext cx="237744" cy="237744"/>
          </a:xfrm>
          <a:prstGeom prst="rect">
            <a:avLst/>
          </a:prstGeom>
        </p:spPr>
      </p:pic>
      <p:sp>
        <p:nvSpPr>
          <p:cNvPr id="7" name="Text 3"/>
          <p:cNvSpPr txBox="1"/>
          <p:nvPr/>
        </p:nvSpPr>
        <p:spPr>
          <a:xfrm>
            <a:off x="640080" y="1984248"/>
            <a:ext cx="3611880" cy="292608"/>
          </a:xfrm>
          <a:prstGeom prst="rect">
            <a:avLst/>
          </a:prstGeom>
          <a:noFill/>
          <a:ln/>
        </p:spPr>
        <p:txBody>
          <a:bodyPr wrap="square" lIns="0" tIns="0" rIns="0" bIns="0" rtlCol="0" anchor="t"/>
          <a:lstStyle/>
          <a:p>
            <a:pPr indent="0" marL="0">
              <a:buNone/>
            </a:pPr>
            <a:r>
              <a:rPr lang="en-US" sz="1600" b="1" dirty="0">
                <a:solidFill>
                  <a:schemeClr val="tx1"/>
                </a:solidFill>
              </a:rPr>
              <a:t>Run metadata</a:t>
            </a:r>
            <a:endParaRPr lang="en-US" sz="1600" dirty="0"/>
          </a:p>
        </p:txBody>
      </p:sp>
      <p:sp>
        <p:nvSpPr>
          <p:cNvPr id="8" name="Text 4"/>
          <p:cNvSpPr txBox="1"/>
          <p:nvPr/>
        </p:nvSpPr>
        <p:spPr>
          <a:xfrm>
            <a:off x="640080" y="2322576"/>
            <a:ext cx="3611880" cy="832104"/>
          </a:xfrm>
          <a:prstGeom prst="rect">
            <a:avLst/>
          </a:prstGeom>
          <a:noFill/>
          <a:ln/>
        </p:spPr>
        <p:txBody>
          <a:bodyPr wrap="square" lIns="0" tIns="0" rIns="0" bIns="0" rtlCol="0" anchor="t"/>
          <a:lstStyle/>
          <a:p>
            <a:pPr indent="0" marL="0">
              <a:buNone/>
            </a:pPr>
            <a:r>
              <a:rPr lang="en-US" sz="1400" dirty="0">
                <a:solidFill>
                  <a:schemeClr val="tx1"/>
                </a:solidFill>
              </a:rPr>
              <a:t>az pipelines runs ...</a:t>
            </a:r>
            <a:endParaRPr lang="en-US" sz="1400" dirty="0"/>
          </a:p>
          <a:p>
            <a:pPr indent="0" marL="0">
              <a:buNone/>
            </a:pPr>
            <a:r>
              <a:rPr lang="en-US" sz="1400" dirty="0">
                <a:solidFill>
                  <a:schemeClr val="tx1"/>
                </a:solidFill>
              </a:rPr>
              <a:t>Pipeline name, ID, run ID, branch, status, result, completion time.</a:t>
            </a:r>
            <a:endParaRPr lang="en-US" sz="1400" dirty="0"/>
          </a:p>
        </p:txBody>
      </p:sp>
      <p:sp>
        <p:nvSpPr>
          <p:cNvPr id="9" name="card"/>
          <p:cNvSpPr/>
          <p:nvPr/>
        </p:nvSpPr>
        <p:spPr>
          <a:xfrm>
            <a:off x="4709160" y="1234440"/>
            <a:ext cx="3977640" cy="2103120"/>
          </a:xfrm>
          <a:prstGeom prst="roundRect">
            <a:avLst>
              <a:gd name="adj" fmla="val 4348"/>
            </a:avLst>
          </a:prstGeom>
          <a:solidFill>
            <a:schemeClr val="bg2"/>
          </a:solidFill>
          <a:ln w="12700">
            <a:solidFill>
              <a:schemeClr val="bg2"/>
            </a:solidFill>
            <a:prstDash val="solid"/>
          </a:ln>
        </p:spPr>
      </p:sp>
      <p:sp>
        <p:nvSpPr>
          <p:cNvPr id="10" name="icon circle"/>
          <p:cNvSpPr/>
          <p:nvPr/>
        </p:nvSpPr>
        <p:spPr>
          <a:xfrm>
            <a:off x="4892040" y="1417320"/>
            <a:ext cx="457200" cy="457200"/>
          </a:xfrm>
          <a:prstGeom prst="ellipse">
            <a:avLst/>
          </a:prstGeom>
          <a:solidFill>
            <a:schemeClr val="accent5"/>
          </a:solidFill>
          <a:ln w="12700">
            <a:solidFill>
              <a:schemeClr val="accent5"/>
            </a:solidFill>
            <a:prstDash val="solid"/>
          </a:ln>
        </p:spPr>
      </p:sp>
      <p:pic>
        <p:nvPicPr>
          <p:cNvPr id="11" name="icon FaFileAlt" descr="FaFileAlt">    </p:cNvPr>
          <p:cNvPicPr>
            <a:picLocks noChangeAspect="1"/>
          </p:cNvPicPr>
          <p:nvPr/>
        </p:nvPicPr>
        <p:blipFill>
          <a:blip r:embed="rId2"/>
          <a:stretch>
            <a:fillRect/>
          </a:stretch>
        </p:blipFill>
        <p:spPr>
          <a:xfrm>
            <a:off x="5001768" y="1527048"/>
            <a:ext cx="237744" cy="237744"/>
          </a:xfrm>
          <a:prstGeom prst="rect">
            <a:avLst/>
          </a:prstGeom>
        </p:spPr>
      </p:pic>
      <p:sp>
        <p:nvSpPr>
          <p:cNvPr id="12" name="Text 7"/>
          <p:cNvSpPr txBox="1"/>
          <p:nvPr/>
        </p:nvSpPr>
        <p:spPr>
          <a:xfrm>
            <a:off x="4892040" y="1984248"/>
            <a:ext cx="3611880" cy="292608"/>
          </a:xfrm>
          <a:prstGeom prst="rect">
            <a:avLst/>
          </a:prstGeom>
          <a:noFill/>
          <a:ln/>
        </p:spPr>
        <p:txBody>
          <a:bodyPr wrap="square" lIns="0" tIns="0" rIns="0" bIns="0" rtlCol="0" anchor="t"/>
          <a:lstStyle/>
          <a:p>
            <a:pPr indent="0" marL="0">
              <a:buNone/>
            </a:pPr>
            <a:r>
              <a:rPr lang="en-US" sz="1600" b="1" dirty="0">
                <a:solidFill>
                  <a:schemeClr val="tx1"/>
                </a:solidFill>
              </a:rPr>
              <a:t>Build logs</a:t>
            </a:r>
            <a:endParaRPr lang="en-US" sz="1600" dirty="0"/>
          </a:p>
        </p:txBody>
      </p:sp>
      <p:sp>
        <p:nvSpPr>
          <p:cNvPr id="13" name="Text 8"/>
          <p:cNvSpPr txBox="1"/>
          <p:nvPr/>
        </p:nvSpPr>
        <p:spPr>
          <a:xfrm>
            <a:off x="4892040" y="2322576"/>
            <a:ext cx="3611880" cy="832104"/>
          </a:xfrm>
          <a:prstGeom prst="rect">
            <a:avLst/>
          </a:prstGeom>
          <a:noFill/>
          <a:ln/>
        </p:spPr>
        <p:txBody>
          <a:bodyPr wrap="square" lIns="0" tIns="0" rIns="0" bIns="0" rtlCol="0" anchor="t"/>
          <a:lstStyle/>
          <a:p>
            <a:pPr indent="0" marL="0">
              <a:buNone/>
            </a:pPr>
            <a:r>
              <a:rPr lang="en-US" sz="1400" dirty="0">
                <a:solidFill>
                  <a:schemeClr val="tx1"/>
                </a:solidFill>
              </a:rPr>
              <a:t>fetch_build_logs() uses an access token and the Build Logs API (GET) to read the log of the run.</a:t>
            </a:r>
            <a:endParaRPr lang="en-US" sz="1400" dirty="0"/>
          </a:p>
        </p:txBody>
      </p:sp>
      <p:sp>
        <p:nvSpPr>
          <p:cNvPr id="14" name="code panel"/>
          <p:cNvSpPr/>
          <p:nvPr/>
        </p:nvSpPr>
        <p:spPr>
          <a:xfrm>
            <a:off x="457200" y="3520440"/>
            <a:ext cx="8229600" cy="777240"/>
          </a:xfrm>
          <a:prstGeom prst="roundRect">
            <a:avLst>
              <a:gd name="adj" fmla="val 9412"/>
            </a:avLst>
          </a:prstGeom>
          <a:solidFill>
            <a:schemeClr val="tx1"/>
          </a:solidFill>
          <a:ln w="12700">
            <a:solidFill>
              <a:schemeClr val="tx1"/>
            </a:solidFill>
            <a:prstDash val="solid"/>
          </a:ln>
        </p:spPr>
      </p:sp>
      <p:sp>
        <p:nvSpPr>
          <p:cNvPr id="15" name="code"/>
          <p:cNvSpPr txBox="1"/>
          <p:nvPr/>
        </p:nvSpPr>
        <p:spPr>
          <a:xfrm>
            <a:off x="621792" y="3630168"/>
            <a:ext cx="7900416" cy="5577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grep -niE "queue|retry|cancel|approve|delete" pipeline-triage.sh</a:t>
            </a:r>
            <a:endParaRPr lang="en-US" sz="1300" dirty="0"/>
          </a:p>
          <a:p>
            <a:pPr indent="0" marL="0">
              <a:buNone/>
            </a:pPr>
            <a:r>
              <a:rPr lang="en-US" sz="1300" dirty="0">
                <a:solidFill>
                  <a:schemeClr val="accent1"/>
                </a:solidFill>
                <a:latin typeface="Courier New" pitchFamily="34" charset="0"/>
                <a:ea typeface="Courier New" pitchFamily="34" charset="-122"/>
                <a:cs typeface="Courier New" pitchFamily="34" charset="-120"/>
              </a:rPr>
              <a:t># expected: no pipeline-changing call</a:t>
            </a:r>
            <a:endParaRPr lang="en-US" sz="1300" dirty="0"/>
          </a:p>
        </p:txBody>
      </p:sp>
      <p:sp>
        <p:nvSpPr>
          <p:cNvPr id="16" name="Text 11"/>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400" i="1" dirty="0">
                <a:solidFill>
                  <a:schemeClr val="tx2"/>
                </a:solidFill>
              </a:rPr>
              <a:t>Only GET-style list/show operations are acceptable.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An error is not a healthy result</a:t>
            </a:r>
            <a:endParaRPr lang="en-US" sz="3000" dirty="0"/>
          </a:p>
        </p:txBody>
      </p:sp>
      <p:sp>
        <p:nvSpPr>
          <p:cNvPr id="4" name="icon circle"/>
          <p:cNvSpPr/>
          <p:nvPr/>
        </p:nvSpPr>
        <p:spPr>
          <a:xfrm>
            <a:off x="457200" y="1325880"/>
            <a:ext cx="548640" cy="548640"/>
          </a:xfrm>
          <a:prstGeom prst="ellipse">
            <a:avLst/>
          </a:prstGeom>
          <a:solidFill>
            <a:schemeClr val="accent3"/>
          </a:solidFill>
          <a:ln w="12700">
            <a:solidFill>
              <a:schemeClr val="accent3"/>
            </a:solidFill>
            <a:prstDash val="solid"/>
          </a:ln>
        </p:spPr>
      </p:sp>
      <p:pic>
        <p:nvPicPr>
          <p:cNvPr id="5" name="icon FaSignInAlt" descr="FaSignInAlt">    </p:cNvPr>
          <p:cNvPicPr>
            <a:picLocks noChangeAspect="1"/>
          </p:cNvPicPr>
          <p:nvPr/>
        </p:nvPicPr>
        <p:blipFill>
          <a:blip r:embed="rId1"/>
          <a:stretch>
            <a:fillRect/>
          </a:stretch>
        </p:blipFill>
        <p:spPr>
          <a:xfrm>
            <a:off x="588874" y="1457554"/>
            <a:ext cx="285293" cy="285293"/>
          </a:xfrm>
          <a:prstGeom prst="rect">
            <a:avLst/>
          </a:prstGeom>
        </p:spPr>
      </p:pic>
      <p:sp>
        <p:nvSpPr>
          <p:cNvPr id="6" name="Text 2"/>
          <p:cNvSpPr txBox="1"/>
          <p:nvPr/>
        </p:nvSpPr>
        <p:spPr>
          <a:xfrm>
            <a:off x="1188720" y="1298448"/>
            <a:ext cx="7498080" cy="868680"/>
          </a:xfrm>
          <a:prstGeom prst="rect">
            <a:avLst/>
          </a:prstGeom>
          <a:noFill/>
          <a:ln/>
        </p:spPr>
        <p:txBody>
          <a:bodyPr wrap="square" lIns="0" tIns="0" rIns="0" bIns="0" rtlCol="0" anchor="t"/>
          <a:lstStyle/>
          <a:p>
            <a:pPr indent="0" marL="0">
              <a:buNone/>
            </a:pPr>
            <a:r>
              <a:rPr lang="en-US" sz="1700" b="1" dirty="0">
                <a:solidFill>
                  <a:schemeClr val="tx1"/>
                </a:solidFill>
              </a:rPr>
              <a:t>Not signed in or bad org/project</a:t>
            </a:r>
            <a:endParaRPr lang="en-US" sz="1700" dirty="0"/>
          </a:p>
          <a:p>
            <a:pPr indent="0" marL="0">
              <a:buNone/>
            </a:pPr>
            <a:r>
              <a:rPr lang="en-US" sz="1500" dirty="0">
                <a:solidFill>
                  <a:schemeClr val="tx1"/>
                </a:solidFill>
              </a:rPr>
              <a:t>Configuration or authentication problem &gt; exit 3</a:t>
            </a:r>
            <a:endParaRPr lang="en-US" sz="1700" dirty="0"/>
          </a:p>
        </p:txBody>
      </p:sp>
      <p:sp>
        <p:nvSpPr>
          <p:cNvPr id="7" name="icon circle"/>
          <p:cNvSpPr/>
          <p:nvPr/>
        </p:nvSpPr>
        <p:spPr>
          <a:xfrm>
            <a:off x="457200" y="2286000"/>
            <a:ext cx="548640" cy="548640"/>
          </a:xfrm>
          <a:prstGeom prst="ellipse">
            <a:avLst/>
          </a:prstGeom>
          <a:solidFill>
            <a:schemeClr val="accent3"/>
          </a:solidFill>
          <a:ln w="12700">
            <a:solidFill>
              <a:schemeClr val="accent3"/>
            </a:solidFill>
            <a:prstDash val="solid"/>
          </a:ln>
        </p:spPr>
      </p:sp>
      <p:pic>
        <p:nvPicPr>
          <p:cNvPr id="8" name="icon FaCloud" descr="FaCloud">    </p:cNvPr>
          <p:cNvPicPr>
            <a:picLocks noChangeAspect="1"/>
          </p:cNvPicPr>
          <p:nvPr/>
        </p:nvPicPr>
        <p:blipFill>
          <a:blip r:embed="rId2"/>
          <a:stretch>
            <a:fillRect/>
          </a:stretch>
        </p:blipFill>
        <p:spPr>
          <a:xfrm>
            <a:off x="588874" y="2417674"/>
            <a:ext cx="285293" cy="285293"/>
          </a:xfrm>
          <a:prstGeom prst="rect">
            <a:avLst/>
          </a:prstGeom>
        </p:spPr>
      </p:pic>
      <p:sp>
        <p:nvSpPr>
          <p:cNvPr id="9" name="Text 4"/>
          <p:cNvSpPr txBox="1"/>
          <p:nvPr/>
        </p:nvSpPr>
        <p:spPr>
          <a:xfrm>
            <a:off x="1188720" y="2258568"/>
            <a:ext cx="7498080" cy="868680"/>
          </a:xfrm>
          <a:prstGeom prst="rect">
            <a:avLst/>
          </a:prstGeom>
          <a:noFill/>
          <a:ln/>
        </p:spPr>
        <p:txBody>
          <a:bodyPr wrap="square" lIns="0" tIns="0" rIns="0" bIns="0" rtlCol="0" anchor="t"/>
          <a:lstStyle/>
          <a:p>
            <a:pPr indent="0" marL="0">
              <a:buNone/>
            </a:pPr>
            <a:r>
              <a:rPr lang="en-US" sz="1700" b="1" dirty="0">
                <a:solidFill>
                  <a:schemeClr val="tx1"/>
                </a:solidFill>
              </a:rPr>
              <a:t>API or log retrieval fails</a:t>
            </a:r>
            <a:endParaRPr lang="en-US" sz="1700" dirty="0"/>
          </a:p>
          <a:p>
            <a:pPr indent="0" marL="0">
              <a:buNone/>
            </a:pPr>
            <a:r>
              <a:rPr lang="en-US" sz="1500" dirty="0">
                <a:solidFill>
                  <a:schemeClr val="tx1"/>
                </a:solidFill>
              </a:rPr>
              <a:t>Cannot get evidence &gt; exit 3, never HEALTHY</a:t>
            </a:r>
            <a:endParaRPr lang="en-US" sz="1700" dirty="0"/>
          </a:p>
        </p:txBody>
      </p:sp>
      <p:sp>
        <p:nvSpPr>
          <p:cNvPr id="10" name="icon circle"/>
          <p:cNvSpPr/>
          <p:nvPr/>
        </p:nvSpPr>
        <p:spPr>
          <a:xfrm>
            <a:off x="457200" y="3246120"/>
            <a:ext cx="548640" cy="548640"/>
          </a:xfrm>
          <a:prstGeom prst="ellipse">
            <a:avLst/>
          </a:prstGeom>
          <a:solidFill>
            <a:schemeClr val="accent1"/>
          </a:solidFill>
          <a:ln w="12700">
            <a:solidFill>
              <a:schemeClr val="accent1"/>
            </a:solidFill>
            <a:prstDash val="solid"/>
          </a:ln>
        </p:spPr>
      </p:sp>
      <p:pic>
        <p:nvPicPr>
          <p:cNvPr id="11" name="icon FaHourglassHalf" descr="FaHourglassHalf">    </p:cNvPr>
          <p:cNvPicPr>
            <a:picLocks noChangeAspect="1"/>
          </p:cNvPicPr>
          <p:nvPr/>
        </p:nvPicPr>
        <p:blipFill>
          <a:blip r:embed="rId3"/>
          <a:stretch>
            <a:fillRect/>
          </a:stretch>
        </p:blipFill>
        <p:spPr>
          <a:xfrm>
            <a:off x="588874" y="3377794"/>
            <a:ext cx="285293" cy="285293"/>
          </a:xfrm>
          <a:prstGeom prst="rect">
            <a:avLst/>
          </a:prstGeom>
        </p:spPr>
      </p:pic>
      <p:sp>
        <p:nvSpPr>
          <p:cNvPr id="12" name="Text 6"/>
          <p:cNvSpPr txBox="1"/>
          <p:nvPr/>
        </p:nvSpPr>
        <p:spPr>
          <a:xfrm>
            <a:off x="1188720" y="3218688"/>
            <a:ext cx="7498080" cy="868680"/>
          </a:xfrm>
          <a:prstGeom prst="rect">
            <a:avLst/>
          </a:prstGeom>
          <a:noFill/>
          <a:ln/>
        </p:spPr>
        <p:txBody>
          <a:bodyPr wrap="square" lIns="0" tIns="0" rIns="0" bIns="0" rtlCol="0" anchor="t"/>
          <a:lstStyle/>
          <a:p>
            <a:pPr indent="0" marL="0">
              <a:buNone/>
            </a:pPr>
            <a:r>
              <a:rPr lang="en-US" sz="1700" b="1" dirty="0">
                <a:solidFill>
                  <a:schemeClr val="tx1"/>
                </a:solidFill>
              </a:rPr>
              <a:t>Run is queued or still running</a:t>
            </a:r>
            <a:endParaRPr lang="en-US" sz="1700" dirty="0"/>
          </a:p>
          <a:p>
            <a:pPr indent="0" marL="0">
              <a:buNone/>
            </a:pPr>
            <a:r>
              <a:rPr lang="en-US" sz="1500" dirty="0">
                <a:solidFill>
                  <a:schemeClr val="tx1"/>
                </a:solidFill>
              </a:rPr>
              <a:t>Not finished yet &gt; WARN, exit 1, not healthy</a:t>
            </a:r>
            <a:endParaRPr lang="en-US" sz="1700" dirty="0"/>
          </a:p>
        </p:txBody>
      </p:sp>
      <p:sp>
        <p:nvSpPr>
          <p:cNvPr id="13" name="callout"/>
          <p:cNvSpPr/>
          <p:nvPr/>
        </p:nvSpPr>
        <p:spPr>
          <a:xfrm>
            <a:off x="457200" y="4069080"/>
            <a:ext cx="8229600" cy="548640"/>
          </a:xfrm>
          <a:prstGeom prst="roundRect">
            <a:avLst>
              <a:gd name="adj" fmla="val 16667"/>
            </a:avLst>
          </a:prstGeom>
          <a:solidFill>
            <a:schemeClr val="accent2"/>
          </a:solidFill>
          <a:ln w="12700">
            <a:solidFill>
              <a:schemeClr val="accent2"/>
            </a:solidFill>
            <a:prstDash val="solid"/>
          </a:ln>
        </p:spPr>
      </p:sp>
      <p:sp>
        <p:nvSpPr>
          <p:cNvPr id="14" name="Text 8"/>
          <p:cNvSpPr txBox="1"/>
          <p:nvPr/>
        </p:nvSpPr>
        <p:spPr>
          <a:xfrm>
            <a:off x="685800" y="406908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Priority in the summary: errors, then failures, then warnings. Only then healthy.</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Secret sanitisation: sanitize_line()</a:t>
            </a:r>
            <a:endParaRPr lang="en-US" sz="3000" dirty="0"/>
          </a:p>
        </p:txBody>
      </p:sp>
      <p:sp>
        <p:nvSpPr>
          <p:cNvPr id="4" name="Text 1"/>
          <p:cNvSpPr txBox="1"/>
          <p:nvPr/>
        </p:nvSpPr>
        <p:spPr>
          <a:xfrm>
            <a:off x="457200" y="1188720"/>
            <a:ext cx="3931920" cy="274320"/>
          </a:xfrm>
          <a:prstGeom prst="rect">
            <a:avLst/>
          </a:prstGeom>
          <a:noFill/>
          <a:ln/>
        </p:spPr>
        <p:txBody>
          <a:bodyPr wrap="square" lIns="0" tIns="0" rIns="0" bIns="0" rtlCol="0" anchor="t"/>
          <a:lstStyle/>
          <a:p>
            <a:pPr indent="0" marL="0">
              <a:buNone/>
            </a:pPr>
            <a:r>
              <a:rPr lang="en-US" sz="1400" b="1" dirty="0">
                <a:solidFill>
                  <a:schemeClr val="accent3"/>
                </a:solidFill>
              </a:rPr>
              <a:t>Raw log line (illustrative)</a:t>
            </a:r>
            <a:endParaRPr lang="en-US" sz="1400" dirty="0"/>
          </a:p>
        </p:txBody>
      </p:sp>
      <p:sp>
        <p:nvSpPr>
          <p:cNvPr id="5" name="code panel"/>
          <p:cNvSpPr/>
          <p:nvPr/>
        </p:nvSpPr>
        <p:spPr>
          <a:xfrm>
            <a:off x="457200" y="1508760"/>
            <a:ext cx="3931920" cy="1371600"/>
          </a:xfrm>
          <a:prstGeom prst="roundRect">
            <a:avLst>
              <a:gd name="adj" fmla="val 5333"/>
            </a:avLst>
          </a:prstGeom>
          <a:solidFill>
            <a:schemeClr val="tx1"/>
          </a:solidFill>
          <a:ln w="12700">
            <a:solidFill>
              <a:schemeClr val="tx1"/>
            </a:solidFill>
            <a:prstDash val="solid"/>
          </a:ln>
        </p:spPr>
      </p:sp>
      <p:sp>
        <p:nvSpPr>
          <p:cNvPr id="6" name="code"/>
          <p:cNvSpPr txBox="1"/>
          <p:nvPr/>
        </p:nvSpPr>
        <p:spPr>
          <a:xfrm>
            <a:off x="621792" y="1618488"/>
            <a:ext cx="3602736" cy="11521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Authorization: Bearer eyJhbGci...</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db password=Sup3rS3cret!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Server=db;User=app;Password=abc123</a:t>
            </a:r>
            <a:endParaRPr lang="en-US" sz="1200" dirty="0"/>
          </a:p>
        </p:txBody>
      </p:sp>
      <p:sp>
        <p:nvSpPr>
          <p:cNvPr id="7" name="Text 4"/>
          <p:cNvSpPr txBox="1"/>
          <p:nvPr/>
        </p:nvSpPr>
        <p:spPr>
          <a:xfrm>
            <a:off x="4754880" y="1188720"/>
            <a:ext cx="3931920" cy="274320"/>
          </a:xfrm>
          <a:prstGeom prst="rect">
            <a:avLst/>
          </a:prstGeom>
          <a:noFill/>
          <a:ln/>
        </p:spPr>
        <p:txBody>
          <a:bodyPr wrap="square" lIns="0" tIns="0" rIns="0" bIns="0" rtlCol="0" anchor="t"/>
          <a:lstStyle/>
          <a:p>
            <a:pPr indent="0" marL="0">
              <a:buNone/>
            </a:pPr>
            <a:r>
              <a:rPr lang="en-US" sz="1400" b="1" dirty="0">
                <a:solidFill>
                  <a:schemeClr val="accent6"/>
                </a:solidFill>
              </a:rPr>
              <a:t>What lands in the report</a:t>
            </a:r>
            <a:endParaRPr lang="en-US" sz="1400" dirty="0"/>
          </a:p>
        </p:txBody>
      </p:sp>
      <p:sp>
        <p:nvSpPr>
          <p:cNvPr id="8" name="code panel"/>
          <p:cNvSpPr/>
          <p:nvPr/>
        </p:nvSpPr>
        <p:spPr>
          <a:xfrm>
            <a:off x="4754880" y="1508760"/>
            <a:ext cx="3931920" cy="1371600"/>
          </a:xfrm>
          <a:prstGeom prst="roundRect">
            <a:avLst>
              <a:gd name="adj" fmla="val 5333"/>
            </a:avLst>
          </a:prstGeom>
          <a:solidFill>
            <a:schemeClr val="tx1"/>
          </a:solidFill>
          <a:ln w="12700">
            <a:solidFill>
              <a:schemeClr val="tx1"/>
            </a:solidFill>
            <a:prstDash val="solid"/>
          </a:ln>
        </p:spPr>
      </p:sp>
      <p:sp>
        <p:nvSpPr>
          <p:cNvPr id="9" name="code"/>
          <p:cNvSpPr txBox="1"/>
          <p:nvPr/>
        </p:nvSpPr>
        <p:spPr>
          <a:xfrm>
            <a:off x="4919472" y="1618488"/>
            <a:ext cx="3602736" cy="11521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Authorization: [REDACTED]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db password=[REDACTED]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Server=db;User=app;Password=[REDACTED]</a:t>
            </a:r>
            <a:endParaRPr lang="en-US" sz="1200" dirty="0"/>
          </a:p>
        </p:txBody>
      </p:sp>
      <p:sp>
        <p:nvSpPr>
          <p:cNvPr id="10" name="arrow"/>
          <p:cNvSpPr/>
          <p:nvPr/>
        </p:nvSpPr>
        <p:spPr>
          <a:xfrm>
            <a:off x="4434840" y="2194560"/>
            <a:ext cx="274320" cy="0"/>
          </a:xfrm>
          <a:prstGeom prst="line">
            <a:avLst/>
          </a:prstGeom>
          <a:noFill/>
          <a:ln w="28575">
            <a:solidFill>
              <a:schemeClr val="tx2"/>
            </a:solidFill>
            <a:prstDash val="solid"/>
            <a:tailEnd type="triangle"/>
          </a:ln>
        </p:spPr>
      </p:sp>
      <p:sp>
        <p:nvSpPr>
          <p:cNvPr id="11" name="Text 8"/>
          <p:cNvSpPr txBox="1"/>
          <p:nvPr/>
        </p:nvSpPr>
        <p:spPr>
          <a:xfrm>
            <a:off x="457200" y="3108960"/>
            <a:ext cx="8229600" cy="1280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Patterns covered: authorization headers, bearer tokens, PATs, client secrets, private keys, database passwords, connection strings</a:t>
            </a:r>
            <a:endParaRPr lang="en-US" sz="1400" dirty="0"/>
          </a:p>
          <a:p>
            <a:pPr marL="342900" indent="-342900">
              <a:spcAft>
                <a:spcPts val="500"/>
              </a:spcAft>
              <a:buSzPct val="100000"/>
              <a:buChar char="•"/>
            </a:pPr>
            <a:r>
              <a:rPr lang="en-US" sz="1400" dirty="0">
                <a:solidFill>
                  <a:schemeClr val="tx1"/>
                </a:solidFill>
              </a:rPr>
              <a:t>Redacted, not silently dropped, so you still see that something was there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eight failure categories</a:t>
            </a:r>
            <a:endParaRPr lang="en-US" sz="3000" dirty="0"/>
          </a:p>
        </p:txBody>
      </p:sp>
      <p:sp>
        <p:nvSpPr>
          <p:cNvPr id="4" name="card"/>
          <p:cNvSpPr/>
          <p:nvPr/>
        </p:nvSpPr>
        <p:spPr>
          <a:xfrm>
            <a:off x="457200" y="1234440"/>
            <a:ext cx="1920240" cy="1554480"/>
          </a:xfrm>
          <a:prstGeom prst="roundRect">
            <a:avLst>
              <a:gd name="adj" fmla="val 5882"/>
            </a:avLst>
          </a:prstGeom>
          <a:solidFill>
            <a:schemeClr val="bg2"/>
          </a:solidFill>
          <a:ln w="12700">
            <a:solidFill>
              <a:schemeClr val="bg2"/>
            </a:solidFill>
            <a:prstDash val="solid"/>
          </a:ln>
        </p:spPr>
      </p:sp>
      <p:sp>
        <p:nvSpPr>
          <p:cNvPr id="5" name="icon circle"/>
          <p:cNvSpPr/>
          <p:nvPr/>
        </p:nvSpPr>
        <p:spPr>
          <a:xfrm>
            <a:off x="640080" y="1417320"/>
            <a:ext cx="411480" cy="411480"/>
          </a:xfrm>
          <a:prstGeom prst="ellipse">
            <a:avLst/>
          </a:prstGeom>
          <a:solidFill>
            <a:schemeClr val="accent4"/>
          </a:solidFill>
          <a:ln w="12700">
            <a:solidFill>
              <a:schemeClr val="accent4"/>
            </a:solidFill>
            <a:prstDash val="solid"/>
          </a:ln>
        </p:spPr>
      </p:sp>
      <p:pic>
        <p:nvPicPr>
          <p:cNvPr id="6" name="icon FaCube" descr="FaCube">    </p:cNvPr>
          <p:cNvPicPr>
            <a:picLocks noChangeAspect="1"/>
          </p:cNvPicPr>
          <p:nvPr/>
        </p:nvPicPr>
        <p:blipFill>
          <a:blip r:embed="rId1"/>
          <a:stretch>
            <a:fillRect/>
          </a:stretch>
        </p:blipFill>
        <p:spPr>
          <a:xfrm>
            <a:off x="738835" y="1516075"/>
            <a:ext cx="213970" cy="213970"/>
          </a:xfrm>
          <a:prstGeom prst="rect">
            <a:avLst/>
          </a:prstGeom>
        </p:spPr>
      </p:pic>
      <p:sp>
        <p:nvSpPr>
          <p:cNvPr id="7" name="Text 3"/>
          <p:cNvSpPr txBox="1"/>
          <p:nvPr/>
        </p:nvSpPr>
        <p:spPr>
          <a:xfrm>
            <a:off x="640080" y="1938528"/>
            <a:ext cx="1554480" cy="457200"/>
          </a:xfrm>
          <a:prstGeom prst="rect">
            <a:avLst/>
          </a:prstGeom>
          <a:noFill/>
          <a:ln/>
        </p:spPr>
        <p:txBody>
          <a:bodyPr wrap="square" lIns="0" tIns="0" rIns="0" bIns="0" rtlCol="0" anchor="t"/>
          <a:lstStyle/>
          <a:p>
            <a:pPr indent="0" marL="0">
              <a:buNone/>
            </a:pPr>
            <a:r>
              <a:rPr lang="en-US" sz="1400" b="1" dirty="0">
                <a:solidFill>
                  <a:schemeClr val="tx1"/>
                </a:solidFill>
              </a:rPr>
              <a:t>Dependency install</a:t>
            </a:r>
            <a:endParaRPr lang="en-US" sz="1400" dirty="0"/>
          </a:p>
        </p:txBody>
      </p:sp>
      <p:sp>
        <p:nvSpPr>
          <p:cNvPr id="8" name="Text 4"/>
          <p:cNvSpPr txBox="1"/>
          <p:nvPr/>
        </p:nvSpPr>
        <p:spPr>
          <a:xfrm>
            <a:off x="640080" y="2441448"/>
            <a:ext cx="1554480" cy="164592"/>
          </a:xfrm>
          <a:prstGeom prst="rect">
            <a:avLst/>
          </a:prstGeom>
          <a:noFill/>
          <a:ln/>
        </p:spPr>
        <p:txBody>
          <a:bodyPr wrap="square" lIns="0" tIns="0" rIns="0" bIns="0" rtlCol="0" anchor="t"/>
          <a:lstStyle/>
          <a:p>
            <a:pPr indent="0" marL="0">
              <a:buNone/>
            </a:pPr>
            <a:r>
              <a:rPr lang="en-US" sz="1200" dirty="0">
                <a:solidFill>
                  <a:schemeClr val="tx1"/>
                </a:solidFill>
              </a:rPr>
              <a:t>npm or package errors</a:t>
            </a:r>
            <a:endParaRPr lang="en-US" sz="1200" dirty="0"/>
          </a:p>
        </p:txBody>
      </p:sp>
      <p:sp>
        <p:nvSpPr>
          <p:cNvPr id="9" name="card"/>
          <p:cNvSpPr/>
          <p:nvPr/>
        </p:nvSpPr>
        <p:spPr>
          <a:xfrm>
            <a:off x="2560320" y="1234440"/>
            <a:ext cx="1920240" cy="1554480"/>
          </a:xfrm>
          <a:prstGeom prst="roundRect">
            <a:avLst>
              <a:gd name="adj" fmla="val 5882"/>
            </a:avLst>
          </a:prstGeom>
          <a:solidFill>
            <a:schemeClr val="bg2"/>
          </a:solidFill>
          <a:ln w="12700">
            <a:solidFill>
              <a:schemeClr val="bg2"/>
            </a:solidFill>
            <a:prstDash val="solid"/>
          </a:ln>
        </p:spPr>
      </p:sp>
      <p:sp>
        <p:nvSpPr>
          <p:cNvPr id="10" name="icon circle"/>
          <p:cNvSpPr/>
          <p:nvPr/>
        </p:nvSpPr>
        <p:spPr>
          <a:xfrm>
            <a:off x="2743200" y="1417320"/>
            <a:ext cx="411480" cy="411480"/>
          </a:xfrm>
          <a:prstGeom prst="ellipse">
            <a:avLst/>
          </a:prstGeom>
          <a:solidFill>
            <a:schemeClr val="accent4"/>
          </a:solidFill>
          <a:ln w="12700">
            <a:solidFill>
              <a:schemeClr val="accent4"/>
            </a:solidFill>
            <a:prstDash val="solid"/>
          </a:ln>
        </p:spPr>
      </p:sp>
      <p:pic>
        <p:nvPicPr>
          <p:cNvPr id="11" name="icon FaHammer" descr="FaHammer">    </p:cNvPr>
          <p:cNvPicPr>
            <a:picLocks noChangeAspect="1"/>
          </p:cNvPicPr>
          <p:nvPr/>
        </p:nvPicPr>
        <p:blipFill>
          <a:blip r:embed="rId2"/>
          <a:stretch>
            <a:fillRect/>
          </a:stretch>
        </p:blipFill>
        <p:spPr>
          <a:xfrm>
            <a:off x="2841955" y="1516075"/>
            <a:ext cx="213970" cy="213970"/>
          </a:xfrm>
          <a:prstGeom prst="rect">
            <a:avLst/>
          </a:prstGeom>
        </p:spPr>
      </p:pic>
      <p:sp>
        <p:nvSpPr>
          <p:cNvPr id="12" name="Text 7"/>
          <p:cNvSpPr txBox="1"/>
          <p:nvPr/>
        </p:nvSpPr>
        <p:spPr>
          <a:xfrm>
            <a:off x="2743200" y="1938528"/>
            <a:ext cx="1554480" cy="457200"/>
          </a:xfrm>
          <a:prstGeom prst="rect">
            <a:avLst/>
          </a:prstGeom>
          <a:noFill/>
          <a:ln/>
        </p:spPr>
        <p:txBody>
          <a:bodyPr wrap="square" lIns="0" tIns="0" rIns="0" bIns="0" rtlCol="0" anchor="t"/>
          <a:lstStyle/>
          <a:p>
            <a:pPr indent="0" marL="0">
              <a:buNone/>
            </a:pPr>
            <a:r>
              <a:rPr lang="en-US" sz="1400" b="1" dirty="0">
                <a:solidFill>
                  <a:schemeClr val="tx1"/>
                </a:solidFill>
              </a:rPr>
              <a:t>Build / compile</a:t>
            </a:r>
            <a:endParaRPr lang="en-US" sz="1400" dirty="0"/>
          </a:p>
        </p:txBody>
      </p:sp>
      <p:sp>
        <p:nvSpPr>
          <p:cNvPr id="13" name="Text 8"/>
          <p:cNvSpPr txBox="1"/>
          <p:nvPr/>
        </p:nvSpPr>
        <p:spPr>
          <a:xfrm>
            <a:off x="2743200" y="2441448"/>
            <a:ext cx="1554480" cy="164592"/>
          </a:xfrm>
          <a:prstGeom prst="rect">
            <a:avLst/>
          </a:prstGeom>
          <a:noFill/>
          <a:ln/>
        </p:spPr>
        <p:txBody>
          <a:bodyPr wrap="square" lIns="0" tIns="0" rIns="0" bIns="0" rtlCol="0" anchor="t"/>
          <a:lstStyle/>
          <a:p>
            <a:pPr indent="0" marL="0">
              <a:buNone/>
            </a:pPr>
            <a:r>
              <a:rPr lang="en-US" sz="1200" dirty="0">
                <a:solidFill>
                  <a:schemeClr val="tx1"/>
                </a:solidFill>
              </a:rPr>
              <a:t>code will not build</a:t>
            </a:r>
            <a:endParaRPr lang="en-US" sz="1200" dirty="0"/>
          </a:p>
        </p:txBody>
      </p:sp>
      <p:sp>
        <p:nvSpPr>
          <p:cNvPr id="14" name="card"/>
          <p:cNvSpPr/>
          <p:nvPr/>
        </p:nvSpPr>
        <p:spPr>
          <a:xfrm>
            <a:off x="4663440" y="1234440"/>
            <a:ext cx="1920240" cy="1554480"/>
          </a:xfrm>
          <a:prstGeom prst="roundRect">
            <a:avLst>
              <a:gd name="adj" fmla="val 5882"/>
            </a:avLst>
          </a:prstGeom>
          <a:solidFill>
            <a:schemeClr val="bg2"/>
          </a:solidFill>
          <a:ln w="12700">
            <a:solidFill>
              <a:schemeClr val="bg2"/>
            </a:solidFill>
            <a:prstDash val="solid"/>
          </a:ln>
        </p:spPr>
      </p:sp>
      <p:sp>
        <p:nvSpPr>
          <p:cNvPr id="15" name="icon circle"/>
          <p:cNvSpPr/>
          <p:nvPr/>
        </p:nvSpPr>
        <p:spPr>
          <a:xfrm>
            <a:off x="4846320" y="1417320"/>
            <a:ext cx="411480" cy="411480"/>
          </a:xfrm>
          <a:prstGeom prst="ellipse">
            <a:avLst/>
          </a:prstGeom>
          <a:solidFill>
            <a:schemeClr val="accent4"/>
          </a:solidFill>
          <a:ln w="12700">
            <a:solidFill>
              <a:schemeClr val="accent4"/>
            </a:solidFill>
            <a:prstDash val="solid"/>
          </a:ln>
        </p:spPr>
      </p:sp>
      <p:pic>
        <p:nvPicPr>
          <p:cNvPr id="16" name="icon FaVial" descr="FaVial">    </p:cNvPr>
          <p:cNvPicPr>
            <a:picLocks noChangeAspect="1"/>
          </p:cNvPicPr>
          <p:nvPr/>
        </p:nvPicPr>
        <p:blipFill>
          <a:blip r:embed="rId3"/>
          <a:stretch>
            <a:fillRect/>
          </a:stretch>
        </p:blipFill>
        <p:spPr>
          <a:xfrm>
            <a:off x="4945075" y="1516075"/>
            <a:ext cx="213970" cy="213970"/>
          </a:xfrm>
          <a:prstGeom prst="rect">
            <a:avLst/>
          </a:prstGeom>
        </p:spPr>
      </p:pic>
      <p:sp>
        <p:nvSpPr>
          <p:cNvPr id="17" name="Text 11"/>
          <p:cNvSpPr txBox="1"/>
          <p:nvPr/>
        </p:nvSpPr>
        <p:spPr>
          <a:xfrm>
            <a:off x="4846320" y="1938528"/>
            <a:ext cx="1554480" cy="457200"/>
          </a:xfrm>
          <a:prstGeom prst="rect">
            <a:avLst/>
          </a:prstGeom>
          <a:noFill/>
          <a:ln/>
        </p:spPr>
        <p:txBody>
          <a:bodyPr wrap="square" lIns="0" tIns="0" rIns="0" bIns="0" rtlCol="0" anchor="t"/>
          <a:lstStyle/>
          <a:p>
            <a:pPr indent="0" marL="0">
              <a:buNone/>
            </a:pPr>
            <a:r>
              <a:rPr lang="en-US" sz="1400" b="1" dirty="0">
                <a:solidFill>
                  <a:schemeClr val="tx1"/>
                </a:solidFill>
              </a:rPr>
              <a:t>Test failure</a:t>
            </a:r>
            <a:endParaRPr lang="en-US" sz="1400" dirty="0"/>
          </a:p>
        </p:txBody>
      </p:sp>
      <p:sp>
        <p:nvSpPr>
          <p:cNvPr id="18" name="Text 12"/>
          <p:cNvSpPr txBox="1"/>
          <p:nvPr/>
        </p:nvSpPr>
        <p:spPr>
          <a:xfrm>
            <a:off x="4846320" y="2441448"/>
            <a:ext cx="1554480" cy="164592"/>
          </a:xfrm>
          <a:prstGeom prst="rect">
            <a:avLst/>
          </a:prstGeom>
          <a:noFill/>
          <a:ln/>
        </p:spPr>
        <p:txBody>
          <a:bodyPr wrap="square" lIns="0" tIns="0" rIns="0" bIns="0" rtlCol="0" anchor="t"/>
          <a:lstStyle/>
          <a:p>
            <a:pPr indent="0" marL="0">
              <a:buNone/>
            </a:pPr>
            <a:r>
              <a:rPr lang="en-US" sz="1200" dirty="0">
                <a:solidFill>
                  <a:schemeClr val="tx1"/>
                </a:solidFill>
              </a:rPr>
              <a:t>tests fail</a:t>
            </a:r>
            <a:endParaRPr lang="en-US" sz="1200" dirty="0"/>
          </a:p>
        </p:txBody>
      </p:sp>
      <p:sp>
        <p:nvSpPr>
          <p:cNvPr id="19" name="card"/>
          <p:cNvSpPr/>
          <p:nvPr/>
        </p:nvSpPr>
        <p:spPr>
          <a:xfrm>
            <a:off x="6766560" y="1234440"/>
            <a:ext cx="1920240" cy="1554480"/>
          </a:xfrm>
          <a:prstGeom prst="roundRect">
            <a:avLst>
              <a:gd name="adj" fmla="val 5882"/>
            </a:avLst>
          </a:prstGeom>
          <a:solidFill>
            <a:schemeClr val="bg2"/>
          </a:solidFill>
          <a:ln w="12700">
            <a:solidFill>
              <a:schemeClr val="bg2"/>
            </a:solidFill>
            <a:prstDash val="solid"/>
          </a:ln>
        </p:spPr>
      </p:sp>
      <p:sp>
        <p:nvSpPr>
          <p:cNvPr id="20" name="icon circle"/>
          <p:cNvSpPr/>
          <p:nvPr/>
        </p:nvSpPr>
        <p:spPr>
          <a:xfrm>
            <a:off x="6949440" y="1417320"/>
            <a:ext cx="411480" cy="411480"/>
          </a:xfrm>
          <a:prstGeom prst="ellipse">
            <a:avLst/>
          </a:prstGeom>
          <a:solidFill>
            <a:schemeClr val="accent3"/>
          </a:solidFill>
          <a:ln w="12700">
            <a:solidFill>
              <a:schemeClr val="accent3"/>
            </a:solidFill>
            <a:prstDash val="solid"/>
          </a:ln>
        </p:spPr>
      </p:sp>
      <p:pic>
        <p:nvPicPr>
          <p:cNvPr id="21" name="icon FaKey" descr="FaKey">    </p:cNvPr>
          <p:cNvPicPr>
            <a:picLocks noChangeAspect="1"/>
          </p:cNvPicPr>
          <p:nvPr/>
        </p:nvPicPr>
        <p:blipFill>
          <a:blip r:embed="rId4"/>
          <a:stretch>
            <a:fillRect/>
          </a:stretch>
        </p:blipFill>
        <p:spPr>
          <a:xfrm>
            <a:off x="7048195" y="1516075"/>
            <a:ext cx="213970" cy="213970"/>
          </a:xfrm>
          <a:prstGeom prst="rect">
            <a:avLst/>
          </a:prstGeom>
        </p:spPr>
      </p:pic>
      <p:sp>
        <p:nvSpPr>
          <p:cNvPr id="22" name="Text 15"/>
          <p:cNvSpPr txBox="1"/>
          <p:nvPr/>
        </p:nvSpPr>
        <p:spPr>
          <a:xfrm>
            <a:off x="6949440" y="1938528"/>
            <a:ext cx="1554480" cy="457200"/>
          </a:xfrm>
          <a:prstGeom prst="rect">
            <a:avLst/>
          </a:prstGeom>
          <a:noFill/>
          <a:ln/>
        </p:spPr>
        <p:txBody>
          <a:bodyPr wrap="square" lIns="0" tIns="0" rIns="0" bIns="0" rtlCol="0" anchor="t"/>
          <a:lstStyle/>
          <a:p>
            <a:pPr indent="0" marL="0">
              <a:buNone/>
            </a:pPr>
            <a:r>
              <a:rPr lang="en-US" sz="1400" b="1" dirty="0">
                <a:solidFill>
                  <a:schemeClr val="tx1"/>
                </a:solidFill>
              </a:rPr>
              <a:t>Auth / SSH</a:t>
            </a:r>
            <a:endParaRPr lang="en-US" sz="1400" dirty="0"/>
          </a:p>
        </p:txBody>
      </p:sp>
      <p:sp>
        <p:nvSpPr>
          <p:cNvPr id="23" name="Text 16"/>
          <p:cNvSpPr txBox="1"/>
          <p:nvPr/>
        </p:nvSpPr>
        <p:spPr>
          <a:xfrm>
            <a:off x="6949440" y="2441448"/>
            <a:ext cx="1554480" cy="164592"/>
          </a:xfrm>
          <a:prstGeom prst="rect">
            <a:avLst/>
          </a:prstGeom>
          <a:noFill/>
          <a:ln/>
        </p:spPr>
        <p:txBody>
          <a:bodyPr wrap="square" lIns="0" tIns="0" rIns="0" bIns="0" rtlCol="0" anchor="t"/>
          <a:lstStyle/>
          <a:p>
            <a:pPr indent="0" marL="0">
              <a:buNone/>
            </a:pPr>
            <a:r>
              <a:rPr lang="en-US" sz="1200" dirty="0">
                <a:solidFill>
                  <a:schemeClr val="tx1"/>
                </a:solidFill>
              </a:rPr>
              <a:t>login, permission, SSH</a:t>
            </a:r>
            <a:endParaRPr lang="en-US" sz="1200" dirty="0"/>
          </a:p>
        </p:txBody>
      </p:sp>
      <p:sp>
        <p:nvSpPr>
          <p:cNvPr id="24" name="card"/>
          <p:cNvSpPr/>
          <p:nvPr/>
        </p:nvSpPr>
        <p:spPr>
          <a:xfrm>
            <a:off x="457200" y="2926080"/>
            <a:ext cx="1920240" cy="1554480"/>
          </a:xfrm>
          <a:prstGeom prst="roundRect">
            <a:avLst>
              <a:gd name="adj" fmla="val 5882"/>
            </a:avLst>
          </a:prstGeom>
          <a:solidFill>
            <a:schemeClr val="bg2"/>
          </a:solidFill>
          <a:ln w="12700">
            <a:solidFill>
              <a:schemeClr val="bg2"/>
            </a:solidFill>
            <a:prstDash val="solid"/>
          </a:ln>
        </p:spPr>
      </p:sp>
      <p:sp>
        <p:nvSpPr>
          <p:cNvPr id="25" name="icon circle"/>
          <p:cNvSpPr/>
          <p:nvPr/>
        </p:nvSpPr>
        <p:spPr>
          <a:xfrm>
            <a:off x="640080" y="3108960"/>
            <a:ext cx="411480" cy="411480"/>
          </a:xfrm>
          <a:prstGeom prst="ellipse">
            <a:avLst/>
          </a:prstGeom>
          <a:solidFill>
            <a:schemeClr val="accent1"/>
          </a:solidFill>
          <a:ln w="12700">
            <a:solidFill>
              <a:schemeClr val="accent1"/>
            </a:solidFill>
            <a:prstDash val="solid"/>
          </a:ln>
        </p:spPr>
      </p:sp>
      <p:pic>
        <p:nvPicPr>
          <p:cNvPr id="26" name="icon FaClock" descr="FaClock">    </p:cNvPr>
          <p:cNvPicPr>
            <a:picLocks noChangeAspect="1"/>
          </p:cNvPicPr>
          <p:nvPr/>
        </p:nvPicPr>
        <p:blipFill>
          <a:blip r:embed="rId5"/>
          <a:stretch>
            <a:fillRect/>
          </a:stretch>
        </p:blipFill>
        <p:spPr>
          <a:xfrm>
            <a:off x="738835" y="3207715"/>
            <a:ext cx="213970" cy="213970"/>
          </a:xfrm>
          <a:prstGeom prst="rect">
            <a:avLst/>
          </a:prstGeom>
        </p:spPr>
      </p:pic>
      <p:sp>
        <p:nvSpPr>
          <p:cNvPr id="27" name="Text 19"/>
          <p:cNvSpPr txBox="1"/>
          <p:nvPr/>
        </p:nvSpPr>
        <p:spPr>
          <a:xfrm>
            <a:off x="640080" y="3630168"/>
            <a:ext cx="1554480" cy="457200"/>
          </a:xfrm>
          <a:prstGeom prst="rect">
            <a:avLst/>
          </a:prstGeom>
          <a:noFill/>
          <a:ln/>
        </p:spPr>
        <p:txBody>
          <a:bodyPr wrap="square" lIns="0" tIns="0" rIns="0" bIns="0" rtlCol="0" anchor="t"/>
          <a:lstStyle/>
          <a:p>
            <a:pPr indent="0" marL="0">
              <a:buNone/>
            </a:pPr>
            <a:r>
              <a:rPr lang="en-US" sz="1400" b="1" dirty="0">
                <a:solidFill>
                  <a:schemeClr val="tx1"/>
                </a:solidFill>
              </a:rPr>
              <a:t>Agent / timeout / queue</a:t>
            </a:r>
            <a:endParaRPr lang="en-US" sz="1400" dirty="0"/>
          </a:p>
        </p:txBody>
      </p:sp>
      <p:sp>
        <p:nvSpPr>
          <p:cNvPr id="28" name="Text 20"/>
          <p:cNvSpPr txBox="1"/>
          <p:nvPr/>
        </p:nvSpPr>
        <p:spPr>
          <a:xfrm>
            <a:off x="640080" y="4133088"/>
            <a:ext cx="1554480" cy="164592"/>
          </a:xfrm>
          <a:prstGeom prst="rect">
            <a:avLst/>
          </a:prstGeom>
          <a:noFill/>
          <a:ln/>
        </p:spPr>
        <p:txBody>
          <a:bodyPr wrap="square" lIns="0" tIns="0" rIns="0" bIns="0" rtlCol="0" anchor="t"/>
          <a:lstStyle/>
          <a:p>
            <a:pPr indent="0" marL="0">
              <a:buNone/>
            </a:pPr>
            <a:r>
              <a:rPr lang="en-US" sz="1200" dirty="0">
                <a:solidFill>
                  <a:schemeClr val="tx1"/>
                </a:solidFill>
              </a:rPr>
              <a:t>no agent, too slow</a:t>
            </a:r>
            <a:endParaRPr lang="en-US" sz="1200" dirty="0"/>
          </a:p>
        </p:txBody>
      </p:sp>
      <p:sp>
        <p:nvSpPr>
          <p:cNvPr id="29" name="card"/>
          <p:cNvSpPr/>
          <p:nvPr/>
        </p:nvSpPr>
        <p:spPr>
          <a:xfrm>
            <a:off x="2560320" y="2926080"/>
            <a:ext cx="1920240" cy="1554480"/>
          </a:xfrm>
          <a:prstGeom prst="roundRect">
            <a:avLst>
              <a:gd name="adj" fmla="val 5882"/>
            </a:avLst>
          </a:prstGeom>
          <a:solidFill>
            <a:schemeClr val="bg2"/>
          </a:solidFill>
          <a:ln w="12700">
            <a:solidFill>
              <a:schemeClr val="bg2"/>
            </a:solidFill>
            <a:prstDash val="solid"/>
          </a:ln>
        </p:spPr>
      </p:sp>
      <p:sp>
        <p:nvSpPr>
          <p:cNvPr id="30" name="icon circle"/>
          <p:cNvSpPr/>
          <p:nvPr/>
        </p:nvSpPr>
        <p:spPr>
          <a:xfrm>
            <a:off x="2743200" y="3108960"/>
            <a:ext cx="411480" cy="411480"/>
          </a:xfrm>
          <a:prstGeom prst="ellipse">
            <a:avLst/>
          </a:prstGeom>
          <a:solidFill>
            <a:schemeClr val="accent5"/>
          </a:solidFill>
          <a:ln w="12700">
            <a:solidFill>
              <a:schemeClr val="accent5"/>
            </a:solidFill>
            <a:prstDash val="solid"/>
          </a:ln>
        </p:spPr>
      </p:sp>
      <p:pic>
        <p:nvPicPr>
          <p:cNvPr id="31" name="icon FaCloud" descr="FaCloud">    </p:cNvPr>
          <p:cNvPicPr>
            <a:picLocks noChangeAspect="1"/>
          </p:cNvPicPr>
          <p:nvPr/>
        </p:nvPicPr>
        <p:blipFill>
          <a:blip r:embed="rId6"/>
          <a:stretch>
            <a:fillRect/>
          </a:stretch>
        </p:blipFill>
        <p:spPr>
          <a:xfrm>
            <a:off x="2841955" y="3207715"/>
            <a:ext cx="213970" cy="213970"/>
          </a:xfrm>
          <a:prstGeom prst="rect">
            <a:avLst/>
          </a:prstGeom>
        </p:spPr>
      </p:pic>
      <p:sp>
        <p:nvSpPr>
          <p:cNvPr id="32" name="Text 23"/>
          <p:cNvSpPr txBox="1"/>
          <p:nvPr/>
        </p:nvSpPr>
        <p:spPr>
          <a:xfrm>
            <a:off x="2743200" y="3630168"/>
            <a:ext cx="1554480" cy="457200"/>
          </a:xfrm>
          <a:prstGeom prst="rect">
            <a:avLst/>
          </a:prstGeom>
          <a:noFill/>
          <a:ln/>
        </p:spPr>
        <p:txBody>
          <a:bodyPr wrap="square" lIns="0" tIns="0" rIns="0" bIns="0" rtlCol="0" anchor="t"/>
          <a:lstStyle/>
          <a:p>
            <a:pPr indent="0" marL="0">
              <a:buNone/>
            </a:pPr>
            <a:r>
              <a:rPr lang="en-US" sz="1400" b="1" dirty="0">
                <a:solidFill>
                  <a:schemeClr val="tx1"/>
                </a:solidFill>
              </a:rPr>
              <a:t>Terraform</a:t>
            </a:r>
            <a:endParaRPr lang="en-US" sz="1400" dirty="0"/>
          </a:p>
        </p:txBody>
      </p:sp>
      <p:sp>
        <p:nvSpPr>
          <p:cNvPr id="33" name="Text 24"/>
          <p:cNvSpPr txBox="1"/>
          <p:nvPr/>
        </p:nvSpPr>
        <p:spPr>
          <a:xfrm>
            <a:off x="2743200" y="4133088"/>
            <a:ext cx="1554480" cy="164592"/>
          </a:xfrm>
          <a:prstGeom prst="rect">
            <a:avLst/>
          </a:prstGeom>
          <a:noFill/>
          <a:ln/>
        </p:spPr>
        <p:txBody>
          <a:bodyPr wrap="square" lIns="0" tIns="0" rIns="0" bIns="0" rtlCol="0" anchor="t"/>
          <a:lstStyle/>
          <a:p>
            <a:pPr indent="0" marL="0">
              <a:buNone/>
            </a:pPr>
            <a:r>
              <a:rPr lang="en-US" sz="1200" dirty="0">
                <a:solidFill>
                  <a:schemeClr val="tx1"/>
                </a:solidFill>
              </a:rPr>
              <a:t>infrastructure errors</a:t>
            </a:r>
            <a:endParaRPr lang="en-US" sz="1200" dirty="0"/>
          </a:p>
        </p:txBody>
      </p:sp>
      <p:sp>
        <p:nvSpPr>
          <p:cNvPr id="34" name="card"/>
          <p:cNvSpPr/>
          <p:nvPr/>
        </p:nvSpPr>
        <p:spPr>
          <a:xfrm>
            <a:off x="4663440" y="2926080"/>
            <a:ext cx="1920240" cy="1554480"/>
          </a:xfrm>
          <a:prstGeom prst="roundRect">
            <a:avLst>
              <a:gd name="adj" fmla="val 5882"/>
            </a:avLst>
          </a:prstGeom>
          <a:solidFill>
            <a:schemeClr val="bg2"/>
          </a:solidFill>
          <a:ln w="12700">
            <a:solidFill>
              <a:schemeClr val="bg2"/>
            </a:solidFill>
            <a:prstDash val="solid"/>
          </a:ln>
        </p:spPr>
      </p:sp>
      <p:sp>
        <p:nvSpPr>
          <p:cNvPr id="35" name="icon circle"/>
          <p:cNvSpPr/>
          <p:nvPr/>
        </p:nvSpPr>
        <p:spPr>
          <a:xfrm>
            <a:off x="4846320" y="3108960"/>
            <a:ext cx="411480" cy="411480"/>
          </a:xfrm>
          <a:prstGeom prst="ellipse">
            <a:avLst/>
          </a:prstGeom>
          <a:solidFill>
            <a:schemeClr val="accent5"/>
          </a:solidFill>
          <a:ln w="12700">
            <a:solidFill>
              <a:schemeClr val="accent5"/>
            </a:solidFill>
            <a:prstDash val="solid"/>
          </a:ln>
        </p:spPr>
      </p:sp>
      <p:pic>
        <p:nvPicPr>
          <p:cNvPr id="36" name="icon FaServer" descr="FaServer">    </p:cNvPr>
          <p:cNvPicPr>
            <a:picLocks noChangeAspect="1"/>
          </p:cNvPicPr>
          <p:nvPr/>
        </p:nvPicPr>
        <p:blipFill>
          <a:blip r:embed="rId7"/>
          <a:stretch>
            <a:fillRect/>
          </a:stretch>
        </p:blipFill>
        <p:spPr>
          <a:xfrm>
            <a:off x="4945075" y="3207715"/>
            <a:ext cx="213970" cy="213970"/>
          </a:xfrm>
          <a:prstGeom prst="rect">
            <a:avLst/>
          </a:prstGeom>
        </p:spPr>
      </p:pic>
      <p:sp>
        <p:nvSpPr>
          <p:cNvPr id="37" name="Text 27"/>
          <p:cNvSpPr txBox="1"/>
          <p:nvPr/>
        </p:nvSpPr>
        <p:spPr>
          <a:xfrm>
            <a:off x="4846320" y="3630168"/>
            <a:ext cx="1554480" cy="457200"/>
          </a:xfrm>
          <a:prstGeom prst="rect">
            <a:avLst/>
          </a:prstGeom>
          <a:noFill/>
          <a:ln/>
        </p:spPr>
        <p:txBody>
          <a:bodyPr wrap="square" lIns="0" tIns="0" rIns="0" bIns="0" rtlCol="0" anchor="t"/>
          <a:lstStyle/>
          <a:p>
            <a:pPr indent="0" marL="0">
              <a:buNone/>
            </a:pPr>
            <a:r>
              <a:rPr lang="en-US" sz="1400" b="1" dirty="0">
                <a:solidFill>
                  <a:schemeClr val="tx1"/>
                </a:solidFill>
              </a:rPr>
              <a:t>Ansible / Nginx / deploy</a:t>
            </a:r>
            <a:endParaRPr lang="en-US" sz="1400" dirty="0"/>
          </a:p>
        </p:txBody>
      </p:sp>
      <p:sp>
        <p:nvSpPr>
          <p:cNvPr id="38" name="Text 28"/>
          <p:cNvSpPr txBox="1"/>
          <p:nvPr/>
        </p:nvSpPr>
        <p:spPr>
          <a:xfrm>
            <a:off x="4846320" y="4133088"/>
            <a:ext cx="1554480" cy="164592"/>
          </a:xfrm>
          <a:prstGeom prst="rect">
            <a:avLst/>
          </a:prstGeom>
          <a:noFill/>
          <a:ln/>
        </p:spPr>
        <p:txBody>
          <a:bodyPr wrap="square" lIns="0" tIns="0" rIns="0" bIns="0" rtlCol="0" anchor="t"/>
          <a:lstStyle/>
          <a:p>
            <a:pPr indent="0" marL="0">
              <a:buNone/>
            </a:pPr>
            <a:r>
              <a:rPr lang="en-US" sz="1200" dirty="0">
                <a:solidFill>
                  <a:schemeClr val="tx1"/>
                </a:solidFill>
              </a:rPr>
              <a:t>deployment errors</a:t>
            </a:r>
            <a:endParaRPr lang="en-US" sz="1200" dirty="0"/>
          </a:p>
        </p:txBody>
      </p:sp>
      <p:sp>
        <p:nvSpPr>
          <p:cNvPr id="39" name="card"/>
          <p:cNvSpPr/>
          <p:nvPr/>
        </p:nvSpPr>
        <p:spPr>
          <a:xfrm>
            <a:off x="6766560" y="2926080"/>
            <a:ext cx="1920240" cy="1554480"/>
          </a:xfrm>
          <a:prstGeom prst="roundRect">
            <a:avLst>
              <a:gd name="adj" fmla="val 5882"/>
            </a:avLst>
          </a:prstGeom>
          <a:solidFill>
            <a:schemeClr val="bg2"/>
          </a:solidFill>
          <a:ln w="12700">
            <a:solidFill>
              <a:schemeClr val="bg2"/>
            </a:solidFill>
            <a:prstDash val="solid"/>
          </a:ln>
        </p:spPr>
      </p:sp>
      <p:sp>
        <p:nvSpPr>
          <p:cNvPr id="40" name="icon circle"/>
          <p:cNvSpPr/>
          <p:nvPr/>
        </p:nvSpPr>
        <p:spPr>
          <a:xfrm>
            <a:off x="6949440" y="3108960"/>
            <a:ext cx="411480" cy="411480"/>
          </a:xfrm>
          <a:prstGeom prst="ellipse">
            <a:avLst/>
          </a:prstGeom>
          <a:solidFill>
            <a:schemeClr val="tx2"/>
          </a:solidFill>
          <a:ln w="12700">
            <a:solidFill>
              <a:schemeClr val="tx2"/>
            </a:solidFill>
            <a:prstDash val="solid"/>
          </a:ln>
        </p:spPr>
      </p:sp>
      <p:pic>
        <p:nvPicPr>
          <p:cNvPr id="41" name="icon FaQuestionCircle" descr="FaQuestionCircle">    </p:cNvPr>
          <p:cNvPicPr>
            <a:picLocks noChangeAspect="1"/>
          </p:cNvPicPr>
          <p:nvPr/>
        </p:nvPicPr>
        <p:blipFill>
          <a:blip r:embed="rId8"/>
          <a:stretch>
            <a:fillRect/>
          </a:stretch>
        </p:blipFill>
        <p:spPr>
          <a:xfrm>
            <a:off x="7048195" y="3207715"/>
            <a:ext cx="213970" cy="213970"/>
          </a:xfrm>
          <a:prstGeom prst="rect">
            <a:avLst/>
          </a:prstGeom>
        </p:spPr>
      </p:pic>
      <p:sp>
        <p:nvSpPr>
          <p:cNvPr id="42" name="Text 31"/>
          <p:cNvSpPr txBox="1"/>
          <p:nvPr/>
        </p:nvSpPr>
        <p:spPr>
          <a:xfrm>
            <a:off x="6949440" y="3630168"/>
            <a:ext cx="1554480" cy="457200"/>
          </a:xfrm>
          <a:prstGeom prst="rect">
            <a:avLst/>
          </a:prstGeom>
          <a:noFill/>
          <a:ln/>
        </p:spPr>
        <p:txBody>
          <a:bodyPr wrap="square" lIns="0" tIns="0" rIns="0" bIns="0" rtlCol="0" anchor="t"/>
          <a:lstStyle/>
          <a:p>
            <a:pPr indent="0" marL="0">
              <a:buNone/>
            </a:pPr>
            <a:r>
              <a:rPr lang="en-US" sz="1400" b="1" dirty="0">
                <a:solidFill>
                  <a:schemeClr val="tx1"/>
                </a:solidFill>
              </a:rPr>
              <a:t>Unclassified</a:t>
            </a:r>
            <a:endParaRPr lang="en-US" sz="1400" dirty="0"/>
          </a:p>
        </p:txBody>
      </p:sp>
      <p:sp>
        <p:nvSpPr>
          <p:cNvPr id="43" name="Text 32"/>
          <p:cNvSpPr txBox="1"/>
          <p:nvPr/>
        </p:nvSpPr>
        <p:spPr>
          <a:xfrm>
            <a:off x="6949440" y="4133088"/>
            <a:ext cx="1554480" cy="164592"/>
          </a:xfrm>
          <a:prstGeom prst="rect">
            <a:avLst/>
          </a:prstGeom>
          <a:noFill/>
          <a:ln/>
        </p:spPr>
        <p:txBody>
          <a:bodyPr wrap="square" lIns="0" tIns="0" rIns="0" bIns="0" rtlCol="0" anchor="t"/>
          <a:lstStyle/>
          <a:p>
            <a:pPr indent="0" marL="0">
              <a:buNone/>
            </a:pPr>
            <a:r>
              <a:rPr lang="en-US" sz="1200" dirty="0">
                <a:solidFill>
                  <a:schemeClr val="tx1"/>
                </a:solidFill>
              </a:rPr>
              <a:t>failed, no pattern matched</a:t>
            </a:r>
            <a:endParaRPr lang="en-US" sz="1200" dirty="0"/>
          </a:p>
        </p:txBody>
      </p:sp>
      <p:sp>
        <p:nvSpPr>
          <p:cNvPr id="44" name="Text 33"/>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300" i="1" dirty="0">
                <a:solidFill>
                  <a:schemeClr val="tx2"/>
                </a:solidFill>
              </a:rPr>
              <a:t>The first seven are patterns. Number eight is the safety net.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How run states map to results</a:t>
            </a:r>
            <a:endParaRPr lang="en-US" sz="3000" dirty="0"/>
          </a:p>
        </p:txBody>
      </p:sp>
      <p:graphicFrame>
        <p:nvGraphicFramePr>
          <p:cNvPr id="41" name="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926080"/>
                <a:gridCol w="2743200"/>
                <a:gridCol w="1280160"/>
                <a:gridCol w="1280160"/>
              </a:tblGrid>
              <a:tr h="475488">
                <a:tc>
                  <a:txBody>
                    <a:bodyPr/>
                    <a:lstStyle/>
                    <a:p>
                      <a:pPr indent="0" marL="0">
                        <a:buNone/>
                      </a:pPr>
                      <a:r>
                        <a:rPr lang="en-US" sz="1500" b="1" dirty="0">
                          <a:solidFill>
                            <a:schemeClr val="bg1"/>
                          </a:solidFill>
                        </a:rPr>
                        <a:t>Run state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Meaning</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Report</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Exit</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475488">
                <a:tc>
                  <a:txBody>
                    <a:bodyPr/>
                    <a:lstStyle/>
                    <a:p>
                      <a:pPr indent="0" marL="0">
                        <a:buNone/>
                      </a:pPr>
                      <a:r>
                        <a:rPr lang="en-US" sz="1500" b="1" dirty="0">
                          <a:solidFill>
                            <a:schemeClr val="tx1"/>
                          </a:solidFill>
                        </a:rPr>
                        <a:t>Completed + succeeded</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Finished cleanly</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PASS</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0</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75488">
                <a:tc>
                  <a:txBody>
                    <a:bodyPr/>
                    <a:lstStyle/>
                    <a:p>
                      <a:pPr indent="0" marL="0">
                        <a:buNone/>
                      </a:pPr>
                      <a:r>
                        <a:rPr lang="en-US" sz="1500" b="1" dirty="0">
                          <a:solidFill>
                            <a:schemeClr val="tx1"/>
                          </a:solidFill>
                        </a:rPr>
                        <a:t>Queued / running</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Not finished yet</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WARN</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75488">
                <a:tc>
                  <a:txBody>
                    <a:bodyPr/>
                    <a:lstStyle/>
                    <a:p>
                      <a:pPr indent="0" marL="0">
                        <a:buNone/>
                      </a:pPr>
                      <a:r>
                        <a:rPr lang="en-US" sz="1500" b="1" dirty="0">
                          <a:solidFill>
                            <a:schemeClr val="tx1"/>
                          </a:solidFill>
                        </a:rPr>
                        <a:t>Canceled / partially succeeded</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Not fully successful</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WARN</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75488">
                <a:tc>
                  <a:txBody>
                    <a:bodyPr/>
                    <a:lstStyle/>
                    <a:p>
                      <a:pPr indent="0" marL="0">
                        <a:buNone/>
                      </a:pPr>
                      <a:r>
                        <a:rPr lang="en-US" sz="1500" b="1" dirty="0">
                          <a:solidFill>
                            <a:schemeClr val="tx1"/>
                          </a:solidFill>
                        </a:rPr>
                        <a:t>Completed + failed</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Investigate, then classify</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FAIL</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75488">
                <a:tc>
                  <a:txBody>
                    <a:bodyPr/>
                    <a:lstStyle/>
                    <a:p>
                      <a:pPr indent="0" marL="0">
                        <a:buNone/>
                      </a:pPr>
                      <a:r>
                        <a:rPr lang="en-US" sz="1500" b="1" dirty="0">
                          <a:solidFill>
                            <a:schemeClr val="tx1"/>
                          </a:solidFill>
                        </a:rPr>
                        <a:t>Auth / API / log error</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The triage itself broke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ERROR</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3</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400" i="1" dirty="0">
                <a:solidFill>
                  <a:schemeClr val="tx2"/>
                </a:solidFill>
              </a:rPr>
              <a:t>Failed with no known pattern is still FAIL, classified as Unclassified Pipeline Failure.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Exit codes: the script talks to other tools</a:t>
            </a:r>
            <a:endParaRPr lang="en-US" sz="3000" dirty="0"/>
          </a:p>
        </p:txBody>
      </p:sp>
      <p:sp>
        <p:nvSpPr>
          <p:cNvPr id="4" name="Shape 1"/>
          <p:cNvSpPr/>
          <p:nvPr/>
        </p:nvSpPr>
        <p:spPr>
          <a:xfrm>
            <a:off x="457200" y="1280160"/>
            <a:ext cx="1920240" cy="2743200"/>
          </a:xfrm>
          <a:prstGeom prst="roundRect">
            <a:avLst>
              <a:gd name="adj" fmla="val 4762"/>
            </a:avLst>
          </a:prstGeom>
          <a:solidFill>
            <a:schemeClr val="accent6"/>
          </a:solidFill>
          <a:ln w="12700">
            <a:solidFill>
              <a:schemeClr val="accent6"/>
            </a:solidFill>
            <a:prstDash val="solid"/>
          </a:ln>
        </p:spPr>
      </p:sp>
      <p:sp>
        <p:nvSpPr>
          <p:cNvPr id="5" name="Text 2"/>
          <p:cNvSpPr txBox="1"/>
          <p:nvPr/>
        </p:nvSpPr>
        <p:spPr>
          <a:xfrm>
            <a:off x="457200" y="1417320"/>
            <a:ext cx="1920240" cy="914400"/>
          </a:xfrm>
          <a:prstGeom prst="rect">
            <a:avLst/>
          </a:prstGeom>
          <a:noFill/>
          <a:ln/>
        </p:spPr>
        <p:txBody>
          <a:bodyPr wrap="square" lIns="0" tIns="0" rIns="0" bIns="0" rtlCol="0" anchor="ctr"/>
          <a:lstStyle/>
          <a:p>
            <a:pPr algn="ctr" indent="0" marL="0">
              <a:buNone/>
            </a:pPr>
            <a:r>
              <a:rPr lang="en-US" sz="6000" b="1" dirty="0">
                <a:solidFill>
                  <a:schemeClr val="bg1"/>
                </a:solidFill>
                <a:latin typeface="Cambria" pitchFamily="34" charset="0"/>
                <a:ea typeface="Cambria" pitchFamily="34" charset="-122"/>
                <a:cs typeface="Cambria" pitchFamily="34" charset="-120"/>
              </a:rPr>
              <a:t>0</a:t>
            </a:r>
            <a:endParaRPr lang="en-US" sz="6000" dirty="0"/>
          </a:p>
        </p:txBody>
      </p:sp>
      <p:sp>
        <p:nvSpPr>
          <p:cNvPr id="6" name="Text 3"/>
          <p:cNvSpPr txBox="1"/>
          <p:nvPr/>
        </p:nvSpPr>
        <p:spPr>
          <a:xfrm>
            <a:off x="457200" y="2423160"/>
            <a:ext cx="1920240" cy="365760"/>
          </a:xfrm>
          <a:prstGeom prst="rect">
            <a:avLst/>
          </a:prstGeom>
          <a:noFill/>
          <a:ln/>
        </p:spPr>
        <p:txBody>
          <a:bodyPr wrap="square" lIns="0" tIns="0" rIns="0" bIns="0" rtlCol="0" anchor="t"/>
          <a:lstStyle/>
          <a:p>
            <a:pPr algn="ctr" indent="0" marL="0">
              <a:buNone/>
            </a:pPr>
            <a:r>
              <a:rPr lang="en-US" sz="2000" b="1" dirty="0">
                <a:solidFill>
                  <a:schemeClr val="bg1"/>
                </a:solidFill>
              </a:rPr>
              <a:t>Healthy</a:t>
            </a:r>
            <a:endParaRPr lang="en-US" sz="2000" dirty="0"/>
          </a:p>
        </p:txBody>
      </p:sp>
      <p:sp>
        <p:nvSpPr>
          <p:cNvPr id="7" name="Text 4"/>
          <p:cNvSpPr txBox="1"/>
          <p:nvPr/>
        </p:nvSpPr>
        <p:spPr>
          <a:xfrm>
            <a:off x="594360" y="2880360"/>
            <a:ext cx="1645920" cy="1005840"/>
          </a:xfrm>
          <a:prstGeom prst="rect">
            <a:avLst/>
          </a:prstGeom>
          <a:noFill/>
          <a:ln/>
        </p:spPr>
        <p:txBody>
          <a:bodyPr wrap="square" lIns="0" tIns="0" rIns="0" bIns="0" rtlCol="0" anchor="t"/>
          <a:lstStyle/>
          <a:p>
            <a:pPr algn="ctr" indent="0" marL="0">
              <a:buNone/>
            </a:pPr>
            <a:r>
              <a:rPr lang="en-US" sz="1400" dirty="0">
                <a:solidFill>
                  <a:schemeClr val="bg1"/>
                </a:solidFill>
              </a:rPr>
              <a:t>Both latest completed runs succeeded</a:t>
            </a:r>
            <a:endParaRPr lang="en-US" sz="1400" dirty="0"/>
          </a:p>
        </p:txBody>
      </p:sp>
      <p:sp>
        <p:nvSpPr>
          <p:cNvPr id="8" name="Shape 5"/>
          <p:cNvSpPr/>
          <p:nvPr/>
        </p:nvSpPr>
        <p:spPr>
          <a:xfrm>
            <a:off x="2560320" y="1280160"/>
            <a:ext cx="1920240" cy="2743200"/>
          </a:xfrm>
          <a:prstGeom prst="roundRect">
            <a:avLst>
              <a:gd name="adj" fmla="val 4762"/>
            </a:avLst>
          </a:prstGeom>
          <a:solidFill>
            <a:schemeClr val="accent1"/>
          </a:solidFill>
          <a:ln w="12700">
            <a:solidFill>
              <a:schemeClr val="accent1"/>
            </a:solidFill>
            <a:prstDash val="solid"/>
          </a:ln>
        </p:spPr>
      </p:sp>
      <p:sp>
        <p:nvSpPr>
          <p:cNvPr id="9" name="Text 6"/>
          <p:cNvSpPr txBox="1"/>
          <p:nvPr/>
        </p:nvSpPr>
        <p:spPr>
          <a:xfrm>
            <a:off x="2560320" y="1417320"/>
            <a:ext cx="1920240" cy="914400"/>
          </a:xfrm>
          <a:prstGeom prst="rect">
            <a:avLst/>
          </a:prstGeom>
          <a:noFill/>
          <a:ln/>
        </p:spPr>
        <p:txBody>
          <a:bodyPr wrap="square" lIns="0" tIns="0" rIns="0" bIns="0" rtlCol="0" anchor="ctr"/>
          <a:lstStyle/>
          <a:p>
            <a:pPr algn="ctr" indent="0" marL="0">
              <a:buNone/>
            </a:pPr>
            <a:r>
              <a:rPr lang="en-US" sz="6000" b="1" dirty="0">
                <a:solidFill>
                  <a:schemeClr val="tx1"/>
                </a:solidFill>
                <a:latin typeface="Cambria" pitchFamily="34" charset="0"/>
                <a:ea typeface="Cambria" pitchFamily="34" charset="-122"/>
                <a:cs typeface="Cambria" pitchFamily="34" charset="-120"/>
              </a:rPr>
              <a:t>1</a:t>
            </a:r>
            <a:endParaRPr lang="en-US" sz="6000" dirty="0"/>
          </a:p>
        </p:txBody>
      </p:sp>
      <p:sp>
        <p:nvSpPr>
          <p:cNvPr id="10" name="Text 7"/>
          <p:cNvSpPr txBox="1"/>
          <p:nvPr/>
        </p:nvSpPr>
        <p:spPr>
          <a:xfrm>
            <a:off x="2560320" y="2423160"/>
            <a:ext cx="1920240" cy="365760"/>
          </a:xfrm>
          <a:prstGeom prst="rect">
            <a:avLst/>
          </a:prstGeom>
          <a:noFill/>
          <a:ln/>
        </p:spPr>
        <p:txBody>
          <a:bodyPr wrap="square" lIns="0" tIns="0" rIns="0" bIns="0" rtlCol="0" anchor="t"/>
          <a:lstStyle/>
          <a:p>
            <a:pPr algn="ctr" indent="0" marL="0">
              <a:buNone/>
            </a:pPr>
            <a:r>
              <a:rPr lang="en-US" sz="2000" b="1" dirty="0">
                <a:solidFill>
                  <a:schemeClr val="tx1"/>
                </a:solidFill>
              </a:rPr>
              <a:t>Warning</a:t>
            </a:r>
            <a:endParaRPr lang="en-US" sz="2000" dirty="0"/>
          </a:p>
        </p:txBody>
      </p:sp>
      <p:sp>
        <p:nvSpPr>
          <p:cNvPr id="11" name="Text 8"/>
          <p:cNvSpPr txBox="1"/>
          <p:nvPr/>
        </p:nvSpPr>
        <p:spPr>
          <a:xfrm>
            <a:off x="2697480" y="2880360"/>
            <a:ext cx="1645920" cy="1005840"/>
          </a:xfrm>
          <a:prstGeom prst="rect">
            <a:avLst/>
          </a:prstGeom>
          <a:noFill/>
          <a:ln/>
        </p:spPr>
        <p:txBody>
          <a:bodyPr wrap="square" lIns="0" tIns="0" rIns="0" bIns="0" rtlCol="0" anchor="t"/>
          <a:lstStyle/>
          <a:p>
            <a:pPr algn="ctr" indent="0" marL="0">
              <a:buNone/>
            </a:pPr>
            <a:r>
              <a:rPr lang="en-US" sz="1400" dirty="0">
                <a:solidFill>
                  <a:schemeClr val="tx1"/>
                </a:solidFill>
              </a:rPr>
              <a:t>Queued, running or partly successful</a:t>
            </a:r>
            <a:endParaRPr lang="en-US" sz="1400" dirty="0"/>
          </a:p>
        </p:txBody>
      </p:sp>
      <p:sp>
        <p:nvSpPr>
          <p:cNvPr id="12" name="Shape 9"/>
          <p:cNvSpPr/>
          <p:nvPr/>
        </p:nvSpPr>
        <p:spPr>
          <a:xfrm>
            <a:off x="4663440" y="1280160"/>
            <a:ext cx="1920240" cy="2743200"/>
          </a:xfrm>
          <a:prstGeom prst="roundRect">
            <a:avLst>
              <a:gd name="adj" fmla="val 4762"/>
            </a:avLst>
          </a:prstGeom>
          <a:solidFill>
            <a:schemeClr val="accent3"/>
          </a:solidFill>
          <a:ln w="12700">
            <a:solidFill>
              <a:schemeClr val="accent3"/>
            </a:solidFill>
            <a:prstDash val="solid"/>
          </a:ln>
        </p:spPr>
      </p:sp>
      <p:sp>
        <p:nvSpPr>
          <p:cNvPr id="13" name="Text 10"/>
          <p:cNvSpPr txBox="1"/>
          <p:nvPr/>
        </p:nvSpPr>
        <p:spPr>
          <a:xfrm>
            <a:off x="4663440" y="1417320"/>
            <a:ext cx="1920240" cy="914400"/>
          </a:xfrm>
          <a:prstGeom prst="rect">
            <a:avLst/>
          </a:prstGeom>
          <a:noFill/>
          <a:ln/>
        </p:spPr>
        <p:txBody>
          <a:bodyPr wrap="square" lIns="0" tIns="0" rIns="0" bIns="0" rtlCol="0" anchor="ctr"/>
          <a:lstStyle/>
          <a:p>
            <a:pPr algn="ctr" indent="0" marL="0">
              <a:buNone/>
            </a:pPr>
            <a:r>
              <a:rPr lang="en-US" sz="6000" b="1" dirty="0">
                <a:solidFill>
                  <a:schemeClr val="bg1"/>
                </a:solidFill>
                <a:latin typeface="Cambria" pitchFamily="34" charset="0"/>
                <a:ea typeface="Cambria" pitchFamily="34" charset="-122"/>
                <a:cs typeface="Cambria" pitchFamily="34" charset="-120"/>
              </a:rPr>
              <a:t>2</a:t>
            </a:r>
            <a:endParaRPr lang="en-US" sz="6000" dirty="0"/>
          </a:p>
        </p:txBody>
      </p:sp>
      <p:sp>
        <p:nvSpPr>
          <p:cNvPr id="14" name="Text 11"/>
          <p:cNvSpPr txBox="1"/>
          <p:nvPr/>
        </p:nvSpPr>
        <p:spPr>
          <a:xfrm>
            <a:off x="4663440" y="2423160"/>
            <a:ext cx="1920240" cy="365760"/>
          </a:xfrm>
          <a:prstGeom prst="rect">
            <a:avLst/>
          </a:prstGeom>
          <a:noFill/>
          <a:ln/>
        </p:spPr>
        <p:txBody>
          <a:bodyPr wrap="square" lIns="0" tIns="0" rIns="0" bIns="0" rtlCol="0" anchor="t"/>
          <a:lstStyle/>
          <a:p>
            <a:pPr algn="ctr" indent="0" marL="0">
              <a:buNone/>
            </a:pPr>
            <a:r>
              <a:rPr lang="en-US" sz="2000" b="1" dirty="0">
                <a:solidFill>
                  <a:schemeClr val="bg1"/>
                </a:solidFill>
              </a:rPr>
              <a:t>Failure</a:t>
            </a:r>
            <a:endParaRPr lang="en-US" sz="2000" dirty="0"/>
          </a:p>
        </p:txBody>
      </p:sp>
      <p:sp>
        <p:nvSpPr>
          <p:cNvPr id="15" name="Text 12"/>
          <p:cNvSpPr txBox="1"/>
          <p:nvPr/>
        </p:nvSpPr>
        <p:spPr>
          <a:xfrm>
            <a:off x="4800600" y="2880360"/>
            <a:ext cx="1645920" cy="1005840"/>
          </a:xfrm>
          <a:prstGeom prst="rect">
            <a:avLst/>
          </a:prstGeom>
          <a:noFill/>
          <a:ln/>
        </p:spPr>
        <p:txBody>
          <a:bodyPr wrap="square" lIns="0" tIns="0" rIns="0" bIns="0" rtlCol="0" anchor="t"/>
          <a:lstStyle/>
          <a:p>
            <a:pPr algn="ctr" indent="0" marL="0">
              <a:buNone/>
            </a:pPr>
            <a:r>
              <a:rPr lang="en-US" sz="1400" dirty="0">
                <a:solidFill>
                  <a:schemeClr val="bg1"/>
                </a:solidFill>
              </a:rPr>
              <a:t>One or more pipeline failures</a:t>
            </a:r>
            <a:endParaRPr lang="en-US" sz="1400" dirty="0"/>
          </a:p>
        </p:txBody>
      </p:sp>
      <p:sp>
        <p:nvSpPr>
          <p:cNvPr id="16" name="Shape 13"/>
          <p:cNvSpPr/>
          <p:nvPr/>
        </p:nvSpPr>
        <p:spPr>
          <a:xfrm>
            <a:off x="6766560" y="1280160"/>
            <a:ext cx="1920240" cy="2743200"/>
          </a:xfrm>
          <a:prstGeom prst="roundRect">
            <a:avLst>
              <a:gd name="adj" fmla="val 4762"/>
            </a:avLst>
          </a:prstGeom>
          <a:solidFill>
            <a:schemeClr val="accent5"/>
          </a:solidFill>
          <a:ln w="12700">
            <a:solidFill>
              <a:schemeClr val="accent5"/>
            </a:solidFill>
            <a:prstDash val="solid"/>
          </a:ln>
        </p:spPr>
      </p:sp>
      <p:sp>
        <p:nvSpPr>
          <p:cNvPr id="17" name="Text 14"/>
          <p:cNvSpPr txBox="1"/>
          <p:nvPr/>
        </p:nvSpPr>
        <p:spPr>
          <a:xfrm>
            <a:off x="6766560" y="1417320"/>
            <a:ext cx="1920240" cy="914400"/>
          </a:xfrm>
          <a:prstGeom prst="rect">
            <a:avLst/>
          </a:prstGeom>
          <a:noFill/>
          <a:ln/>
        </p:spPr>
        <p:txBody>
          <a:bodyPr wrap="square" lIns="0" tIns="0" rIns="0" bIns="0" rtlCol="0" anchor="ctr"/>
          <a:lstStyle/>
          <a:p>
            <a:pPr algn="ctr" indent="0" marL="0">
              <a:buNone/>
            </a:pPr>
            <a:r>
              <a:rPr lang="en-US" sz="6000" b="1" dirty="0">
                <a:solidFill>
                  <a:schemeClr val="bg1"/>
                </a:solidFill>
                <a:latin typeface="Cambria" pitchFamily="34" charset="0"/>
                <a:ea typeface="Cambria" pitchFamily="34" charset="-122"/>
                <a:cs typeface="Cambria" pitchFamily="34" charset="-120"/>
              </a:rPr>
              <a:t>3</a:t>
            </a:r>
            <a:endParaRPr lang="en-US" sz="6000" dirty="0"/>
          </a:p>
        </p:txBody>
      </p:sp>
      <p:sp>
        <p:nvSpPr>
          <p:cNvPr id="18" name="Text 15"/>
          <p:cNvSpPr txBox="1"/>
          <p:nvPr/>
        </p:nvSpPr>
        <p:spPr>
          <a:xfrm>
            <a:off x="6766560" y="2423160"/>
            <a:ext cx="1920240" cy="365760"/>
          </a:xfrm>
          <a:prstGeom prst="rect">
            <a:avLst/>
          </a:prstGeom>
          <a:noFill/>
          <a:ln/>
        </p:spPr>
        <p:txBody>
          <a:bodyPr wrap="square" lIns="0" tIns="0" rIns="0" bIns="0" rtlCol="0" anchor="t"/>
          <a:lstStyle/>
          <a:p>
            <a:pPr algn="ctr" indent="0" marL="0">
              <a:buNone/>
            </a:pPr>
            <a:r>
              <a:rPr lang="en-US" sz="2000" b="1" dirty="0">
                <a:solidFill>
                  <a:schemeClr val="bg1"/>
                </a:solidFill>
              </a:rPr>
              <a:t>Error</a:t>
            </a:r>
            <a:endParaRPr lang="en-US" sz="2000" dirty="0"/>
          </a:p>
        </p:txBody>
      </p:sp>
      <p:sp>
        <p:nvSpPr>
          <p:cNvPr id="19" name="Text 16"/>
          <p:cNvSpPr txBox="1"/>
          <p:nvPr/>
        </p:nvSpPr>
        <p:spPr>
          <a:xfrm>
            <a:off x="6903720" y="2880360"/>
            <a:ext cx="1645920" cy="1005840"/>
          </a:xfrm>
          <a:prstGeom prst="rect">
            <a:avLst/>
          </a:prstGeom>
          <a:noFill/>
          <a:ln/>
        </p:spPr>
        <p:txBody>
          <a:bodyPr wrap="square" lIns="0" tIns="0" rIns="0" bIns="0" rtlCol="0" anchor="t"/>
          <a:lstStyle/>
          <a:p>
            <a:pPr algn="ctr" indent="0" marL="0">
              <a:buNone/>
            </a:pPr>
            <a:r>
              <a:rPr lang="en-US" sz="1400" dirty="0">
                <a:solidFill>
                  <a:schemeClr val="bg1"/>
                </a:solidFill>
              </a:rPr>
              <a:t>Config, auth, API or log problem</a:t>
            </a:r>
            <a:endParaRPr lang="en-US" sz="1400" dirty="0"/>
          </a:p>
        </p:txBody>
      </p:sp>
      <p:sp>
        <p:nvSpPr>
          <p:cNvPr id="20" name="Text 17"/>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500" b="1" dirty="0">
                <a:solidFill>
                  <a:schemeClr val="accent2"/>
                </a:solidFill>
              </a:rPr>
              <a:t>Capture it right away: echo $?</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the script writes to reports/</a:t>
            </a:r>
            <a:endParaRPr lang="en-US" sz="3000" dirty="0"/>
          </a:p>
        </p:txBody>
      </p:sp>
      <p:sp>
        <p:nvSpPr>
          <p:cNvPr id="4" name="code panel"/>
          <p:cNvSpPr/>
          <p:nvPr/>
        </p:nvSpPr>
        <p:spPr>
          <a:xfrm>
            <a:off x="457200" y="1280160"/>
            <a:ext cx="3931920" cy="1463040"/>
          </a:xfrm>
          <a:prstGeom prst="roundRect">
            <a:avLst>
              <a:gd name="adj" fmla="val 5000"/>
            </a:avLst>
          </a:prstGeom>
          <a:solidFill>
            <a:schemeClr val="tx1"/>
          </a:solidFill>
          <a:ln w="12700">
            <a:solidFill>
              <a:schemeClr val="tx1"/>
            </a:solidFill>
            <a:prstDash val="solid"/>
          </a:ln>
        </p:spPr>
      </p:sp>
      <p:sp>
        <p:nvSpPr>
          <p:cNvPr id="5" name="code"/>
          <p:cNvSpPr txBox="1"/>
          <p:nvPr/>
        </p:nvSpPr>
        <p:spPr>
          <a:xfrm>
            <a:off x="621792" y="1389888"/>
            <a:ext cx="3602736" cy="12435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reports/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pipeline-health-report.txt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infra-last-run.log</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app-last-run.log</a:t>
            </a:r>
            <a:endParaRPr lang="en-US" sz="1300" dirty="0"/>
          </a:p>
        </p:txBody>
      </p:sp>
      <p:sp>
        <p:nvSpPr>
          <p:cNvPr id="6" name="Text 3"/>
          <p:cNvSpPr txBox="1"/>
          <p:nvPr/>
        </p:nvSpPr>
        <p:spPr>
          <a:xfrm>
            <a:off x="457200" y="2926080"/>
            <a:ext cx="3931920" cy="1280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Overwritten on every run</a:t>
            </a:r>
            <a:endParaRPr lang="en-US" sz="1400" dirty="0"/>
          </a:p>
          <a:p>
            <a:pPr marL="342900" indent="-342900">
              <a:spcAft>
                <a:spcPts val="500"/>
              </a:spcAft>
              <a:buSzPct val="100000"/>
              <a:buChar char="•"/>
            </a:pPr>
            <a:r>
              <a:rPr lang="en-US" sz="1400" dirty="0">
                <a:solidFill>
                  <a:schemeClr val="tx1"/>
                </a:solidFill>
              </a:rPr>
              <a:t>Logs are sanitised</a:t>
            </a:r>
            <a:endParaRPr lang="en-US" sz="1400" dirty="0"/>
          </a:p>
          <a:p>
            <a:pPr marL="342900" indent="-342900">
              <a:spcAft>
                <a:spcPts val="500"/>
              </a:spcAft>
              <a:buSzPct val="100000"/>
              <a:buChar char="•"/>
            </a:pPr>
            <a:r>
              <a:rPr lang="en-US" sz="1400" dirty="0">
                <a:solidFill>
                  <a:schemeClr val="tx1"/>
                </a:solidFill>
              </a:rPr>
              <a:t>Healthy runs may have little in the logs</a:t>
            </a:r>
            <a:endParaRPr lang="en-US" sz="1400" dirty="0"/>
          </a:p>
        </p:txBody>
      </p:sp>
      <p:sp>
        <p:nvSpPr>
          <p:cNvPr id="7" name="Text 4"/>
          <p:cNvSpPr txBox="1"/>
          <p:nvPr/>
        </p:nvSpPr>
        <p:spPr>
          <a:xfrm>
            <a:off x="4754880" y="1234440"/>
            <a:ext cx="3931920" cy="320040"/>
          </a:xfrm>
          <a:prstGeom prst="rect">
            <a:avLst/>
          </a:prstGeom>
          <a:noFill/>
          <a:ln/>
        </p:spPr>
        <p:txBody>
          <a:bodyPr wrap="square" lIns="0" tIns="0" rIns="0" bIns="0" rtlCol="0" anchor="t"/>
          <a:lstStyle/>
          <a:p>
            <a:pPr indent="0" marL="0">
              <a:buNone/>
            </a:pPr>
            <a:r>
              <a:rPr lang="en-US" sz="1600" b="1" dirty="0">
                <a:solidFill>
                  <a:schemeClr val="tx1"/>
                </a:solidFill>
              </a:rPr>
              <a:t>The report contains</a:t>
            </a:r>
            <a:endParaRPr lang="en-US" sz="1600" dirty="0"/>
          </a:p>
        </p:txBody>
      </p:sp>
      <p:sp>
        <p:nvSpPr>
          <p:cNvPr id="8" name="Text 5"/>
          <p:cNvSpPr txBox="1"/>
          <p:nvPr/>
        </p:nvSpPr>
        <p:spPr>
          <a:xfrm>
            <a:off x="4754880" y="1645920"/>
            <a:ext cx="3931920" cy="27432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Your full name and a timestamp</a:t>
            </a:r>
            <a:endParaRPr lang="en-US" sz="1400" dirty="0"/>
          </a:p>
          <a:p>
            <a:pPr marL="342900" indent="-342900">
              <a:spcAft>
                <a:spcPts val="500"/>
              </a:spcAft>
              <a:buSzPct val="100000"/>
              <a:buChar char="•"/>
            </a:pPr>
            <a:r>
              <a:rPr lang="en-US" sz="1400" dirty="0">
                <a:solidFill>
                  <a:schemeClr val="tx1"/>
                </a:solidFill>
              </a:rPr>
              <a:t>Per pipeline: name, ID, run ID, branch, status, result, completion time</a:t>
            </a:r>
            <a:endParaRPr lang="en-US" sz="1400" dirty="0"/>
          </a:p>
          <a:p>
            <a:pPr marL="342900" indent="-342900">
              <a:spcAft>
                <a:spcPts val="500"/>
              </a:spcAft>
              <a:buSzPct val="100000"/>
              <a:buChar char="•"/>
            </a:pPr>
            <a:r>
              <a:rPr lang="en-US" sz="1400" dirty="0">
                <a:solidFill>
                  <a:schemeClr val="tx1"/>
                </a:solidFill>
              </a:rPr>
              <a:t>Classification and one sanitised evidence line (on failure)</a:t>
            </a:r>
            <a:endParaRPr lang="en-US" sz="1400" dirty="0"/>
          </a:p>
          <a:p>
            <a:pPr marL="342900" indent="-342900">
              <a:spcAft>
                <a:spcPts val="500"/>
              </a:spcAft>
              <a:buSzPct val="100000"/>
              <a:buChar char="•"/>
            </a:pPr>
            <a:r>
              <a:rPr lang="en-US" sz="1400" dirty="0">
                <a:solidFill>
                  <a:schemeClr val="tx1"/>
                </a:solidFill>
              </a:rPr>
              <a:t>PASS / WARN / FAIL / ERROR totals</a:t>
            </a:r>
            <a:endParaRPr lang="en-US" sz="1400" dirty="0"/>
          </a:p>
          <a:p>
            <a:pPr marL="342900" indent="-342900">
              <a:spcAft>
                <a:spcPts val="500"/>
              </a:spcAft>
              <a:buSzPct val="100000"/>
              <a:buChar char="•"/>
            </a:pPr>
            <a:r>
              <a:rPr lang="en-US" sz="1400" dirty="0">
                <a:solidFill>
                  <a:schemeClr val="tx1"/>
                </a:solidFill>
              </a:rPr>
              <a:t>Overall status and exit code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Make it executable, then check the syntax</a:t>
            </a:r>
            <a:endParaRPr lang="en-US" sz="3000" dirty="0"/>
          </a:p>
        </p:txBody>
      </p:sp>
      <p:sp>
        <p:nvSpPr>
          <p:cNvPr id="4" name="code panel"/>
          <p:cNvSpPr/>
          <p:nvPr/>
        </p:nvSpPr>
        <p:spPr>
          <a:xfrm>
            <a:off x="457200" y="1280160"/>
            <a:ext cx="8229600" cy="1188720"/>
          </a:xfrm>
          <a:prstGeom prst="roundRect">
            <a:avLst>
              <a:gd name="adj" fmla="val 6154"/>
            </a:avLst>
          </a:prstGeom>
          <a:solidFill>
            <a:schemeClr val="tx1"/>
          </a:solidFill>
          <a:ln w="12700">
            <a:solidFill>
              <a:schemeClr val="tx1"/>
            </a:solidFill>
            <a:prstDash val="solid"/>
          </a:ln>
        </p:spPr>
      </p:sp>
      <p:sp>
        <p:nvSpPr>
          <p:cNvPr id="5" name="code"/>
          <p:cNvSpPr txBox="1"/>
          <p:nvPr/>
        </p:nvSpPr>
        <p:spPr>
          <a:xfrm>
            <a:off x="621792" y="1389888"/>
            <a:ext cx="7900416" cy="96926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chmod +x pipeline-triage.sh</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bash -n pipeline-triage.sh   # parse only, no run</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ls -l pipeline-triage.sh      # expect -rwxr-xr-x</a:t>
            </a:r>
            <a:endParaRPr lang="en-US" sz="1400" dirty="0"/>
          </a:p>
        </p:txBody>
      </p:sp>
      <p:sp>
        <p:nvSpPr>
          <p:cNvPr id="6" name="icon circle"/>
          <p:cNvSpPr/>
          <p:nvPr/>
        </p:nvSpPr>
        <p:spPr>
          <a:xfrm>
            <a:off x="457200" y="2743200"/>
            <a:ext cx="457200" cy="457200"/>
          </a:xfrm>
          <a:prstGeom prst="ellipse">
            <a:avLst/>
          </a:prstGeom>
          <a:solidFill>
            <a:schemeClr val="accent6"/>
          </a:solidFill>
          <a:ln w="12700">
            <a:solidFill>
              <a:schemeClr val="accent6"/>
            </a:solidFill>
            <a:prstDash val="solid"/>
          </a:ln>
        </p:spPr>
      </p:sp>
      <p:pic>
        <p:nvPicPr>
          <p:cNvPr id="7" name="icon FaCheckCircle" descr="FaCheckCircle">    </p:cNvPr>
          <p:cNvPicPr>
            <a:picLocks noChangeAspect="1"/>
          </p:cNvPicPr>
          <p:nvPr/>
        </p:nvPicPr>
        <p:blipFill>
          <a:blip r:embed="rId1"/>
          <a:stretch>
            <a:fillRect/>
          </a:stretch>
        </p:blipFill>
        <p:spPr>
          <a:xfrm>
            <a:off x="566928" y="2852928"/>
            <a:ext cx="237744" cy="237744"/>
          </a:xfrm>
          <a:prstGeom prst="rect">
            <a:avLst/>
          </a:prstGeom>
        </p:spPr>
      </p:pic>
      <p:sp>
        <p:nvSpPr>
          <p:cNvPr id="8" name="Text 4"/>
          <p:cNvSpPr txBox="1"/>
          <p:nvPr/>
        </p:nvSpPr>
        <p:spPr>
          <a:xfrm>
            <a:off x="1097280" y="2715768"/>
            <a:ext cx="7589520" cy="548640"/>
          </a:xfrm>
          <a:prstGeom prst="rect">
            <a:avLst/>
          </a:prstGeom>
          <a:noFill/>
          <a:ln/>
        </p:spPr>
        <p:txBody>
          <a:bodyPr wrap="square" lIns="0" tIns="0" rIns="0" bIns="0" rtlCol="0" anchor="t"/>
          <a:lstStyle/>
          <a:p>
            <a:pPr indent="0" marL="0">
              <a:buNone/>
            </a:pPr>
            <a:r>
              <a:rPr lang="en-US" sz="1600" b="1" dirty="0">
                <a:solidFill>
                  <a:schemeClr val="tx1"/>
                </a:solidFill>
              </a:rPr>
              <a:t>bash -n prints nothing</a:t>
            </a:r>
            <a:endParaRPr lang="en-US" sz="1600" dirty="0"/>
          </a:p>
          <a:p>
            <a:pPr indent="0" marL="0">
              <a:buNone/>
            </a:pPr>
            <a:r>
              <a:rPr lang="en-US" sz="1400" dirty="0">
                <a:solidFill>
                  <a:schemeClr val="tx1"/>
                </a:solidFill>
              </a:rPr>
              <a:t>Silence means no syntax errors</a:t>
            </a:r>
            <a:endParaRPr lang="en-US" sz="1600" dirty="0"/>
          </a:p>
        </p:txBody>
      </p:sp>
      <p:sp>
        <p:nvSpPr>
          <p:cNvPr id="9" name="icon circle"/>
          <p:cNvSpPr/>
          <p:nvPr/>
        </p:nvSpPr>
        <p:spPr>
          <a:xfrm>
            <a:off x="457200" y="3383280"/>
            <a:ext cx="457200" cy="457200"/>
          </a:xfrm>
          <a:prstGeom prst="ellipse">
            <a:avLst/>
          </a:prstGeom>
          <a:solidFill>
            <a:schemeClr val="accent4"/>
          </a:solidFill>
          <a:ln w="12700">
            <a:solidFill>
              <a:schemeClr val="accent4"/>
            </a:solidFill>
            <a:prstDash val="solid"/>
          </a:ln>
        </p:spPr>
      </p:sp>
      <p:pic>
        <p:nvPicPr>
          <p:cNvPr id="10" name="icon FaPlay" descr="FaPlay">    </p:cNvPr>
          <p:cNvPicPr>
            <a:picLocks noChangeAspect="1"/>
          </p:cNvPicPr>
          <p:nvPr/>
        </p:nvPicPr>
        <p:blipFill>
          <a:blip r:embed="rId2"/>
          <a:stretch>
            <a:fillRect/>
          </a:stretch>
        </p:blipFill>
        <p:spPr>
          <a:xfrm>
            <a:off x="566928" y="3493008"/>
            <a:ext cx="237744" cy="237744"/>
          </a:xfrm>
          <a:prstGeom prst="rect">
            <a:avLst/>
          </a:prstGeom>
        </p:spPr>
      </p:pic>
      <p:sp>
        <p:nvSpPr>
          <p:cNvPr id="11" name="Text 6"/>
          <p:cNvSpPr txBox="1"/>
          <p:nvPr/>
        </p:nvSpPr>
        <p:spPr>
          <a:xfrm>
            <a:off x="1097280" y="3355848"/>
            <a:ext cx="7589520" cy="548640"/>
          </a:xfrm>
          <a:prstGeom prst="rect">
            <a:avLst/>
          </a:prstGeom>
          <a:noFill/>
          <a:ln/>
        </p:spPr>
        <p:txBody>
          <a:bodyPr wrap="square" lIns="0" tIns="0" rIns="0" bIns="0" rtlCol="0" anchor="t"/>
          <a:lstStyle/>
          <a:p>
            <a:pPr indent="0" marL="0">
              <a:buNone/>
            </a:pPr>
            <a:r>
              <a:rPr lang="en-US" sz="1600" b="1" dirty="0">
                <a:solidFill>
                  <a:schemeClr val="tx1"/>
                </a:solidFill>
              </a:rPr>
              <a:t>x permission present</a:t>
            </a:r>
            <a:endParaRPr lang="en-US" sz="1600" dirty="0"/>
          </a:p>
          <a:p>
            <a:pPr indent="0" marL="0">
              <a:buNone/>
            </a:pPr>
            <a:r>
              <a:rPr lang="en-US" sz="1400" dirty="0">
                <a:solidFill>
                  <a:schemeClr val="tx1"/>
                </a:solidFill>
              </a:rPr>
              <a:t>Lets you run ./pipeline-triage.sh</a:t>
            </a:r>
            <a:endParaRPr lang="en-US" sz="1600" dirty="0"/>
          </a:p>
        </p:txBody>
      </p:sp>
      <p:sp>
        <p:nvSpPr>
          <p:cNvPr id="12" name="icon circle"/>
          <p:cNvSpPr/>
          <p:nvPr/>
        </p:nvSpPr>
        <p:spPr>
          <a:xfrm>
            <a:off x="457200" y="4023360"/>
            <a:ext cx="457200" cy="457200"/>
          </a:xfrm>
          <a:prstGeom prst="ellipse">
            <a:avLst/>
          </a:prstGeom>
          <a:solidFill>
            <a:schemeClr val="accent3"/>
          </a:solidFill>
          <a:ln w="12700">
            <a:solidFill>
              <a:schemeClr val="accent3"/>
            </a:solidFill>
            <a:prstDash val="solid"/>
          </a:ln>
        </p:spPr>
      </p:sp>
      <p:pic>
        <p:nvPicPr>
          <p:cNvPr id="13" name="icon FaLock" descr="FaLock">    </p:cNvPr>
          <p:cNvPicPr>
            <a:picLocks noChangeAspect="1"/>
          </p:cNvPicPr>
          <p:nvPr/>
        </p:nvPicPr>
        <p:blipFill>
          <a:blip r:embed="rId3"/>
          <a:stretch>
            <a:fillRect/>
          </a:stretch>
        </p:blipFill>
        <p:spPr>
          <a:xfrm>
            <a:off x="566928" y="4133088"/>
            <a:ext cx="237744" cy="237744"/>
          </a:xfrm>
          <a:prstGeom prst="rect">
            <a:avLst/>
          </a:prstGeom>
        </p:spPr>
      </p:pic>
      <p:sp>
        <p:nvSpPr>
          <p:cNvPr id="14" name="Text 8"/>
          <p:cNvSpPr txBox="1"/>
          <p:nvPr/>
        </p:nvSpPr>
        <p:spPr>
          <a:xfrm>
            <a:off x="1097280" y="3995928"/>
            <a:ext cx="7589520" cy="548640"/>
          </a:xfrm>
          <a:prstGeom prst="rect">
            <a:avLst/>
          </a:prstGeom>
          <a:noFill/>
          <a:ln/>
        </p:spPr>
        <p:txBody>
          <a:bodyPr wrap="square" lIns="0" tIns="0" rIns="0" bIns="0" rtlCol="0" anchor="t"/>
          <a:lstStyle/>
          <a:p>
            <a:pPr indent="0" marL="0">
              <a:buNone/>
            </a:pPr>
            <a:r>
              <a:rPr lang="en-US" sz="1600" b="1" dirty="0">
                <a:solidFill>
                  <a:schemeClr val="tx1"/>
                </a:solidFill>
              </a:rPr>
              <a:t>Config holds no secrets</a:t>
            </a:r>
            <a:endParaRPr lang="en-US" sz="1600" dirty="0"/>
          </a:p>
          <a:p>
            <a:pPr indent="0" marL="0">
              <a:buNone/>
            </a:pPr>
            <a:r>
              <a:rPr lang="en-US" sz="1400" dirty="0">
                <a:solidFill>
                  <a:schemeClr val="tx1"/>
                </a:solidFill>
              </a:rPr>
              <a:t>Only name, org URL, project and two IDs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4: run the script on the healthy pipelines</a:t>
            </a:r>
            <a:endParaRPr lang="en-US" sz="3000" dirty="0"/>
          </a:p>
        </p:txBody>
      </p:sp>
      <p:sp>
        <p:nvSpPr>
          <p:cNvPr id="4" name="code panel"/>
          <p:cNvSpPr/>
          <p:nvPr/>
        </p:nvSpPr>
        <p:spPr>
          <a:xfrm>
            <a:off x="457200" y="1234440"/>
            <a:ext cx="4937760" cy="2103120"/>
          </a:xfrm>
          <a:prstGeom prst="roundRect">
            <a:avLst>
              <a:gd name="adj" fmla="val 3478"/>
            </a:avLst>
          </a:prstGeom>
          <a:solidFill>
            <a:schemeClr val="tx1"/>
          </a:solidFill>
          <a:ln w="12700">
            <a:solidFill>
              <a:schemeClr val="tx1"/>
            </a:solidFill>
            <a:prstDash val="solid"/>
          </a:ln>
        </p:spPr>
      </p:sp>
      <p:sp>
        <p:nvSpPr>
          <p:cNvPr id="5" name="code"/>
          <p:cNvSpPr txBox="1"/>
          <p:nvPr/>
        </p:nvSpPr>
        <p:spPr>
          <a:xfrm>
            <a:off x="621792" y="1344168"/>
            <a:ext cx="4608576" cy="188366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cd ~/ansible-onboarding/theepicbook/\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week-10/assignment-05-pipeline-triage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./pipeline-triage.sh</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echo $?                      # right away!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cat reports/pipeline-health-report.txt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ls -l reports/</a:t>
            </a:r>
            <a:endParaRPr lang="en-US" sz="1200" dirty="0"/>
          </a:p>
        </p:txBody>
      </p:sp>
      <p:sp>
        <p:nvSpPr>
          <p:cNvPr id="6" name="Shape 3"/>
          <p:cNvSpPr/>
          <p:nvPr/>
        </p:nvSpPr>
        <p:spPr>
          <a:xfrm>
            <a:off x="5669280" y="1234440"/>
            <a:ext cx="3017520" cy="3108960"/>
          </a:xfrm>
          <a:prstGeom prst="roundRect">
            <a:avLst>
              <a:gd name="adj" fmla="val 3030"/>
            </a:avLst>
          </a:prstGeom>
          <a:solidFill>
            <a:schemeClr val="accent6"/>
          </a:solidFill>
          <a:ln w="12700">
            <a:solidFill>
              <a:schemeClr val="accent6"/>
            </a:solidFill>
            <a:prstDash val="solid"/>
          </a:ln>
        </p:spPr>
      </p:sp>
      <p:sp>
        <p:nvSpPr>
          <p:cNvPr id="7" name="Text 4"/>
          <p:cNvSpPr txBox="1"/>
          <p:nvPr/>
        </p:nvSpPr>
        <p:spPr>
          <a:xfrm>
            <a:off x="5852160" y="1371600"/>
            <a:ext cx="2651760" cy="283464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Expected report</a:t>
            </a:r>
            <a:endParaRPr lang="en-US" sz="1500" dirty="0"/>
          </a:p>
          <a:p>
            <a:pPr indent="0" marL="0">
              <a:buNone/>
            </a:pPr>
            <a:r>
              <a:rPr lang="en-US" sz="1500" dirty="0">
                <a:solidFill>
                  <a:schemeClr val="bg1"/>
                </a:solidFill>
              </a:rPr>
              <a:t>Infrastructure: [PASS]</a:t>
            </a:r>
            <a:endParaRPr lang="en-US" sz="1500" dirty="0"/>
          </a:p>
          <a:p>
            <a:pPr indent="0" marL="0">
              <a:spcAft>
                <a:spcPts val="600"/>
              </a:spcAft>
              <a:buNone/>
            </a:pPr>
            <a:r>
              <a:rPr lang="en-US" sz="1500" dirty="0">
                <a:solidFill>
                  <a:schemeClr val="bg1"/>
                </a:solidFill>
              </a:rPr>
              <a:t>Application: [PASS]</a:t>
            </a:r>
            <a:endParaRPr lang="en-US" sz="1500" dirty="0"/>
          </a:p>
          <a:p>
            <a:pPr indent="0" marL="0">
              <a:buNone/>
            </a:pPr>
            <a:r>
              <a:rPr lang="en-US" sz="1500" dirty="0">
                <a:solidFill>
                  <a:schemeClr val="bg1"/>
                </a:solidFill>
              </a:rPr>
              <a:t>PASS: 2  WARN: 0</a:t>
            </a:r>
            <a:endParaRPr lang="en-US" sz="1500" dirty="0"/>
          </a:p>
          <a:p>
            <a:pPr indent="0" marL="0">
              <a:spcAft>
                <a:spcPts val="600"/>
              </a:spcAft>
              <a:buNone/>
            </a:pPr>
            <a:r>
              <a:rPr lang="en-US" sz="1500" dirty="0">
                <a:solidFill>
                  <a:schemeClr val="bg1"/>
                </a:solidFill>
              </a:rPr>
              <a:t>FAIL: 0  ERROR: 0</a:t>
            </a:r>
            <a:endParaRPr lang="en-US" sz="1500" dirty="0"/>
          </a:p>
          <a:p>
            <a:pPr indent="0" marL="0">
              <a:buNone/>
            </a:pPr>
            <a:r>
              <a:rPr lang="en-US" sz="1500" b="1" dirty="0">
                <a:solidFill>
                  <a:schemeClr val="bg1"/>
                </a:solidFill>
              </a:rPr>
              <a:t>Overall: HEALTHY</a:t>
            </a:r>
            <a:endParaRPr lang="en-US" sz="1500" dirty="0"/>
          </a:p>
          <a:p>
            <a:pPr indent="0" marL="0">
              <a:buNone/>
            </a:pPr>
            <a:r>
              <a:rPr lang="en-US" sz="1500" b="1" dirty="0">
                <a:solidFill>
                  <a:schemeClr val="bg1"/>
                </a:solidFill>
              </a:rPr>
              <a:t>Exit code: 0</a:t>
            </a:r>
            <a:endParaRPr lang="en-US" sz="1500" dirty="0"/>
          </a:p>
        </p:txBody>
      </p:sp>
      <p:sp>
        <p:nvSpPr>
          <p:cNvPr id="8" name="Text 5"/>
          <p:cNvSpPr txBox="1"/>
          <p:nvPr/>
        </p:nvSpPr>
        <p:spPr>
          <a:xfrm>
            <a:off x="457200" y="3566160"/>
            <a:ext cx="4937760" cy="731520"/>
          </a:xfrm>
          <a:prstGeom prst="rect">
            <a:avLst/>
          </a:prstGeom>
          <a:noFill/>
          <a:ln/>
        </p:spPr>
        <p:txBody>
          <a:bodyPr wrap="square" lIns="0" tIns="0" rIns="0" bIns="0" rtlCol="0" anchor="t"/>
          <a:lstStyle/>
          <a:p>
            <a:pPr indent="0" marL="0">
              <a:buNone/>
            </a:pPr>
            <a:r>
              <a:rPr lang="en-US" sz="1500" b="1" dirty="0">
                <a:solidFill>
                  <a:schemeClr val="accent2"/>
                </a:solidFill>
              </a:rPr>
              <a:t>This is your known-good reference for the incident drill.</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640080" y="1783080"/>
            <a:ext cx="5669280" cy="1097280"/>
          </a:xfrm>
          <a:prstGeom prst="rect">
            <a:avLst/>
          </a:prstGeom>
          <a:noFill/>
          <a:ln/>
        </p:spPr>
        <p:txBody>
          <a:bodyPr wrap="square" lIns="0" tIns="0" rIns="0" bIns="0" rtlCol="0" anchor="t"/>
          <a:lstStyle/>
          <a:p>
            <a:pPr algn="l" indent="0" marL="0">
              <a:buNone/>
            </a:pPr>
            <a:r>
              <a:rPr lang="en-US" sz="3800" b="1" dirty="0">
                <a:solidFill>
                  <a:schemeClr val="bg1"/>
                </a:solidFill>
              </a:rPr>
              <a:t>The Claude Code Skill</a:t>
            </a:r>
            <a:endParaRPr lang="en-US" sz="3800" dirty="0"/>
          </a:p>
        </p:txBody>
      </p:sp>
      <p:sp>
        <p:nvSpPr>
          <p:cNvPr id="3" name="Text 1"/>
          <p:cNvSpPr/>
          <p:nvPr>
            <p:ph idx="102" type="body" hasCustomPrompt="1"/>
          </p:nvPr>
        </p:nvSpPr>
        <p:spPr>
          <a:xfrm>
            <a:off x="640080" y="2971800"/>
            <a:ext cx="5669280" cy="1005840"/>
          </a:xfrm>
          <a:prstGeom prst="rect">
            <a:avLst/>
          </a:prstGeom>
          <a:noFill/>
          <a:ln/>
        </p:spPr>
        <p:txBody>
          <a:bodyPr wrap="square" lIns="0" tIns="0" rIns="0" bIns="0" rtlCol="0" anchor="t"/>
          <a:lstStyle/>
          <a:p>
            <a:pPr algn="l" indent="0" marL="0">
              <a:buNone/>
            </a:pPr>
            <a:r>
              <a:rPr lang="en-US" sz="1800" dirty="0">
                <a:solidFill>
                  <a:schemeClr val="bg1"/>
                </a:solidFill>
              </a:rPr>
              <a:t>Package the workflow as /pipeline-triage: manual-only, narrow tools, and bound by CLAUDE.md.</a:t>
            </a:r>
            <a:endParaRPr lang="en-US" sz="1800" dirty="0"/>
          </a:p>
        </p:txBody>
      </p:sp>
      <p:sp>
        <p:nvSpPr>
          <p:cNvPr id="4" name="Text 2"/>
          <p:cNvSpPr txBox="1"/>
          <p:nvPr/>
        </p:nvSpPr>
        <p:spPr>
          <a:xfrm>
            <a:off x="640080" y="1325880"/>
            <a:ext cx="5486400" cy="320040"/>
          </a:xfrm>
          <a:prstGeom prst="rect">
            <a:avLst/>
          </a:prstGeom>
          <a:noFill/>
          <a:ln/>
        </p:spPr>
        <p:txBody>
          <a:bodyPr wrap="square" lIns="0" tIns="0" rIns="0" bIns="0" rtlCol="0" anchor="ctr"/>
          <a:lstStyle/>
          <a:p>
            <a:pPr indent="0" marL="0">
              <a:buNone/>
            </a:pPr>
            <a:r>
              <a:rPr lang="en-US" sz="1400" b="1" spc="300" kern="0" dirty="0">
                <a:solidFill>
                  <a:schemeClr val="bg1"/>
                </a:solidFill>
              </a:rPr>
              <a:t>PART 5 · TASK 5</a:t>
            </a:r>
            <a:endParaRPr lang="en-US" sz="1400" dirty="0"/>
          </a:p>
        </p:txBody>
      </p:sp>
      <p:sp>
        <p:nvSpPr>
          <p:cNvPr id="5" name="Shape 3"/>
          <p:cNvSpPr/>
          <p:nvPr/>
        </p:nvSpPr>
        <p:spPr>
          <a:xfrm>
            <a:off x="6675120" y="1554480"/>
            <a:ext cx="1920240" cy="1920240"/>
          </a:xfrm>
          <a:prstGeom prst="ellipse">
            <a:avLst/>
          </a:prstGeom>
          <a:solidFill>
            <a:schemeClr val="tx1"/>
          </a:solidFill>
          <a:ln w="12700">
            <a:solidFill>
              <a:schemeClr val="tx1"/>
            </a:solidFill>
            <a:prstDash val="solid"/>
          </a:ln>
        </p:spPr>
      </p:sp>
      <p:pic>
        <p:nvPicPr>
          <p:cNvPr id="6" name="Image 0" descr="FaRobot">    </p:cNvPr>
          <p:cNvPicPr>
            <a:picLocks noChangeAspect="1"/>
          </p:cNvPicPr>
          <p:nvPr/>
        </p:nvPicPr>
        <p:blipFill>
          <a:blip r:embed="rId1"/>
          <a:stretch>
            <a:fillRect/>
          </a:stretch>
        </p:blipFill>
        <p:spPr>
          <a:xfrm>
            <a:off x="7132320" y="2011680"/>
            <a:ext cx="1005840" cy="10058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is a Claude Code skill?</a:t>
            </a:r>
            <a:endParaRPr lang="en-US" sz="3000" dirty="0"/>
          </a:p>
        </p:txBody>
      </p:sp>
      <p:sp>
        <p:nvSpPr>
          <p:cNvPr id="4" name="card"/>
          <p:cNvSpPr/>
          <p:nvPr/>
        </p:nvSpPr>
        <p:spPr>
          <a:xfrm>
            <a:off x="457200" y="1188720"/>
            <a:ext cx="3977640" cy="1783080"/>
          </a:xfrm>
          <a:prstGeom prst="roundRect">
            <a:avLst>
              <a:gd name="adj" fmla="val 5128"/>
            </a:avLst>
          </a:prstGeom>
          <a:solidFill>
            <a:schemeClr val="bg2"/>
          </a:solidFill>
          <a:ln w="12700">
            <a:solidFill>
              <a:schemeClr val="bg2"/>
            </a:solidFill>
            <a:prstDash val="solid"/>
          </a:ln>
        </p:spPr>
      </p:sp>
      <p:sp>
        <p:nvSpPr>
          <p:cNvPr id="5" name="icon circle"/>
          <p:cNvSpPr/>
          <p:nvPr/>
        </p:nvSpPr>
        <p:spPr>
          <a:xfrm>
            <a:off x="640080" y="1371600"/>
            <a:ext cx="457200" cy="457200"/>
          </a:xfrm>
          <a:prstGeom prst="ellipse">
            <a:avLst/>
          </a:prstGeom>
          <a:solidFill>
            <a:schemeClr val="accent3"/>
          </a:solidFill>
          <a:ln w="12700">
            <a:solidFill>
              <a:schemeClr val="accent3"/>
            </a:solidFill>
            <a:prstDash val="solid"/>
          </a:ln>
        </p:spPr>
      </p:sp>
      <p:pic>
        <p:nvPicPr>
          <p:cNvPr id="6" name="icon FaCommentDots" descr="FaCommentDots">    </p:cNvPr>
          <p:cNvPicPr>
            <a:picLocks noChangeAspect="1"/>
          </p:cNvPicPr>
          <p:nvPr/>
        </p:nvPicPr>
        <p:blipFill>
          <a:blip r:embed="rId1"/>
          <a:stretch>
            <a:fillRect/>
          </a:stretch>
        </p:blipFill>
        <p:spPr>
          <a:xfrm>
            <a:off x="749808" y="1481328"/>
            <a:ext cx="237744" cy="237744"/>
          </a:xfrm>
          <a:prstGeom prst="rect">
            <a:avLst/>
          </a:prstGeom>
        </p:spPr>
      </p:pic>
      <p:sp>
        <p:nvSpPr>
          <p:cNvPr id="7" name="Text 3"/>
          <p:cNvSpPr txBox="1"/>
          <p:nvPr/>
        </p:nvSpPr>
        <p:spPr>
          <a:xfrm>
            <a:off x="640080" y="1938528"/>
            <a:ext cx="3611880" cy="292608"/>
          </a:xfrm>
          <a:prstGeom prst="rect">
            <a:avLst/>
          </a:prstGeom>
          <a:noFill/>
          <a:ln/>
        </p:spPr>
        <p:txBody>
          <a:bodyPr wrap="square" lIns="0" tIns="0" rIns="0" bIns="0" rtlCol="0" anchor="t"/>
          <a:lstStyle/>
          <a:p>
            <a:pPr indent="0" marL="0">
              <a:buNone/>
            </a:pPr>
            <a:r>
              <a:rPr lang="en-US" sz="1600" b="1" dirty="0">
                <a:solidFill>
                  <a:schemeClr val="tx1"/>
                </a:solidFill>
              </a:rPr>
              <a:t>BEFORE: a long prompt</a:t>
            </a:r>
            <a:endParaRPr lang="en-US" sz="1600" dirty="0"/>
          </a:p>
        </p:txBody>
      </p:sp>
      <p:sp>
        <p:nvSpPr>
          <p:cNvPr id="8" name="Text 4"/>
          <p:cNvSpPr txBox="1"/>
          <p:nvPr/>
        </p:nvSpPr>
        <p:spPr>
          <a:xfrm>
            <a:off x="640080" y="2276856"/>
            <a:ext cx="3611880" cy="512064"/>
          </a:xfrm>
          <a:prstGeom prst="rect">
            <a:avLst/>
          </a:prstGeom>
          <a:noFill/>
          <a:ln/>
        </p:spPr>
        <p:txBody>
          <a:bodyPr wrap="square" lIns="0" tIns="0" rIns="0" bIns="0" rtlCol="0" anchor="t"/>
          <a:lstStyle/>
          <a:p>
            <a:pPr indent="0" marL="0">
              <a:buNone/>
            </a:pPr>
            <a:r>
              <a:rPr lang="en-US" sz="1400" dirty="0">
                <a:solidFill>
                  <a:schemeClr val="tx1"/>
                </a:solidFill>
              </a:rPr>
              <a:t>Retype instructions each time.</a:t>
            </a:r>
            <a:endParaRPr lang="en-US" sz="1400" dirty="0"/>
          </a:p>
          <a:p>
            <a:pPr indent="0" marL="0">
              <a:buNone/>
            </a:pPr>
            <a:r>
              <a:rPr lang="en-US" sz="1400" dirty="0">
                <a:solidFill>
                  <a:schemeClr val="tx1"/>
                </a:solidFill>
              </a:rPr>
              <a:t>Steps and rules can drift.</a:t>
            </a:r>
            <a:endParaRPr lang="en-US" sz="1400" dirty="0"/>
          </a:p>
        </p:txBody>
      </p:sp>
      <p:sp>
        <p:nvSpPr>
          <p:cNvPr id="9" name="card"/>
          <p:cNvSpPr/>
          <p:nvPr/>
        </p:nvSpPr>
        <p:spPr>
          <a:xfrm>
            <a:off x="4709160" y="1188720"/>
            <a:ext cx="3977640" cy="1783080"/>
          </a:xfrm>
          <a:prstGeom prst="roundRect">
            <a:avLst>
              <a:gd name="adj" fmla="val 5128"/>
            </a:avLst>
          </a:prstGeom>
          <a:solidFill>
            <a:schemeClr val="bg2"/>
          </a:solidFill>
          <a:ln w="12700">
            <a:solidFill>
              <a:schemeClr val="bg2"/>
            </a:solidFill>
            <a:prstDash val="solid"/>
          </a:ln>
        </p:spPr>
      </p:sp>
      <p:sp>
        <p:nvSpPr>
          <p:cNvPr id="10" name="icon circle"/>
          <p:cNvSpPr/>
          <p:nvPr/>
        </p:nvSpPr>
        <p:spPr>
          <a:xfrm>
            <a:off x="4892040" y="1371600"/>
            <a:ext cx="457200" cy="457200"/>
          </a:xfrm>
          <a:prstGeom prst="ellipse">
            <a:avLst/>
          </a:prstGeom>
          <a:solidFill>
            <a:schemeClr val="accent6"/>
          </a:solidFill>
          <a:ln w="12700">
            <a:solidFill>
              <a:schemeClr val="accent6"/>
            </a:solidFill>
            <a:prstDash val="solid"/>
          </a:ln>
        </p:spPr>
      </p:sp>
      <p:pic>
        <p:nvPicPr>
          <p:cNvPr id="11" name="icon FaPlay" descr="FaPlay">    </p:cNvPr>
          <p:cNvPicPr>
            <a:picLocks noChangeAspect="1"/>
          </p:cNvPicPr>
          <p:nvPr/>
        </p:nvPicPr>
        <p:blipFill>
          <a:blip r:embed="rId2"/>
          <a:stretch>
            <a:fillRect/>
          </a:stretch>
        </p:blipFill>
        <p:spPr>
          <a:xfrm>
            <a:off x="5001768" y="1481328"/>
            <a:ext cx="237744" cy="237744"/>
          </a:xfrm>
          <a:prstGeom prst="rect">
            <a:avLst/>
          </a:prstGeom>
        </p:spPr>
      </p:pic>
      <p:sp>
        <p:nvSpPr>
          <p:cNvPr id="12" name="Text 7"/>
          <p:cNvSpPr txBox="1"/>
          <p:nvPr/>
        </p:nvSpPr>
        <p:spPr>
          <a:xfrm>
            <a:off x="4892040" y="1938528"/>
            <a:ext cx="3611880" cy="292608"/>
          </a:xfrm>
          <a:prstGeom prst="rect">
            <a:avLst/>
          </a:prstGeom>
          <a:noFill/>
          <a:ln/>
        </p:spPr>
        <p:txBody>
          <a:bodyPr wrap="square" lIns="0" tIns="0" rIns="0" bIns="0" rtlCol="0" anchor="t"/>
          <a:lstStyle/>
          <a:p>
            <a:pPr indent="0" marL="0">
              <a:buNone/>
            </a:pPr>
            <a:r>
              <a:rPr lang="en-US" sz="1600" b="1" dirty="0">
                <a:solidFill>
                  <a:schemeClr val="tx1"/>
                </a:solidFill>
              </a:rPr>
              <a:t>AFTER: type /pipeline-triage</a:t>
            </a:r>
            <a:endParaRPr lang="en-US" sz="1600" dirty="0"/>
          </a:p>
        </p:txBody>
      </p:sp>
      <p:sp>
        <p:nvSpPr>
          <p:cNvPr id="13" name="Text 8"/>
          <p:cNvSpPr txBox="1"/>
          <p:nvPr/>
        </p:nvSpPr>
        <p:spPr>
          <a:xfrm>
            <a:off x="4892040" y="2276856"/>
            <a:ext cx="3611880" cy="512064"/>
          </a:xfrm>
          <a:prstGeom prst="rect">
            <a:avLst/>
          </a:prstGeom>
          <a:noFill/>
          <a:ln/>
        </p:spPr>
        <p:txBody>
          <a:bodyPr wrap="square" lIns="0" tIns="0" rIns="0" bIns="0" rtlCol="0" anchor="t"/>
          <a:lstStyle/>
          <a:p>
            <a:pPr indent="0" marL="0">
              <a:buNone/>
            </a:pPr>
            <a:r>
              <a:rPr lang="en-US" sz="1400" dirty="0">
                <a:solidFill>
                  <a:schemeClr val="tx1"/>
                </a:solidFill>
              </a:rPr>
              <a:t>Same steps, same rules, every run.</a:t>
            </a:r>
            <a:endParaRPr lang="en-US" sz="1400" dirty="0"/>
          </a:p>
          <a:p>
            <a:pPr indent="0" marL="0">
              <a:buNone/>
            </a:pPr>
            <a:r>
              <a:rPr lang="en-US" sz="1400" dirty="0">
                <a:solidFill>
                  <a:schemeClr val="tx1"/>
                </a:solidFill>
              </a:rPr>
              <a:t>Reviewable like code.</a:t>
            </a:r>
            <a:endParaRPr lang="en-US" sz="1400" dirty="0"/>
          </a:p>
        </p:txBody>
      </p:sp>
      <p:sp>
        <p:nvSpPr>
          <p:cNvPr id="14" name="code panel"/>
          <p:cNvSpPr/>
          <p:nvPr/>
        </p:nvSpPr>
        <p:spPr>
          <a:xfrm>
            <a:off x="457200" y="3108960"/>
            <a:ext cx="8229600" cy="1508760"/>
          </a:xfrm>
          <a:prstGeom prst="roundRect">
            <a:avLst>
              <a:gd name="adj" fmla="val 4848"/>
            </a:avLst>
          </a:prstGeom>
          <a:solidFill>
            <a:schemeClr val="tx1"/>
          </a:solidFill>
          <a:ln w="12700">
            <a:solidFill>
              <a:schemeClr val="tx1"/>
            </a:solidFill>
            <a:prstDash val="solid"/>
          </a:ln>
        </p:spPr>
      </p:sp>
      <p:sp>
        <p:nvSpPr>
          <p:cNvPr id="15" name="code"/>
          <p:cNvSpPr txBox="1"/>
          <p:nvPr/>
        </p:nvSpPr>
        <p:spPr>
          <a:xfrm>
            <a:off x="621792" y="3218688"/>
            <a:ext cx="7900416" cy="12893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.claude/skills/pipeline-triage/SKILL.md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name: pipeline-triage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description: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(instructions Claude follows)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frontmatter fields that matter</a:t>
            </a:r>
            <a:endParaRPr lang="en-US" sz="3000" dirty="0"/>
          </a:p>
        </p:txBody>
      </p:sp>
      <p:sp>
        <p:nvSpPr>
          <p:cNvPr id="4" name="card"/>
          <p:cNvSpPr/>
          <p:nvPr/>
        </p:nvSpPr>
        <p:spPr>
          <a:xfrm>
            <a:off x="457200" y="1188720"/>
            <a:ext cx="3977640" cy="1371600"/>
          </a:xfrm>
          <a:prstGeom prst="roundRect">
            <a:avLst>
              <a:gd name="adj" fmla="val 6667"/>
            </a:avLst>
          </a:prstGeom>
          <a:solidFill>
            <a:schemeClr val="bg2"/>
          </a:solidFill>
          <a:ln w="12700">
            <a:solidFill>
              <a:schemeClr val="bg2"/>
            </a:solidFill>
            <a:prstDash val="solid"/>
          </a:ln>
        </p:spPr>
      </p:sp>
      <p:sp>
        <p:nvSpPr>
          <p:cNvPr id="5" name="icon circle"/>
          <p:cNvSpPr/>
          <p:nvPr/>
        </p:nvSpPr>
        <p:spPr>
          <a:xfrm>
            <a:off x="640080" y="1623060"/>
            <a:ext cx="502920" cy="502920"/>
          </a:xfrm>
          <a:prstGeom prst="ellipse">
            <a:avLst/>
          </a:prstGeom>
          <a:solidFill>
            <a:schemeClr val="accent4"/>
          </a:solidFill>
          <a:ln w="12700">
            <a:solidFill>
              <a:schemeClr val="accent4"/>
            </a:solidFill>
            <a:prstDash val="solid"/>
          </a:ln>
        </p:spPr>
      </p:sp>
      <p:pic>
        <p:nvPicPr>
          <p:cNvPr id="6" name="icon FaBook" descr="FaBook">    </p:cNvPr>
          <p:cNvPicPr>
            <a:picLocks noChangeAspect="1"/>
          </p:cNvPicPr>
          <p:nvPr/>
        </p:nvPicPr>
        <p:blipFill>
          <a:blip r:embed="rId1"/>
          <a:stretch>
            <a:fillRect/>
          </a:stretch>
        </p:blipFill>
        <p:spPr>
          <a:xfrm>
            <a:off x="760781" y="1743761"/>
            <a:ext cx="261518" cy="261518"/>
          </a:xfrm>
          <a:prstGeom prst="rect">
            <a:avLst/>
          </a:prstGeom>
        </p:spPr>
      </p:pic>
      <p:sp>
        <p:nvSpPr>
          <p:cNvPr id="7" name="Text 3"/>
          <p:cNvSpPr txBox="1"/>
          <p:nvPr/>
        </p:nvSpPr>
        <p:spPr>
          <a:xfrm>
            <a:off x="1307592" y="1261872"/>
            <a:ext cx="2944368" cy="1225296"/>
          </a:xfrm>
          <a:prstGeom prst="rect">
            <a:avLst/>
          </a:prstGeom>
          <a:noFill/>
          <a:ln/>
        </p:spPr>
        <p:txBody>
          <a:bodyPr wrap="square" lIns="0" tIns="0" rIns="0" bIns="0" rtlCol="0" anchor="ctr"/>
          <a:lstStyle/>
          <a:p>
            <a:pPr indent="0" marL="0">
              <a:buNone/>
            </a:pPr>
            <a:r>
              <a:rPr lang="en-US" sz="1500" b="1" dirty="0">
                <a:solidFill>
                  <a:schemeClr val="tx1"/>
                </a:solidFill>
              </a:rPr>
              <a:t>name: pipeline-triage</a:t>
            </a:r>
            <a:endParaRPr lang="en-US" sz="1500" dirty="0"/>
          </a:p>
          <a:p>
            <a:pPr indent="0" marL="0">
              <a:buNone/>
            </a:pPr>
            <a:r>
              <a:rPr lang="en-US" sz="1300" dirty="0">
                <a:solidFill>
                  <a:schemeClr val="tx1"/>
                </a:solidFill>
              </a:rPr>
              <a:t>The slash command: /pipeline-triage.</a:t>
            </a:r>
            <a:endParaRPr lang="en-US" sz="1500" dirty="0"/>
          </a:p>
        </p:txBody>
      </p:sp>
      <p:sp>
        <p:nvSpPr>
          <p:cNvPr id="8" name="card"/>
          <p:cNvSpPr/>
          <p:nvPr/>
        </p:nvSpPr>
        <p:spPr>
          <a:xfrm>
            <a:off x="4709160" y="1188720"/>
            <a:ext cx="3977640" cy="1371600"/>
          </a:xfrm>
          <a:prstGeom prst="roundRect">
            <a:avLst>
              <a:gd name="adj" fmla="val 6667"/>
            </a:avLst>
          </a:prstGeom>
          <a:solidFill>
            <a:schemeClr val="bg2"/>
          </a:solidFill>
          <a:ln w="12700">
            <a:solidFill>
              <a:schemeClr val="bg2"/>
            </a:solidFill>
            <a:prstDash val="solid"/>
          </a:ln>
        </p:spPr>
      </p:sp>
      <p:sp>
        <p:nvSpPr>
          <p:cNvPr id="9" name="icon circle"/>
          <p:cNvSpPr/>
          <p:nvPr/>
        </p:nvSpPr>
        <p:spPr>
          <a:xfrm>
            <a:off x="4892040" y="1623060"/>
            <a:ext cx="502920" cy="502920"/>
          </a:xfrm>
          <a:prstGeom prst="ellipse">
            <a:avLst/>
          </a:prstGeom>
          <a:solidFill>
            <a:schemeClr val="accent2"/>
          </a:solidFill>
          <a:ln w="12700">
            <a:solidFill>
              <a:schemeClr val="accent2"/>
            </a:solidFill>
            <a:prstDash val="solid"/>
          </a:ln>
        </p:spPr>
      </p:sp>
      <p:pic>
        <p:nvPicPr>
          <p:cNvPr id="10" name="icon FaFileAlt" descr="FaFileAlt">    </p:cNvPr>
          <p:cNvPicPr>
            <a:picLocks noChangeAspect="1"/>
          </p:cNvPicPr>
          <p:nvPr/>
        </p:nvPicPr>
        <p:blipFill>
          <a:blip r:embed="rId2"/>
          <a:stretch>
            <a:fillRect/>
          </a:stretch>
        </p:blipFill>
        <p:spPr>
          <a:xfrm>
            <a:off x="5012741" y="1743761"/>
            <a:ext cx="261518" cy="261518"/>
          </a:xfrm>
          <a:prstGeom prst="rect">
            <a:avLst/>
          </a:prstGeom>
        </p:spPr>
      </p:pic>
      <p:sp>
        <p:nvSpPr>
          <p:cNvPr id="11" name="Text 6"/>
          <p:cNvSpPr txBox="1"/>
          <p:nvPr/>
        </p:nvSpPr>
        <p:spPr>
          <a:xfrm>
            <a:off x="5559552" y="1261872"/>
            <a:ext cx="2944368" cy="1225296"/>
          </a:xfrm>
          <a:prstGeom prst="rect">
            <a:avLst/>
          </a:prstGeom>
          <a:noFill/>
          <a:ln/>
        </p:spPr>
        <p:txBody>
          <a:bodyPr wrap="square" lIns="0" tIns="0" rIns="0" bIns="0" rtlCol="0" anchor="ctr"/>
          <a:lstStyle/>
          <a:p>
            <a:pPr indent="0" marL="0">
              <a:buNone/>
            </a:pPr>
            <a:r>
              <a:rPr lang="en-US" sz="1500" b="1" dirty="0">
                <a:solidFill>
                  <a:schemeClr val="tx1"/>
                </a:solidFill>
              </a:rPr>
              <a:t>description</a:t>
            </a:r>
            <a:endParaRPr lang="en-US" sz="1500" dirty="0"/>
          </a:p>
          <a:p>
            <a:pPr indent="0" marL="0">
              <a:buNone/>
            </a:pPr>
            <a:r>
              <a:rPr lang="en-US" sz="1300" dirty="0">
                <a:solidFill>
                  <a:schemeClr val="tx1"/>
                </a:solidFill>
              </a:rPr>
              <a:t>Says it runs the read-only script, analyses and diagnoses, and never re-runs, cancels or approves anything.</a:t>
            </a:r>
            <a:endParaRPr lang="en-US" sz="1500" dirty="0"/>
          </a:p>
        </p:txBody>
      </p:sp>
      <p:sp>
        <p:nvSpPr>
          <p:cNvPr id="12" name="card"/>
          <p:cNvSpPr/>
          <p:nvPr/>
        </p:nvSpPr>
        <p:spPr>
          <a:xfrm>
            <a:off x="457200" y="2651760"/>
            <a:ext cx="3977640" cy="1371600"/>
          </a:xfrm>
          <a:prstGeom prst="roundRect">
            <a:avLst>
              <a:gd name="adj" fmla="val 6667"/>
            </a:avLst>
          </a:prstGeom>
          <a:solidFill>
            <a:schemeClr val="bg2"/>
          </a:solidFill>
          <a:ln w="12700">
            <a:solidFill>
              <a:schemeClr val="bg2"/>
            </a:solidFill>
            <a:prstDash val="solid"/>
          </a:ln>
        </p:spPr>
      </p:sp>
      <p:sp>
        <p:nvSpPr>
          <p:cNvPr id="13" name="icon circle"/>
          <p:cNvSpPr/>
          <p:nvPr/>
        </p:nvSpPr>
        <p:spPr>
          <a:xfrm>
            <a:off x="640080" y="3086100"/>
            <a:ext cx="502920" cy="502920"/>
          </a:xfrm>
          <a:prstGeom prst="ellipse">
            <a:avLst/>
          </a:prstGeom>
          <a:solidFill>
            <a:schemeClr val="accent1"/>
          </a:solidFill>
          <a:ln w="12700">
            <a:solidFill>
              <a:schemeClr val="accent1"/>
            </a:solidFill>
            <a:prstDash val="solid"/>
          </a:ln>
        </p:spPr>
      </p:sp>
      <p:pic>
        <p:nvPicPr>
          <p:cNvPr id="14" name="icon FaHandPaper" descr="FaHandPaper">    </p:cNvPr>
          <p:cNvPicPr>
            <a:picLocks noChangeAspect="1"/>
          </p:cNvPicPr>
          <p:nvPr/>
        </p:nvPicPr>
        <p:blipFill>
          <a:blip r:embed="rId3"/>
          <a:stretch>
            <a:fillRect/>
          </a:stretch>
        </p:blipFill>
        <p:spPr>
          <a:xfrm>
            <a:off x="760781" y="3206801"/>
            <a:ext cx="261518" cy="261518"/>
          </a:xfrm>
          <a:prstGeom prst="rect">
            <a:avLst/>
          </a:prstGeom>
        </p:spPr>
      </p:pic>
      <p:sp>
        <p:nvSpPr>
          <p:cNvPr id="15" name="Text 9"/>
          <p:cNvSpPr txBox="1"/>
          <p:nvPr/>
        </p:nvSpPr>
        <p:spPr>
          <a:xfrm>
            <a:off x="1307592" y="2724912"/>
            <a:ext cx="2944368" cy="1225296"/>
          </a:xfrm>
          <a:prstGeom prst="rect">
            <a:avLst/>
          </a:prstGeom>
          <a:noFill/>
          <a:ln/>
        </p:spPr>
        <p:txBody>
          <a:bodyPr wrap="square" lIns="0" tIns="0" rIns="0" bIns="0" rtlCol="0" anchor="ctr"/>
          <a:lstStyle/>
          <a:p>
            <a:pPr indent="0" marL="0">
              <a:buNone/>
            </a:pPr>
            <a:r>
              <a:rPr lang="en-US" sz="1500" b="1" dirty="0">
                <a:solidFill>
                  <a:schemeClr val="tx1"/>
                </a:solidFill>
              </a:rPr>
              <a:t>disable-model-invocation: true</a:t>
            </a:r>
            <a:endParaRPr lang="en-US" sz="1500" dirty="0"/>
          </a:p>
          <a:p>
            <a:pPr indent="0" marL="0">
              <a:buNone/>
            </a:pPr>
            <a:r>
              <a:rPr lang="en-US" sz="1300" dirty="0">
                <a:solidFill>
                  <a:schemeClr val="tx1"/>
                </a:solidFill>
              </a:rPr>
              <a:t>Only a human can start it. Claude will not trigger it mid-conversation.</a:t>
            </a:r>
            <a:endParaRPr lang="en-US" sz="1500" dirty="0"/>
          </a:p>
        </p:txBody>
      </p:sp>
      <p:sp>
        <p:nvSpPr>
          <p:cNvPr id="16" name="card"/>
          <p:cNvSpPr/>
          <p:nvPr/>
        </p:nvSpPr>
        <p:spPr>
          <a:xfrm>
            <a:off x="4709160" y="2651760"/>
            <a:ext cx="3977640" cy="1371600"/>
          </a:xfrm>
          <a:prstGeom prst="roundRect">
            <a:avLst>
              <a:gd name="adj" fmla="val 6667"/>
            </a:avLst>
          </a:prstGeom>
          <a:solidFill>
            <a:schemeClr val="bg2"/>
          </a:solidFill>
          <a:ln w="12700">
            <a:solidFill>
              <a:schemeClr val="bg2"/>
            </a:solidFill>
            <a:prstDash val="solid"/>
          </a:ln>
        </p:spPr>
      </p:sp>
      <p:sp>
        <p:nvSpPr>
          <p:cNvPr id="17" name="icon circle"/>
          <p:cNvSpPr/>
          <p:nvPr/>
        </p:nvSpPr>
        <p:spPr>
          <a:xfrm>
            <a:off x="4892040" y="3086100"/>
            <a:ext cx="502920" cy="502920"/>
          </a:xfrm>
          <a:prstGeom prst="ellipse">
            <a:avLst/>
          </a:prstGeom>
          <a:solidFill>
            <a:schemeClr val="accent3"/>
          </a:solidFill>
          <a:ln w="12700">
            <a:solidFill>
              <a:schemeClr val="accent3"/>
            </a:solidFill>
            <a:prstDash val="solid"/>
          </a:ln>
        </p:spPr>
      </p:sp>
      <p:pic>
        <p:nvPicPr>
          <p:cNvPr id="18" name="icon FaTools" descr="FaTools">    </p:cNvPr>
          <p:cNvPicPr>
            <a:picLocks noChangeAspect="1"/>
          </p:cNvPicPr>
          <p:nvPr/>
        </p:nvPicPr>
        <p:blipFill>
          <a:blip r:embed="rId4"/>
          <a:stretch>
            <a:fillRect/>
          </a:stretch>
        </p:blipFill>
        <p:spPr>
          <a:xfrm>
            <a:off x="5012741" y="3206801"/>
            <a:ext cx="261518" cy="261518"/>
          </a:xfrm>
          <a:prstGeom prst="rect">
            <a:avLst/>
          </a:prstGeom>
        </p:spPr>
      </p:pic>
      <p:sp>
        <p:nvSpPr>
          <p:cNvPr id="19" name="Text 12"/>
          <p:cNvSpPr txBox="1"/>
          <p:nvPr/>
        </p:nvSpPr>
        <p:spPr>
          <a:xfrm>
            <a:off x="5559552" y="2724912"/>
            <a:ext cx="2944368" cy="1225296"/>
          </a:xfrm>
          <a:prstGeom prst="rect">
            <a:avLst/>
          </a:prstGeom>
          <a:noFill/>
          <a:ln/>
        </p:spPr>
        <p:txBody>
          <a:bodyPr wrap="square" lIns="0" tIns="0" rIns="0" bIns="0" rtlCol="0" anchor="ctr"/>
          <a:lstStyle/>
          <a:p>
            <a:pPr indent="0" marL="0">
              <a:buNone/>
            </a:pPr>
            <a:r>
              <a:rPr lang="en-US" sz="1500" b="1" dirty="0">
                <a:solidFill>
                  <a:schemeClr val="tx1"/>
                </a:solidFill>
              </a:rPr>
              <a:t>allowed-tools: Bash, Read, Grep</a:t>
            </a:r>
            <a:endParaRPr lang="en-US" sz="1500" dirty="0"/>
          </a:p>
          <a:p>
            <a:pPr indent="0" marL="0">
              <a:buNone/>
            </a:pPr>
            <a:r>
              <a:rPr lang="en-US" sz="1300" dirty="0">
                <a:solidFill>
                  <a:schemeClr val="tx1"/>
                </a:solidFill>
              </a:rPr>
              <a:t>No Write or Edit, so it cannot change files.</a:t>
            </a:r>
            <a:endParaRPr lang="en-US" sz="1500" dirty="0"/>
          </a:p>
        </p:txBody>
      </p:sp>
      <p:sp>
        <p:nvSpPr>
          <p:cNvPr id="20" name="callout"/>
          <p:cNvSpPr/>
          <p:nvPr/>
        </p:nvSpPr>
        <p:spPr>
          <a:xfrm>
            <a:off x="457200" y="4206240"/>
            <a:ext cx="8229600" cy="548640"/>
          </a:xfrm>
          <a:prstGeom prst="roundRect">
            <a:avLst>
              <a:gd name="adj" fmla="val 16667"/>
            </a:avLst>
          </a:prstGeom>
          <a:solidFill>
            <a:schemeClr val="accent3"/>
          </a:solidFill>
          <a:ln w="12700">
            <a:solidFill>
              <a:schemeClr val="accent3"/>
            </a:solidFill>
            <a:prstDash val="solid"/>
          </a:ln>
        </p:spPr>
      </p:sp>
      <p:sp>
        <p:nvSpPr>
          <p:cNvPr id="21" name="Text 14"/>
          <p:cNvSpPr txBox="1"/>
          <p:nvPr/>
        </p:nvSpPr>
        <p:spPr>
          <a:xfrm>
            <a:off x="685800" y="420624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 must be on line 1. Check with: head -n 1 SKILL.md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Narrow tool scope: least privilege in practice</a:t>
            </a:r>
            <a:endParaRPr lang="en-US" sz="3000" dirty="0"/>
          </a:p>
        </p:txBody>
      </p:sp>
      <p:graphicFrame>
        <p:nvGraphicFramePr>
          <p:cNvPr id="49" name="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463040"/>
                <a:gridCol w="2377440"/>
                <a:gridCol w="4389120"/>
              </a:tblGrid>
              <a:tr h="457200">
                <a:tc>
                  <a:txBody>
                    <a:bodyPr/>
                    <a:lstStyle/>
                    <a:p>
                      <a:pPr indent="0" marL="0">
                        <a:buNone/>
                      </a:pPr>
                      <a:r>
                        <a:rPr lang="en-US" sz="1500" b="1" dirty="0">
                          <a:solidFill>
                            <a:schemeClr val="bg1"/>
                          </a:solidFill>
                        </a:rPr>
                        <a:t>Tool</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Granted?</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Why</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457200">
                <a:tc>
                  <a:txBody>
                    <a:bodyPr/>
                    <a:lstStyle/>
                    <a:p>
                      <a:pPr indent="0" marL="0">
                        <a:buNone/>
                      </a:pPr>
                      <a:r>
                        <a:rPr lang="en-US" sz="1500" b="1" dirty="0">
                          <a:solidFill>
                            <a:schemeClr val="tx1"/>
                          </a:solidFill>
                        </a:rPr>
                        <a:t>Read</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b="1" dirty="0">
                          <a:solidFill>
                            <a:schemeClr val="bg1"/>
                          </a:solidFill>
                        </a:rPr>
                        <a:t>Yes</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Read CLAUDE.md, the report and the logs</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Grep</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b="1" dirty="0">
                          <a:solidFill>
                            <a:schemeClr val="bg1"/>
                          </a:solidFill>
                        </a:rPr>
                        <a:t>Yes</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Search logs for evidence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rPr>
                        <a:t>Bash</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Yes, one command only</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500" dirty="0">
                          <a:solidFill>
                            <a:schemeClr val="tx1"/>
                          </a:solidFill>
                        </a:rPr>
                        <a:t>Only: bash pipeline-triage.sh || true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Write</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b="1" dirty="0">
                          <a:solidFill>
                            <a:schemeClr val="bg1"/>
                          </a:solidFill>
                        </a:rPr>
                        <a:t>No</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accent3"/>
                    </a:solidFill>
                  </a:tcPr>
                </a:tc>
                <a:tc>
                  <a:txBody>
                    <a:bodyPr/>
                    <a:lstStyle/>
                    <a:p>
                      <a:pPr indent="0" marL="0">
                        <a:buNone/>
                      </a:pPr>
                      <a:r>
                        <a:rPr lang="en-US" sz="1500" dirty="0">
                          <a:solidFill>
                            <a:schemeClr val="tx1"/>
                          </a:solidFill>
                        </a:rPr>
                        <a:t>Cannot create or overwrite files</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rPr>
                        <a:t>Edit</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500" b="1" dirty="0">
                          <a:solidFill>
                            <a:schemeClr val="bg1"/>
                          </a:solidFill>
                        </a:rPr>
                        <a:t>No</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accent3"/>
                    </a:solidFill>
                  </a:tcPr>
                </a:tc>
                <a:tc>
                  <a:txBody>
                    <a:bodyPr/>
                    <a:lstStyle/>
                    <a:p>
                      <a:pPr indent="0" marL="0">
                        <a:buNone/>
                      </a:pPr>
                      <a:r>
                        <a:rPr lang="en-US" sz="1500" dirty="0">
                          <a:solidFill>
                            <a:schemeClr val="tx1"/>
                          </a:solidFill>
                        </a:rPr>
                        <a:t>Cannot change project files or YAML</a:t>
                      </a:r>
                      <a:endParaRPr lang="en-US" sz="15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200" dirty="0">
                <a:solidFill>
                  <a:schemeClr val="tx2"/>
                </a:solidFill>
              </a:rPr>
              <a:t>Verify with: grep -n "^allowed-tools:" SKILL.md and grep -c "Write\|Edit" SKILL.md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the skill tells Claude to do, step by step</a:t>
            </a:r>
            <a:endParaRPr lang="en-US" sz="3000" dirty="0"/>
          </a:p>
        </p:txBody>
      </p:sp>
      <p:sp>
        <p:nvSpPr>
          <p:cNvPr id="4" name="card"/>
          <p:cNvSpPr/>
          <p:nvPr/>
        </p:nvSpPr>
        <p:spPr>
          <a:xfrm>
            <a:off x="457200" y="1188720"/>
            <a:ext cx="2560320" cy="1463040"/>
          </a:xfrm>
          <a:prstGeom prst="roundRect">
            <a:avLst>
              <a:gd name="adj" fmla="val 6250"/>
            </a:avLst>
          </a:prstGeom>
          <a:solidFill>
            <a:schemeClr val="bg2"/>
          </a:solidFill>
          <a:ln w="12700">
            <a:solidFill>
              <a:schemeClr val="bg2"/>
            </a:solidFill>
            <a:prstDash val="solid"/>
          </a:ln>
        </p:spPr>
      </p:sp>
      <p:sp>
        <p:nvSpPr>
          <p:cNvPr id="5" name="icon circle"/>
          <p:cNvSpPr/>
          <p:nvPr/>
        </p:nvSpPr>
        <p:spPr>
          <a:xfrm>
            <a:off x="640080" y="1371600"/>
            <a:ext cx="411480" cy="411480"/>
          </a:xfrm>
          <a:prstGeom prst="ellipse">
            <a:avLst/>
          </a:prstGeom>
          <a:solidFill>
            <a:schemeClr val="accent4"/>
          </a:solidFill>
          <a:ln w="12700">
            <a:solidFill>
              <a:schemeClr val="accent4"/>
            </a:solidFill>
            <a:prstDash val="solid"/>
          </a:ln>
        </p:spPr>
      </p:sp>
      <p:pic>
        <p:nvPicPr>
          <p:cNvPr id="6" name="icon FaBook" descr="FaBook">    </p:cNvPr>
          <p:cNvPicPr>
            <a:picLocks noChangeAspect="1"/>
          </p:cNvPicPr>
          <p:nvPr/>
        </p:nvPicPr>
        <p:blipFill>
          <a:blip r:embed="rId1"/>
          <a:stretch>
            <a:fillRect/>
          </a:stretch>
        </p:blipFill>
        <p:spPr>
          <a:xfrm>
            <a:off x="738835" y="1470355"/>
            <a:ext cx="213970" cy="213970"/>
          </a:xfrm>
          <a:prstGeom prst="rect">
            <a:avLst/>
          </a:prstGeom>
        </p:spPr>
      </p:pic>
      <p:sp>
        <p:nvSpPr>
          <p:cNvPr id="7" name="Text 3"/>
          <p:cNvSpPr txBox="1"/>
          <p:nvPr/>
        </p:nvSpPr>
        <p:spPr>
          <a:xfrm>
            <a:off x="640080" y="1892808"/>
            <a:ext cx="2194560" cy="292608"/>
          </a:xfrm>
          <a:prstGeom prst="rect">
            <a:avLst/>
          </a:prstGeom>
          <a:noFill/>
          <a:ln/>
        </p:spPr>
        <p:txBody>
          <a:bodyPr wrap="square" lIns="0" tIns="0" rIns="0" bIns="0" rtlCol="0" anchor="t"/>
          <a:lstStyle/>
          <a:p>
            <a:pPr indent="0" marL="0">
              <a:buNone/>
            </a:pPr>
            <a:r>
              <a:rPr lang="en-US" sz="1500" b="1" dirty="0">
                <a:solidFill>
                  <a:schemeClr val="tx1"/>
                </a:solidFill>
              </a:rPr>
              <a:t>1  Read CLAUDE.md</a:t>
            </a:r>
            <a:endParaRPr lang="en-US" sz="1500" dirty="0"/>
          </a:p>
        </p:txBody>
      </p:sp>
      <p:sp>
        <p:nvSpPr>
          <p:cNvPr id="8" name="Text 4"/>
          <p:cNvSpPr txBox="1"/>
          <p:nvPr/>
        </p:nvSpPr>
        <p:spPr>
          <a:xfrm>
            <a:off x="640080" y="2231136"/>
            <a:ext cx="2194560" cy="237744"/>
          </a:xfrm>
          <a:prstGeom prst="rect">
            <a:avLst/>
          </a:prstGeom>
          <a:noFill/>
          <a:ln/>
        </p:spPr>
        <p:txBody>
          <a:bodyPr wrap="square" lIns="0" tIns="0" rIns="0" bIns="0" rtlCol="0" anchor="t"/>
          <a:lstStyle/>
          <a:p>
            <a:pPr indent="0" marL="0">
              <a:buNone/>
            </a:pPr>
            <a:r>
              <a:rPr lang="en-US" sz="1400" dirty="0">
                <a:solidFill>
                  <a:schemeClr val="tx1"/>
                </a:solidFill>
              </a:rPr>
              <a:t>Rules apply before any action</a:t>
            </a:r>
            <a:endParaRPr lang="en-US" sz="1400" dirty="0"/>
          </a:p>
        </p:txBody>
      </p:sp>
      <p:sp>
        <p:nvSpPr>
          <p:cNvPr id="9" name="card"/>
          <p:cNvSpPr/>
          <p:nvPr/>
        </p:nvSpPr>
        <p:spPr>
          <a:xfrm>
            <a:off x="3291840" y="1188720"/>
            <a:ext cx="2560320" cy="1463040"/>
          </a:xfrm>
          <a:prstGeom prst="roundRect">
            <a:avLst>
              <a:gd name="adj" fmla="val 6250"/>
            </a:avLst>
          </a:prstGeom>
          <a:solidFill>
            <a:schemeClr val="bg2"/>
          </a:solidFill>
          <a:ln w="12700">
            <a:solidFill>
              <a:schemeClr val="bg2"/>
            </a:solidFill>
            <a:prstDash val="solid"/>
          </a:ln>
        </p:spPr>
      </p:sp>
      <p:sp>
        <p:nvSpPr>
          <p:cNvPr id="10" name="icon circle"/>
          <p:cNvSpPr/>
          <p:nvPr/>
        </p:nvSpPr>
        <p:spPr>
          <a:xfrm>
            <a:off x="3474720" y="1371600"/>
            <a:ext cx="411480" cy="411480"/>
          </a:xfrm>
          <a:prstGeom prst="ellipse">
            <a:avLst/>
          </a:prstGeom>
          <a:solidFill>
            <a:schemeClr val="accent2"/>
          </a:solidFill>
          <a:ln w="12700">
            <a:solidFill>
              <a:schemeClr val="accent2"/>
            </a:solidFill>
            <a:prstDash val="solid"/>
          </a:ln>
        </p:spPr>
      </p:sp>
      <p:pic>
        <p:nvPicPr>
          <p:cNvPr id="11" name="icon FaPlay" descr="FaPlay">    </p:cNvPr>
          <p:cNvPicPr>
            <a:picLocks noChangeAspect="1"/>
          </p:cNvPicPr>
          <p:nvPr/>
        </p:nvPicPr>
        <p:blipFill>
          <a:blip r:embed="rId2"/>
          <a:stretch>
            <a:fillRect/>
          </a:stretch>
        </p:blipFill>
        <p:spPr>
          <a:xfrm>
            <a:off x="3573475" y="1470355"/>
            <a:ext cx="213970" cy="213970"/>
          </a:xfrm>
          <a:prstGeom prst="rect">
            <a:avLst/>
          </a:prstGeom>
        </p:spPr>
      </p:pic>
      <p:sp>
        <p:nvSpPr>
          <p:cNvPr id="12" name="Text 7"/>
          <p:cNvSpPr txBox="1"/>
          <p:nvPr/>
        </p:nvSpPr>
        <p:spPr>
          <a:xfrm>
            <a:off x="3474720" y="1892808"/>
            <a:ext cx="2194560" cy="292608"/>
          </a:xfrm>
          <a:prstGeom prst="rect">
            <a:avLst/>
          </a:prstGeom>
          <a:noFill/>
          <a:ln/>
        </p:spPr>
        <p:txBody>
          <a:bodyPr wrap="square" lIns="0" tIns="0" rIns="0" bIns="0" rtlCol="0" anchor="t"/>
          <a:lstStyle/>
          <a:p>
            <a:pPr indent="0" marL="0">
              <a:buNone/>
            </a:pPr>
            <a:r>
              <a:rPr lang="en-US" sz="1500" b="1" dirty="0">
                <a:solidFill>
                  <a:schemeClr val="tx1"/>
                </a:solidFill>
              </a:rPr>
              <a:t>2  Run the script</a:t>
            </a:r>
            <a:endParaRPr lang="en-US" sz="1500" dirty="0"/>
          </a:p>
        </p:txBody>
      </p:sp>
      <p:sp>
        <p:nvSpPr>
          <p:cNvPr id="13" name="Text 8"/>
          <p:cNvSpPr txBox="1"/>
          <p:nvPr/>
        </p:nvSpPr>
        <p:spPr>
          <a:xfrm>
            <a:off x="3474720" y="2231136"/>
            <a:ext cx="2194560" cy="237744"/>
          </a:xfrm>
          <a:prstGeom prst="rect">
            <a:avLst/>
          </a:prstGeom>
          <a:noFill/>
          <a:ln/>
        </p:spPr>
        <p:txBody>
          <a:bodyPr wrap="square" lIns="0" tIns="0" rIns="0" bIns="0" rtlCol="0" anchor="t"/>
          <a:lstStyle/>
          <a:p>
            <a:pPr indent="0" marL="0">
              <a:buNone/>
            </a:pPr>
            <a:r>
              <a:rPr lang="en-US" sz="1400" dirty="0">
                <a:solidFill>
                  <a:schemeClr val="tx1"/>
                </a:solidFill>
              </a:rPr>
              <a:t>bash pipeline-triage.sh || true</a:t>
            </a:r>
            <a:endParaRPr lang="en-US" sz="1400" dirty="0"/>
          </a:p>
        </p:txBody>
      </p:sp>
      <p:sp>
        <p:nvSpPr>
          <p:cNvPr id="14" name="card"/>
          <p:cNvSpPr/>
          <p:nvPr/>
        </p:nvSpPr>
        <p:spPr>
          <a:xfrm>
            <a:off x="6126480" y="1188720"/>
            <a:ext cx="2560320" cy="1463040"/>
          </a:xfrm>
          <a:prstGeom prst="roundRect">
            <a:avLst>
              <a:gd name="adj" fmla="val 6250"/>
            </a:avLst>
          </a:prstGeom>
          <a:solidFill>
            <a:schemeClr val="bg2"/>
          </a:solidFill>
          <a:ln w="12700">
            <a:solidFill>
              <a:schemeClr val="bg2"/>
            </a:solidFill>
            <a:prstDash val="solid"/>
          </a:ln>
        </p:spPr>
      </p:sp>
      <p:sp>
        <p:nvSpPr>
          <p:cNvPr id="15" name="icon circle"/>
          <p:cNvSpPr/>
          <p:nvPr/>
        </p:nvSpPr>
        <p:spPr>
          <a:xfrm>
            <a:off x="6309360" y="1371600"/>
            <a:ext cx="411480" cy="411480"/>
          </a:xfrm>
          <a:prstGeom prst="ellipse">
            <a:avLst/>
          </a:prstGeom>
          <a:solidFill>
            <a:schemeClr val="accent5"/>
          </a:solidFill>
          <a:ln w="12700">
            <a:solidFill>
              <a:schemeClr val="accent5"/>
            </a:solidFill>
            <a:prstDash val="solid"/>
          </a:ln>
        </p:spPr>
      </p:sp>
      <p:pic>
        <p:nvPicPr>
          <p:cNvPr id="16" name="icon FaFileAlt" descr="FaFileAlt">    </p:cNvPr>
          <p:cNvPicPr>
            <a:picLocks noChangeAspect="1"/>
          </p:cNvPicPr>
          <p:nvPr/>
        </p:nvPicPr>
        <p:blipFill>
          <a:blip r:embed="rId3"/>
          <a:stretch>
            <a:fillRect/>
          </a:stretch>
        </p:blipFill>
        <p:spPr>
          <a:xfrm>
            <a:off x="6408115" y="1470355"/>
            <a:ext cx="213970" cy="213970"/>
          </a:xfrm>
          <a:prstGeom prst="rect">
            <a:avLst/>
          </a:prstGeom>
        </p:spPr>
      </p:pic>
      <p:sp>
        <p:nvSpPr>
          <p:cNvPr id="17" name="Text 11"/>
          <p:cNvSpPr txBox="1"/>
          <p:nvPr/>
        </p:nvSpPr>
        <p:spPr>
          <a:xfrm>
            <a:off x="6309360" y="1892808"/>
            <a:ext cx="2194560" cy="292608"/>
          </a:xfrm>
          <a:prstGeom prst="rect">
            <a:avLst/>
          </a:prstGeom>
          <a:noFill/>
          <a:ln/>
        </p:spPr>
        <p:txBody>
          <a:bodyPr wrap="square" lIns="0" tIns="0" rIns="0" bIns="0" rtlCol="0" anchor="t"/>
          <a:lstStyle/>
          <a:p>
            <a:pPr indent="0" marL="0">
              <a:buNone/>
            </a:pPr>
            <a:r>
              <a:rPr lang="en-US" sz="1500" b="1" dirty="0">
                <a:solidFill>
                  <a:schemeClr val="tx1"/>
                </a:solidFill>
              </a:rPr>
              <a:t>3  Read evidence</a:t>
            </a:r>
            <a:endParaRPr lang="en-US" sz="1500" dirty="0"/>
          </a:p>
        </p:txBody>
      </p:sp>
      <p:sp>
        <p:nvSpPr>
          <p:cNvPr id="18" name="Text 12"/>
          <p:cNvSpPr txBox="1"/>
          <p:nvPr/>
        </p:nvSpPr>
        <p:spPr>
          <a:xfrm>
            <a:off x="6309360" y="2231136"/>
            <a:ext cx="2194560" cy="237744"/>
          </a:xfrm>
          <a:prstGeom prst="rect">
            <a:avLst/>
          </a:prstGeom>
          <a:noFill/>
          <a:ln/>
        </p:spPr>
        <p:txBody>
          <a:bodyPr wrap="square" lIns="0" tIns="0" rIns="0" bIns="0" rtlCol="0" anchor="t"/>
          <a:lstStyle/>
          <a:p>
            <a:pPr indent="0" marL="0">
              <a:buNone/>
            </a:pPr>
            <a:r>
              <a:rPr lang="en-US" sz="1400" dirty="0">
                <a:solidFill>
                  <a:schemeClr val="tx1"/>
                </a:solidFill>
              </a:rPr>
              <a:t>Report plus infra and app logs</a:t>
            </a:r>
            <a:endParaRPr lang="en-US" sz="1400" dirty="0"/>
          </a:p>
        </p:txBody>
      </p:sp>
      <p:sp>
        <p:nvSpPr>
          <p:cNvPr id="19" name="card"/>
          <p:cNvSpPr/>
          <p:nvPr/>
        </p:nvSpPr>
        <p:spPr>
          <a:xfrm>
            <a:off x="457200" y="2788920"/>
            <a:ext cx="2560320" cy="1463040"/>
          </a:xfrm>
          <a:prstGeom prst="roundRect">
            <a:avLst>
              <a:gd name="adj" fmla="val 6250"/>
            </a:avLst>
          </a:prstGeom>
          <a:solidFill>
            <a:schemeClr val="bg2"/>
          </a:solidFill>
          <a:ln w="12700">
            <a:solidFill>
              <a:schemeClr val="bg2"/>
            </a:solidFill>
            <a:prstDash val="solid"/>
          </a:ln>
        </p:spPr>
      </p:sp>
      <p:sp>
        <p:nvSpPr>
          <p:cNvPr id="20" name="icon circle"/>
          <p:cNvSpPr/>
          <p:nvPr/>
        </p:nvSpPr>
        <p:spPr>
          <a:xfrm>
            <a:off x="640080" y="2971800"/>
            <a:ext cx="411480" cy="411480"/>
          </a:xfrm>
          <a:prstGeom prst="ellipse">
            <a:avLst/>
          </a:prstGeom>
          <a:solidFill>
            <a:schemeClr val="accent1"/>
          </a:solidFill>
          <a:ln w="12700">
            <a:solidFill>
              <a:schemeClr val="accent1"/>
            </a:solidFill>
            <a:prstDash val="solid"/>
          </a:ln>
        </p:spPr>
      </p:sp>
      <p:pic>
        <p:nvPicPr>
          <p:cNvPr id="21" name="icon FaClipboardCheck" descr="FaClipboardCheck">    </p:cNvPr>
          <p:cNvPicPr>
            <a:picLocks noChangeAspect="1"/>
          </p:cNvPicPr>
          <p:nvPr/>
        </p:nvPicPr>
        <p:blipFill>
          <a:blip r:embed="rId4"/>
          <a:stretch>
            <a:fillRect/>
          </a:stretch>
        </p:blipFill>
        <p:spPr>
          <a:xfrm>
            <a:off x="738835" y="3070555"/>
            <a:ext cx="213970" cy="213970"/>
          </a:xfrm>
          <a:prstGeom prst="rect">
            <a:avLst/>
          </a:prstGeom>
        </p:spPr>
      </p:pic>
      <p:sp>
        <p:nvSpPr>
          <p:cNvPr id="22" name="Text 15"/>
          <p:cNvSpPr txBox="1"/>
          <p:nvPr/>
        </p:nvSpPr>
        <p:spPr>
          <a:xfrm>
            <a:off x="640080" y="3493008"/>
            <a:ext cx="2194560" cy="292608"/>
          </a:xfrm>
          <a:prstGeom prst="rect">
            <a:avLst/>
          </a:prstGeom>
          <a:noFill/>
          <a:ln/>
        </p:spPr>
        <p:txBody>
          <a:bodyPr wrap="square" lIns="0" tIns="0" rIns="0" bIns="0" rtlCol="0" anchor="t"/>
          <a:lstStyle/>
          <a:p>
            <a:pPr indent="0" marL="0">
              <a:buNone/>
            </a:pPr>
            <a:r>
              <a:rPr lang="en-US" sz="1500" b="1" dirty="0">
                <a:solidFill>
                  <a:schemeClr val="tx1"/>
                </a:solidFill>
              </a:rPr>
              <a:t>4  Report</a:t>
            </a:r>
            <a:endParaRPr lang="en-US" sz="1500" dirty="0"/>
          </a:p>
        </p:txBody>
      </p:sp>
      <p:sp>
        <p:nvSpPr>
          <p:cNvPr id="23" name="Text 16"/>
          <p:cNvSpPr txBox="1"/>
          <p:nvPr/>
        </p:nvSpPr>
        <p:spPr>
          <a:xfrm>
            <a:off x="640080" y="3831336"/>
            <a:ext cx="2194560" cy="237744"/>
          </a:xfrm>
          <a:prstGeom prst="rect">
            <a:avLst/>
          </a:prstGeom>
          <a:noFill/>
          <a:ln/>
        </p:spPr>
        <p:txBody>
          <a:bodyPr wrap="square" lIns="0" tIns="0" rIns="0" bIns="0" rtlCol="0" anchor="t"/>
          <a:lstStyle/>
          <a:p>
            <a:pPr indent="0" marL="0">
              <a:buNone/>
            </a:pPr>
            <a:r>
              <a:rPr lang="en-US" sz="1400" dirty="0">
                <a:solidFill>
                  <a:schemeClr val="tx1"/>
                </a:solidFill>
              </a:rPr>
              <a:t>The structured findings</a:t>
            </a:r>
            <a:endParaRPr lang="en-US" sz="1400" dirty="0"/>
          </a:p>
        </p:txBody>
      </p:sp>
      <p:sp>
        <p:nvSpPr>
          <p:cNvPr id="24" name="card"/>
          <p:cNvSpPr/>
          <p:nvPr/>
        </p:nvSpPr>
        <p:spPr>
          <a:xfrm>
            <a:off x="3291840" y="2788920"/>
            <a:ext cx="2560320" cy="1463040"/>
          </a:xfrm>
          <a:prstGeom prst="roundRect">
            <a:avLst>
              <a:gd name="adj" fmla="val 6250"/>
            </a:avLst>
          </a:prstGeom>
          <a:solidFill>
            <a:schemeClr val="bg2"/>
          </a:solidFill>
          <a:ln w="12700">
            <a:solidFill>
              <a:schemeClr val="bg2"/>
            </a:solidFill>
            <a:prstDash val="solid"/>
          </a:ln>
        </p:spPr>
      </p:sp>
      <p:sp>
        <p:nvSpPr>
          <p:cNvPr id="25" name="icon circle"/>
          <p:cNvSpPr/>
          <p:nvPr/>
        </p:nvSpPr>
        <p:spPr>
          <a:xfrm>
            <a:off x="3474720" y="2971800"/>
            <a:ext cx="411480" cy="411480"/>
          </a:xfrm>
          <a:prstGeom prst="ellipse">
            <a:avLst/>
          </a:prstGeom>
          <a:solidFill>
            <a:schemeClr val="accent6"/>
          </a:solidFill>
          <a:ln w="12700">
            <a:solidFill>
              <a:schemeClr val="accent6"/>
            </a:solidFill>
            <a:prstDash val="solid"/>
          </a:ln>
        </p:spPr>
      </p:sp>
      <p:pic>
        <p:nvPicPr>
          <p:cNvPr id="26" name="icon FaUserCheck" descr="FaUserCheck">    </p:cNvPr>
          <p:cNvPicPr>
            <a:picLocks noChangeAspect="1"/>
          </p:cNvPicPr>
          <p:nvPr/>
        </p:nvPicPr>
        <p:blipFill>
          <a:blip r:embed="rId5"/>
          <a:stretch>
            <a:fillRect/>
          </a:stretch>
        </p:blipFill>
        <p:spPr>
          <a:xfrm>
            <a:off x="3573475" y="3070555"/>
            <a:ext cx="213970" cy="213970"/>
          </a:xfrm>
          <a:prstGeom prst="rect">
            <a:avLst/>
          </a:prstGeom>
        </p:spPr>
      </p:pic>
      <p:sp>
        <p:nvSpPr>
          <p:cNvPr id="27" name="Text 19"/>
          <p:cNvSpPr txBox="1"/>
          <p:nvPr/>
        </p:nvSpPr>
        <p:spPr>
          <a:xfrm>
            <a:off x="3474720" y="3493008"/>
            <a:ext cx="2194560" cy="292608"/>
          </a:xfrm>
          <a:prstGeom prst="rect">
            <a:avLst/>
          </a:prstGeom>
          <a:noFill/>
          <a:ln/>
        </p:spPr>
        <p:txBody>
          <a:bodyPr wrap="square" lIns="0" tIns="0" rIns="0" bIns="0" rtlCol="0" anchor="t"/>
          <a:lstStyle/>
          <a:p>
            <a:pPr indent="0" marL="0">
              <a:buNone/>
            </a:pPr>
            <a:r>
              <a:rPr lang="en-US" sz="1500" b="1" dirty="0">
                <a:solidFill>
                  <a:schemeClr val="tx1"/>
                </a:solidFill>
              </a:rPr>
              <a:t>5  Hand to human</a:t>
            </a:r>
            <a:endParaRPr lang="en-US" sz="1500" dirty="0"/>
          </a:p>
        </p:txBody>
      </p:sp>
      <p:sp>
        <p:nvSpPr>
          <p:cNvPr id="28" name="Text 20"/>
          <p:cNvSpPr txBox="1"/>
          <p:nvPr/>
        </p:nvSpPr>
        <p:spPr>
          <a:xfrm>
            <a:off x="3474720" y="3831336"/>
            <a:ext cx="2194560" cy="237744"/>
          </a:xfrm>
          <a:prstGeom prst="rect">
            <a:avLst/>
          </a:prstGeom>
          <a:noFill/>
          <a:ln/>
        </p:spPr>
        <p:txBody>
          <a:bodyPr wrap="square" lIns="0" tIns="0" rIns="0" bIns="0" rtlCol="0" anchor="t"/>
          <a:lstStyle/>
          <a:p>
            <a:pPr indent="0" marL="0">
              <a:buNone/>
            </a:pPr>
            <a:r>
              <a:rPr lang="en-US" sz="1400" dirty="0">
                <a:solidFill>
                  <a:schemeClr val="tx1"/>
                </a:solidFill>
              </a:rPr>
              <a:t>A person reviews and applies</a:t>
            </a:r>
            <a:endParaRPr lang="en-US" sz="1400" dirty="0"/>
          </a:p>
        </p:txBody>
      </p:sp>
      <p:sp>
        <p:nvSpPr>
          <p:cNvPr id="29" name="card"/>
          <p:cNvSpPr/>
          <p:nvPr/>
        </p:nvSpPr>
        <p:spPr>
          <a:xfrm>
            <a:off x="6126480" y="2788920"/>
            <a:ext cx="2560320" cy="1463040"/>
          </a:xfrm>
          <a:prstGeom prst="roundRect">
            <a:avLst>
              <a:gd name="adj" fmla="val 6250"/>
            </a:avLst>
          </a:prstGeom>
          <a:solidFill>
            <a:schemeClr val="bg2"/>
          </a:solidFill>
          <a:ln w="12700">
            <a:solidFill>
              <a:schemeClr val="bg2"/>
            </a:solidFill>
            <a:prstDash val="solid"/>
          </a:ln>
        </p:spPr>
      </p:sp>
      <p:sp>
        <p:nvSpPr>
          <p:cNvPr id="30" name="icon circle"/>
          <p:cNvSpPr/>
          <p:nvPr/>
        </p:nvSpPr>
        <p:spPr>
          <a:xfrm>
            <a:off x="6309360" y="2971800"/>
            <a:ext cx="411480" cy="411480"/>
          </a:xfrm>
          <a:prstGeom prst="ellipse">
            <a:avLst/>
          </a:prstGeom>
          <a:solidFill>
            <a:schemeClr val="accent3"/>
          </a:solidFill>
          <a:ln w="12700">
            <a:solidFill>
              <a:schemeClr val="accent3"/>
            </a:solidFill>
            <a:prstDash val="solid"/>
          </a:ln>
        </p:spPr>
      </p:sp>
      <p:pic>
        <p:nvPicPr>
          <p:cNvPr id="31" name="icon FaBan" descr="FaBan">    </p:cNvPr>
          <p:cNvPicPr>
            <a:picLocks noChangeAspect="1"/>
          </p:cNvPicPr>
          <p:nvPr/>
        </p:nvPicPr>
        <p:blipFill>
          <a:blip r:embed="rId6"/>
          <a:stretch>
            <a:fillRect/>
          </a:stretch>
        </p:blipFill>
        <p:spPr>
          <a:xfrm>
            <a:off x="6408115" y="3070555"/>
            <a:ext cx="213970" cy="213970"/>
          </a:xfrm>
          <a:prstGeom prst="rect">
            <a:avLst/>
          </a:prstGeom>
        </p:spPr>
      </p:pic>
      <p:sp>
        <p:nvSpPr>
          <p:cNvPr id="32" name="Text 23"/>
          <p:cNvSpPr txBox="1"/>
          <p:nvPr/>
        </p:nvSpPr>
        <p:spPr>
          <a:xfrm>
            <a:off x="6309360" y="3493008"/>
            <a:ext cx="2194560" cy="292608"/>
          </a:xfrm>
          <a:prstGeom prst="rect">
            <a:avLst/>
          </a:prstGeom>
          <a:noFill/>
          <a:ln/>
        </p:spPr>
        <p:txBody>
          <a:bodyPr wrap="square" lIns="0" tIns="0" rIns="0" bIns="0" rtlCol="0" anchor="t"/>
          <a:lstStyle/>
          <a:p>
            <a:pPr indent="0" marL="0">
              <a:buNone/>
            </a:pPr>
            <a:r>
              <a:rPr lang="en-US" sz="1500" b="1" dirty="0">
                <a:solidFill>
                  <a:schemeClr val="tx1"/>
                </a:solidFill>
              </a:rPr>
              <a:t>6  Do not edit</a:t>
            </a:r>
            <a:endParaRPr lang="en-US" sz="1500" dirty="0"/>
          </a:p>
        </p:txBody>
      </p:sp>
      <p:sp>
        <p:nvSpPr>
          <p:cNvPr id="33" name="Text 24"/>
          <p:cNvSpPr txBox="1"/>
          <p:nvPr/>
        </p:nvSpPr>
        <p:spPr>
          <a:xfrm>
            <a:off x="6309360" y="3831336"/>
            <a:ext cx="2194560" cy="237744"/>
          </a:xfrm>
          <a:prstGeom prst="rect">
            <a:avLst/>
          </a:prstGeom>
          <a:noFill/>
          <a:ln/>
        </p:spPr>
        <p:txBody>
          <a:bodyPr wrap="square" lIns="0" tIns="0" rIns="0" bIns="0" rtlCol="0" anchor="t"/>
          <a:lstStyle/>
          <a:p>
            <a:pPr indent="0" marL="0">
              <a:buNone/>
            </a:pPr>
            <a:r>
              <a:rPr lang="en-US" sz="1400" dirty="0">
                <a:solidFill>
                  <a:schemeClr val="tx1"/>
                </a:solidFill>
              </a:rPr>
              <a:t>No files, no pipeline YAML</a:t>
            </a:r>
            <a:endParaRPr lang="en-US" sz="1400" dirty="0"/>
          </a:p>
        </p:txBody>
      </p:sp>
      <p:sp>
        <p:nvSpPr>
          <p:cNvPr id="34" name="Text 25"/>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200" dirty="0">
                <a:solidFill>
                  <a:schemeClr val="tx2"/>
                </a:solidFill>
              </a:rPr>
              <a:t>Rules inside the skill also forbid retriggering, retrying, cancelling or approving, and reading or using any secret.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Why "|| true"?</a:t>
            </a:r>
            <a:endParaRPr lang="en-US" sz="3000" dirty="0"/>
          </a:p>
        </p:txBody>
      </p:sp>
      <p:sp>
        <p:nvSpPr>
          <p:cNvPr id="4" name="code panel"/>
          <p:cNvSpPr/>
          <p:nvPr/>
        </p:nvSpPr>
        <p:spPr>
          <a:xfrm>
            <a:off x="457200" y="1280160"/>
            <a:ext cx="8229600" cy="914400"/>
          </a:xfrm>
          <a:prstGeom prst="roundRect">
            <a:avLst>
              <a:gd name="adj" fmla="val 8000"/>
            </a:avLst>
          </a:prstGeom>
          <a:solidFill>
            <a:schemeClr val="tx1"/>
          </a:solidFill>
          <a:ln w="12700">
            <a:solidFill>
              <a:schemeClr val="tx1"/>
            </a:solidFill>
            <a:prstDash val="solid"/>
          </a:ln>
        </p:spPr>
      </p:sp>
      <p:sp>
        <p:nvSpPr>
          <p:cNvPr id="5" name="code"/>
          <p:cNvSpPr txBox="1"/>
          <p:nvPr/>
        </p:nvSpPr>
        <p:spPr>
          <a:xfrm>
            <a:off x="621792" y="1389888"/>
            <a:ext cx="7900416" cy="69494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bash pipeline-triage.sh || true</a:t>
            </a:r>
            <a:endParaRPr lang="en-US" sz="1400" dirty="0"/>
          </a:p>
          <a:p>
            <a:pPr indent="0" marL="0">
              <a:buNone/>
            </a:pPr>
            <a:r>
              <a:rPr lang="en-US" sz="1400" dirty="0">
                <a:solidFill>
                  <a:schemeClr val="accent1"/>
                </a:solidFill>
                <a:latin typeface="Courier New" pitchFamily="34" charset="0"/>
                <a:ea typeface="Courier New" pitchFamily="34" charset="-122"/>
                <a:cs typeface="Courier New" pitchFamily="34" charset="-120"/>
              </a:rPr>
              <a:t>#            ^ if the script exits 1/2/3, continue anyway</a:t>
            </a:r>
            <a:endParaRPr lang="en-US" sz="1400" dirty="0"/>
          </a:p>
        </p:txBody>
      </p:sp>
      <p:sp>
        <p:nvSpPr>
          <p:cNvPr id="6" name="card"/>
          <p:cNvSpPr/>
          <p:nvPr/>
        </p:nvSpPr>
        <p:spPr>
          <a:xfrm>
            <a:off x="457200" y="2468880"/>
            <a:ext cx="3977640" cy="1828800"/>
          </a:xfrm>
          <a:prstGeom prst="roundRect">
            <a:avLst>
              <a:gd name="adj" fmla="val 5000"/>
            </a:avLst>
          </a:prstGeom>
          <a:solidFill>
            <a:schemeClr val="bg2"/>
          </a:solidFill>
          <a:ln w="12700">
            <a:solidFill>
              <a:schemeClr val="bg2"/>
            </a:solidFill>
            <a:prstDash val="solid"/>
          </a:ln>
        </p:spPr>
      </p:sp>
      <p:sp>
        <p:nvSpPr>
          <p:cNvPr id="7" name="icon circle"/>
          <p:cNvSpPr/>
          <p:nvPr/>
        </p:nvSpPr>
        <p:spPr>
          <a:xfrm>
            <a:off x="640080" y="2651760"/>
            <a:ext cx="457200" cy="457200"/>
          </a:xfrm>
          <a:prstGeom prst="ellipse">
            <a:avLst/>
          </a:prstGeom>
          <a:solidFill>
            <a:schemeClr val="accent3"/>
          </a:solidFill>
          <a:ln w="12700">
            <a:solidFill>
              <a:schemeClr val="accent3"/>
            </a:solidFill>
            <a:prstDash val="solid"/>
          </a:ln>
        </p:spPr>
      </p:sp>
      <p:pic>
        <p:nvPicPr>
          <p:cNvPr id="8" name="icon FaTimesCircle" descr="FaTimesCircle">    </p:cNvPr>
          <p:cNvPicPr>
            <a:picLocks noChangeAspect="1"/>
          </p:cNvPicPr>
          <p:nvPr/>
        </p:nvPicPr>
        <p:blipFill>
          <a:blip r:embed="rId1"/>
          <a:stretch>
            <a:fillRect/>
          </a:stretch>
        </p:blipFill>
        <p:spPr>
          <a:xfrm>
            <a:off x="749808" y="2761488"/>
            <a:ext cx="237744" cy="237744"/>
          </a:xfrm>
          <a:prstGeom prst="rect">
            <a:avLst/>
          </a:prstGeom>
        </p:spPr>
      </p:pic>
      <p:sp>
        <p:nvSpPr>
          <p:cNvPr id="9" name="Text 5"/>
          <p:cNvSpPr txBox="1"/>
          <p:nvPr/>
        </p:nvSpPr>
        <p:spPr>
          <a:xfrm>
            <a:off x="640080" y="3218688"/>
            <a:ext cx="3611880" cy="292608"/>
          </a:xfrm>
          <a:prstGeom prst="rect">
            <a:avLst/>
          </a:prstGeom>
          <a:noFill/>
          <a:ln/>
        </p:spPr>
        <p:txBody>
          <a:bodyPr wrap="square" lIns="0" tIns="0" rIns="0" bIns="0" rtlCol="0" anchor="t"/>
          <a:lstStyle/>
          <a:p>
            <a:pPr indent="0" marL="0">
              <a:buNone/>
            </a:pPr>
            <a:r>
              <a:rPr lang="en-US" sz="1600" b="1" dirty="0">
                <a:solidFill>
                  <a:schemeClr val="tx1"/>
                </a:solidFill>
              </a:rPr>
              <a:t>Without || true</a:t>
            </a:r>
            <a:endParaRPr lang="en-US" sz="1600" dirty="0"/>
          </a:p>
        </p:txBody>
      </p:sp>
      <p:sp>
        <p:nvSpPr>
          <p:cNvPr id="10" name="Text 6"/>
          <p:cNvSpPr txBox="1"/>
          <p:nvPr/>
        </p:nvSpPr>
        <p:spPr>
          <a:xfrm>
            <a:off x="640080" y="3557016"/>
            <a:ext cx="3611880" cy="557784"/>
          </a:xfrm>
          <a:prstGeom prst="rect">
            <a:avLst/>
          </a:prstGeom>
          <a:noFill/>
          <a:ln/>
        </p:spPr>
        <p:txBody>
          <a:bodyPr wrap="square" lIns="0" tIns="0" rIns="0" bIns="0" rtlCol="0" anchor="t"/>
          <a:lstStyle/>
          <a:p>
            <a:pPr indent="0" marL="0">
              <a:buNone/>
            </a:pPr>
            <a:r>
              <a:rPr lang="en-US" sz="1400" dirty="0">
                <a:solidFill>
                  <a:schemeClr val="tx1"/>
                </a:solidFill>
              </a:rPr>
              <a:t>Failure exit code &gt; command counts as failed &gt; analysis may stop before the report is read.</a:t>
            </a:r>
            <a:endParaRPr lang="en-US" sz="1400" dirty="0"/>
          </a:p>
        </p:txBody>
      </p:sp>
      <p:sp>
        <p:nvSpPr>
          <p:cNvPr id="11" name="card"/>
          <p:cNvSpPr/>
          <p:nvPr/>
        </p:nvSpPr>
        <p:spPr>
          <a:xfrm>
            <a:off x="4709160" y="2468880"/>
            <a:ext cx="3977640" cy="1828800"/>
          </a:xfrm>
          <a:prstGeom prst="roundRect">
            <a:avLst>
              <a:gd name="adj" fmla="val 5000"/>
            </a:avLst>
          </a:prstGeom>
          <a:solidFill>
            <a:schemeClr val="bg2"/>
          </a:solidFill>
          <a:ln w="12700">
            <a:solidFill>
              <a:schemeClr val="bg2"/>
            </a:solidFill>
            <a:prstDash val="solid"/>
          </a:ln>
        </p:spPr>
      </p:sp>
      <p:sp>
        <p:nvSpPr>
          <p:cNvPr id="12" name="icon circle"/>
          <p:cNvSpPr/>
          <p:nvPr/>
        </p:nvSpPr>
        <p:spPr>
          <a:xfrm>
            <a:off x="4892040" y="2651760"/>
            <a:ext cx="457200" cy="457200"/>
          </a:xfrm>
          <a:prstGeom prst="ellipse">
            <a:avLst/>
          </a:prstGeom>
          <a:solidFill>
            <a:schemeClr val="accent6"/>
          </a:solidFill>
          <a:ln w="12700">
            <a:solidFill>
              <a:schemeClr val="accent6"/>
            </a:solidFill>
            <a:prstDash val="solid"/>
          </a:ln>
        </p:spPr>
      </p:sp>
      <p:pic>
        <p:nvPicPr>
          <p:cNvPr id="13" name="icon FaCheckCircle" descr="FaCheckCircle">    </p:cNvPr>
          <p:cNvPicPr>
            <a:picLocks noChangeAspect="1"/>
          </p:cNvPicPr>
          <p:nvPr/>
        </p:nvPicPr>
        <p:blipFill>
          <a:blip r:embed="rId2"/>
          <a:stretch>
            <a:fillRect/>
          </a:stretch>
        </p:blipFill>
        <p:spPr>
          <a:xfrm>
            <a:off x="5001768" y="2761488"/>
            <a:ext cx="237744" cy="237744"/>
          </a:xfrm>
          <a:prstGeom prst="rect">
            <a:avLst/>
          </a:prstGeom>
        </p:spPr>
      </p:pic>
      <p:sp>
        <p:nvSpPr>
          <p:cNvPr id="14" name="Text 9"/>
          <p:cNvSpPr txBox="1"/>
          <p:nvPr/>
        </p:nvSpPr>
        <p:spPr>
          <a:xfrm>
            <a:off x="4892040" y="3218688"/>
            <a:ext cx="3611880" cy="292608"/>
          </a:xfrm>
          <a:prstGeom prst="rect">
            <a:avLst/>
          </a:prstGeom>
          <a:noFill/>
          <a:ln/>
        </p:spPr>
        <p:txBody>
          <a:bodyPr wrap="square" lIns="0" tIns="0" rIns="0" bIns="0" rtlCol="0" anchor="t"/>
          <a:lstStyle/>
          <a:p>
            <a:pPr indent="0" marL="0">
              <a:buNone/>
            </a:pPr>
            <a:r>
              <a:rPr lang="en-US" sz="1600" b="1" dirty="0">
                <a:solidFill>
                  <a:schemeClr val="tx1"/>
                </a:solidFill>
              </a:rPr>
              <a:t>With || true</a:t>
            </a:r>
            <a:endParaRPr lang="en-US" sz="1600" dirty="0"/>
          </a:p>
        </p:txBody>
      </p:sp>
      <p:sp>
        <p:nvSpPr>
          <p:cNvPr id="15" name="Text 10"/>
          <p:cNvSpPr txBox="1"/>
          <p:nvPr/>
        </p:nvSpPr>
        <p:spPr>
          <a:xfrm>
            <a:off x="4892040" y="3557016"/>
            <a:ext cx="3611880" cy="557784"/>
          </a:xfrm>
          <a:prstGeom prst="rect">
            <a:avLst/>
          </a:prstGeom>
          <a:noFill/>
          <a:ln/>
        </p:spPr>
        <p:txBody>
          <a:bodyPr wrap="square" lIns="0" tIns="0" rIns="0" bIns="0" rtlCol="0" anchor="t"/>
          <a:lstStyle/>
          <a:p>
            <a:pPr indent="0" marL="0">
              <a:buNone/>
            </a:pPr>
            <a:r>
              <a:rPr lang="en-US" sz="1400" dirty="0">
                <a:solidFill>
                  <a:schemeClr val="tx1"/>
                </a:solidFill>
              </a:rPr>
              <a:t>Script runs, exit code is captured in the report, Claude carries on and analyses the failure.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Review before you trust: two bugs found</a:t>
            </a:r>
            <a:endParaRPr lang="en-US" sz="3000" dirty="0"/>
          </a:p>
        </p:txBody>
      </p:sp>
      <p:sp>
        <p:nvSpPr>
          <p:cNvPr id="4" name="card"/>
          <p:cNvSpPr/>
          <p:nvPr/>
        </p:nvSpPr>
        <p:spPr>
          <a:xfrm>
            <a:off x="457200" y="1234440"/>
            <a:ext cx="3977640" cy="2834640"/>
          </a:xfrm>
          <a:prstGeom prst="roundRect">
            <a:avLst>
              <a:gd name="adj" fmla="val 3226"/>
            </a:avLst>
          </a:prstGeom>
          <a:solidFill>
            <a:schemeClr val="bg2"/>
          </a:solidFill>
          <a:ln w="12700">
            <a:solidFill>
              <a:schemeClr val="bg2"/>
            </a:solidFill>
            <a:prstDash val="solid"/>
          </a:ln>
        </p:spPr>
      </p:sp>
      <p:sp>
        <p:nvSpPr>
          <p:cNvPr id="5" name="icon circle"/>
          <p:cNvSpPr/>
          <p:nvPr/>
        </p:nvSpPr>
        <p:spPr>
          <a:xfrm>
            <a:off x="640080" y="1417320"/>
            <a:ext cx="457200" cy="457200"/>
          </a:xfrm>
          <a:prstGeom prst="ellipse">
            <a:avLst/>
          </a:prstGeom>
          <a:solidFill>
            <a:schemeClr val="accent3"/>
          </a:solidFill>
          <a:ln w="12700">
            <a:solidFill>
              <a:schemeClr val="accent3"/>
            </a:solidFill>
            <a:prstDash val="solid"/>
          </a:ln>
        </p:spPr>
      </p:sp>
      <p:pic>
        <p:nvPicPr>
          <p:cNvPr id="6" name="icon FaBug" descr="FaBug">    </p:cNvPr>
          <p:cNvPicPr>
            <a:picLocks noChangeAspect="1"/>
          </p:cNvPicPr>
          <p:nvPr/>
        </p:nvPicPr>
        <p:blipFill>
          <a:blip r:embed="rId1"/>
          <a:stretch>
            <a:fillRect/>
          </a:stretch>
        </p:blipFill>
        <p:spPr>
          <a:xfrm>
            <a:off x="749808" y="1527048"/>
            <a:ext cx="237744" cy="237744"/>
          </a:xfrm>
          <a:prstGeom prst="rect">
            <a:avLst/>
          </a:prstGeom>
        </p:spPr>
      </p:pic>
      <p:sp>
        <p:nvSpPr>
          <p:cNvPr id="7" name="Text 3"/>
          <p:cNvSpPr txBox="1"/>
          <p:nvPr/>
        </p:nvSpPr>
        <p:spPr>
          <a:xfrm>
            <a:off x="640080" y="1984248"/>
            <a:ext cx="3611880" cy="292608"/>
          </a:xfrm>
          <a:prstGeom prst="rect">
            <a:avLst/>
          </a:prstGeom>
          <a:noFill/>
          <a:ln/>
        </p:spPr>
        <p:txBody>
          <a:bodyPr wrap="square" lIns="0" tIns="0" rIns="0" bIns="0" rtlCol="0" anchor="t"/>
          <a:lstStyle/>
          <a:p>
            <a:pPr indent="0" marL="0">
              <a:buNone/>
            </a:pPr>
            <a:r>
              <a:rPr lang="en-US" sz="1600" b="1" dirty="0">
                <a:solidFill>
                  <a:schemeClr val="tx1"/>
                </a:solidFill>
              </a:rPr>
              <a:t>Bug 1: wrong log filename</a:t>
            </a:r>
            <a:endParaRPr lang="en-US" sz="1600" dirty="0"/>
          </a:p>
        </p:txBody>
      </p:sp>
      <p:sp>
        <p:nvSpPr>
          <p:cNvPr id="8" name="Text 4"/>
          <p:cNvSpPr txBox="1"/>
          <p:nvPr/>
        </p:nvSpPr>
        <p:spPr>
          <a:xfrm>
            <a:off x="640080" y="2322576"/>
            <a:ext cx="3611880" cy="1563624"/>
          </a:xfrm>
          <a:prstGeom prst="rect">
            <a:avLst/>
          </a:prstGeom>
          <a:noFill/>
          <a:ln/>
        </p:spPr>
        <p:txBody>
          <a:bodyPr wrap="square" lIns="0" tIns="0" rIns="0" bIns="0" rtlCol="0" anchor="t"/>
          <a:lstStyle/>
          <a:p>
            <a:pPr indent="0" marL="0">
              <a:buNone/>
            </a:pPr>
            <a:r>
              <a:rPr lang="en-US" sz="1400" dirty="0">
                <a:solidFill>
                  <a:schemeClr val="tx1"/>
                </a:solidFill>
              </a:rPr>
              <a:t>Skill read reports/pipeline-last-run.log.</a:t>
            </a:r>
            <a:endParaRPr lang="en-US" sz="1400" dirty="0"/>
          </a:p>
          <a:p>
            <a:pPr indent="0" marL="0">
              <a:buNone/>
            </a:pPr>
            <a:r>
              <a:rPr lang="en-US" sz="1400" dirty="0">
                <a:solidFill>
                  <a:schemeClr val="tx1"/>
                </a:solidFill>
              </a:rPr>
              <a:t>Script writes infra-last-run.log and app-last-run.log.</a:t>
            </a:r>
            <a:endParaRPr lang="en-US" sz="1400" dirty="0"/>
          </a:p>
          <a:p>
            <a:pPr indent="0" marL="0">
              <a:buNone/>
            </a:pPr>
            <a:r>
              <a:rPr lang="en-US" sz="1400" dirty="0">
                <a:solidFill>
                  <a:schemeClr val="tx1"/>
                </a:solidFill>
              </a:rPr>
              <a:t>Fix: point the skill at the two real files.</a:t>
            </a:r>
            <a:endParaRPr lang="en-US" sz="1400" dirty="0"/>
          </a:p>
        </p:txBody>
      </p:sp>
      <p:sp>
        <p:nvSpPr>
          <p:cNvPr id="9" name="card"/>
          <p:cNvSpPr/>
          <p:nvPr/>
        </p:nvSpPr>
        <p:spPr>
          <a:xfrm>
            <a:off x="4709160" y="1234440"/>
            <a:ext cx="3977640" cy="2834640"/>
          </a:xfrm>
          <a:prstGeom prst="roundRect">
            <a:avLst>
              <a:gd name="adj" fmla="val 3226"/>
            </a:avLst>
          </a:prstGeom>
          <a:solidFill>
            <a:schemeClr val="bg2"/>
          </a:solidFill>
          <a:ln w="12700">
            <a:solidFill>
              <a:schemeClr val="bg2"/>
            </a:solidFill>
            <a:prstDash val="solid"/>
          </a:ln>
        </p:spPr>
      </p:sp>
      <p:sp>
        <p:nvSpPr>
          <p:cNvPr id="10" name="icon circle"/>
          <p:cNvSpPr/>
          <p:nvPr/>
        </p:nvSpPr>
        <p:spPr>
          <a:xfrm>
            <a:off x="4892040" y="1417320"/>
            <a:ext cx="457200" cy="457200"/>
          </a:xfrm>
          <a:prstGeom prst="ellipse">
            <a:avLst/>
          </a:prstGeom>
          <a:solidFill>
            <a:schemeClr val="accent1"/>
          </a:solidFill>
          <a:ln w="12700">
            <a:solidFill>
              <a:schemeClr val="accent1"/>
            </a:solidFill>
            <a:prstDash val="solid"/>
          </a:ln>
        </p:spPr>
      </p:sp>
      <p:pic>
        <p:nvPicPr>
          <p:cNvPr id="11" name="icon FaBug" descr="FaBug">    </p:cNvPr>
          <p:cNvPicPr>
            <a:picLocks noChangeAspect="1"/>
          </p:cNvPicPr>
          <p:nvPr/>
        </p:nvPicPr>
        <p:blipFill>
          <a:blip r:embed="rId2"/>
          <a:stretch>
            <a:fillRect/>
          </a:stretch>
        </p:blipFill>
        <p:spPr>
          <a:xfrm>
            <a:off x="5001768" y="1527048"/>
            <a:ext cx="237744" cy="237744"/>
          </a:xfrm>
          <a:prstGeom prst="rect">
            <a:avLst/>
          </a:prstGeom>
        </p:spPr>
      </p:pic>
      <p:sp>
        <p:nvSpPr>
          <p:cNvPr id="12" name="Text 7"/>
          <p:cNvSpPr txBox="1"/>
          <p:nvPr/>
        </p:nvSpPr>
        <p:spPr>
          <a:xfrm>
            <a:off x="4892040" y="1984248"/>
            <a:ext cx="3611880" cy="292608"/>
          </a:xfrm>
          <a:prstGeom prst="rect">
            <a:avLst/>
          </a:prstGeom>
          <a:noFill/>
          <a:ln/>
        </p:spPr>
        <p:txBody>
          <a:bodyPr wrap="square" lIns="0" tIns="0" rIns="0" bIns="0" rtlCol="0" anchor="t"/>
          <a:lstStyle/>
          <a:p>
            <a:pPr indent="0" marL="0">
              <a:buNone/>
            </a:pPr>
            <a:r>
              <a:rPr lang="en-US" sz="1600" b="1" dirty="0">
                <a:solidFill>
                  <a:schemeClr val="tx1"/>
                </a:solidFill>
              </a:rPr>
              <a:t>Bug 2: incomplete output list</a:t>
            </a:r>
            <a:endParaRPr lang="en-US" sz="1600" dirty="0"/>
          </a:p>
        </p:txBody>
      </p:sp>
      <p:sp>
        <p:nvSpPr>
          <p:cNvPr id="13" name="Text 8"/>
          <p:cNvSpPr txBox="1"/>
          <p:nvPr/>
        </p:nvSpPr>
        <p:spPr>
          <a:xfrm>
            <a:off x="4892040" y="2322576"/>
            <a:ext cx="3611880" cy="1563624"/>
          </a:xfrm>
          <a:prstGeom prst="rect">
            <a:avLst/>
          </a:prstGeom>
          <a:noFill/>
          <a:ln/>
        </p:spPr>
        <p:txBody>
          <a:bodyPr wrap="square" lIns="0" tIns="0" rIns="0" bIns="0" rtlCol="0" anchor="t"/>
          <a:lstStyle/>
          <a:p>
            <a:pPr indent="0" marL="0">
              <a:buNone/>
            </a:pPr>
            <a:r>
              <a:rPr lang="en-US" sz="1400" dirty="0">
                <a:solidFill>
                  <a:schemeClr val="tx1"/>
                </a:solidFill>
              </a:rPr>
              <a:t>Only 5 of 8 categories named.</a:t>
            </a:r>
            <a:endParaRPr lang="en-US" sz="1400" dirty="0"/>
          </a:p>
          <a:p>
            <a:pPr indent="0" marL="0">
              <a:buNone/>
            </a:pPr>
            <a:r>
              <a:rPr lang="en-US" sz="1400" dirty="0">
                <a:solidFill>
                  <a:schemeClr val="tx1"/>
                </a:solidFill>
              </a:rPr>
              <a:t>Affected pipeline and Pipeline run ID not separate fields.</a:t>
            </a:r>
            <a:endParaRPr lang="en-US" sz="1400" dirty="0"/>
          </a:p>
          <a:p>
            <a:pPr indent="0" marL="0">
              <a:buNone/>
            </a:pPr>
            <a:r>
              <a:rPr lang="en-US" sz="1400" dirty="0">
                <a:solidFill>
                  <a:schemeClr val="tx1"/>
                </a:solidFill>
              </a:rPr>
              <a:t>Fix: list all 8 and add both fields.</a:t>
            </a:r>
            <a:endParaRPr lang="en-US" sz="1400" dirty="0"/>
          </a:p>
        </p:txBody>
      </p:sp>
      <p:sp>
        <p:nvSpPr>
          <p:cNvPr id="14" name="callout"/>
          <p:cNvSpPr/>
          <p:nvPr/>
        </p:nvSpPr>
        <p:spPr>
          <a:xfrm>
            <a:off x="457200" y="4206240"/>
            <a:ext cx="8229600" cy="548640"/>
          </a:xfrm>
          <a:prstGeom prst="roundRect">
            <a:avLst>
              <a:gd name="adj" fmla="val 16667"/>
            </a:avLst>
          </a:prstGeom>
          <a:solidFill>
            <a:schemeClr val="accent2"/>
          </a:solidFill>
          <a:ln w="12700">
            <a:solidFill>
              <a:schemeClr val="accent2"/>
            </a:solidFill>
            <a:prstDash val="solid"/>
          </a:ln>
        </p:spPr>
      </p:sp>
      <p:sp>
        <p:nvSpPr>
          <p:cNvPr id="15" name="Text 10"/>
          <p:cNvSpPr txBox="1"/>
          <p:nvPr/>
        </p:nvSpPr>
        <p:spPr>
          <a:xfrm>
            <a:off x="685800" y="420624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Verify fixes with grep. A skill is code: read it, test it, then trust it.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Three files, three jobs</a:t>
            </a:r>
            <a:endParaRPr lang="en-US" sz="3000" dirty="0"/>
          </a:p>
        </p:txBody>
      </p:sp>
      <p:graphicFrame>
        <p:nvGraphicFramePr>
          <p:cNvPr id="53" name="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828800"/>
                <a:gridCol w="2651760"/>
                <a:gridCol w="2286000"/>
                <a:gridCol w="1463040"/>
              </a:tblGrid>
              <a:tr h="685800">
                <a:tc>
                  <a:txBody>
                    <a:bodyPr/>
                    <a:lstStyle/>
                    <a:p>
                      <a:pPr indent="0" marL="0">
                        <a:buNone/>
                      </a:pPr>
                      <a:r>
                        <a:rPr lang="en-US" sz="1400" b="1" dirty="0">
                          <a:solidFill>
                            <a:schemeClr val="bg1"/>
                          </a:solidFill>
                        </a:rPr>
                        <a:t>File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Role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When it applies</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Who acts on it</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685800">
                <a:tc>
                  <a:txBody>
                    <a:bodyPr/>
                    <a:lstStyle/>
                    <a:p>
                      <a:pPr indent="0" marL="0">
                        <a:buNone/>
                      </a:pPr>
                      <a:r>
                        <a:rPr lang="en-US" sz="1400" b="1" dirty="0">
                          <a:solidFill>
                            <a:schemeClr val="tx1"/>
                          </a:solidFill>
                        </a:rPr>
                        <a:t>CLAUDE.md</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Project rules, workflow, output format</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Every session in this project</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Claude Code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SKILL.md</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/pipeline-triage procedure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Only when a human types the command</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Claude Code</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685800">
                <a:tc>
                  <a:txBody>
                    <a:bodyPr/>
                    <a:lstStyle/>
                    <a:p>
                      <a:pPr indent="0" marL="0">
                        <a:buNone/>
                      </a:pPr>
                      <a:r>
                        <a:rPr lang="en-US" sz="1400" b="1" dirty="0">
                          <a:solidFill>
                            <a:schemeClr val="tx1"/>
                          </a:solidFill>
                        </a:rPr>
                        <a:t>pipeline-triage.sh</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Fetch, sanitise, classify, report</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When the skill (or you) runs it</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Bash</a:t>
                      </a:r>
                      <a:endParaRPr lang="en-US" sz="14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400" i="1" dirty="0">
                <a:solidFill>
                  <a:schemeClr val="tx2"/>
                </a:solidFill>
              </a:rPr>
              <a:t>The skill reads CLAUDE.md first (step 1), so the policy always loads before the procedure.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Defence in depth: the safety layers</a:t>
            </a:r>
            <a:endParaRPr lang="en-US" sz="3000" dirty="0"/>
          </a:p>
        </p:txBody>
      </p:sp>
      <p:sp>
        <p:nvSpPr>
          <p:cNvPr id="4" name="layer 1"/>
          <p:cNvSpPr/>
          <p:nvPr/>
        </p:nvSpPr>
        <p:spPr>
          <a:xfrm>
            <a:off x="457200" y="1234440"/>
            <a:ext cx="8229600" cy="731520"/>
          </a:xfrm>
          <a:prstGeom prst="roundRect">
            <a:avLst>
              <a:gd name="adj" fmla="val 15000"/>
            </a:avLst>
          </a:prstGeom>
          <a:solidFill>
            <a:schemeClr val="accent6"/>
          </a:solidFill>
          <a:ln w="12700">
            <a:solidFill>
              <a:schemeClr val="accent6"/>
            </a:solidFill>
            <a:prstDash val="solid"/>
          </a:ln>
        </p:spPr>
      </p:sp>
      <p:sp>
        <p:nvSpPr>
          <p:cNvPr id="5" name="Text 2"/>
          <p:cNvSpPr txBox="1"/>
          <p:nvPr/>
        </p:nvSpPr>
        <p:spPr>
          <a:xfrm>
            <a:off x="640080" y="1234440"/>
            <a:ext cx="7863840" cy="731520"/>
          </a:xfrm>
          <a:prstGeom prst="rect">
            <a:avLst/>
          </a:prstGeom>
          <a:noFill/>
          <a:ln/>
        </p:spPr>
        <p:txBody>
          <a:bodyPr wrap="square" lIns="0" tIns="0" rIns="0" bIns="0" rtlCol="0" anchor="ctr"/>
          <a:lstStyle/>
          <a:p>
            <a:pPr algn="ctr" indent="0" marL="0">
              <a:buNone/>
            </a:pPr>
            <a:r>
              <a:rPr lang="en-US" sz="1600" b="1" dirty="0">
                <a:solidFill>
                  <a:schemeClr val="bg1"/>
                </a:solidFill>
              </a:rPr>
              <a:t>Human approval for every change</a:t>
            </a:r>
            <a:endParaRPr lang="en-US" sz="1600" dirty="0"/>
          </a:p>
        </p:txBody>
      </p:sp>
      <p:sp>
        <p:nvSpPr>
          <p:cNvPr id="6" name="layer 2"/>
          <p:cNvSpPr/>
          <p:nvPr/>
        </p:nvSpPr>
        <p:spPr>
          <a:xfrm>
            <a:off x="1097280" y="2103120"/>
            <a:ext cx="6949440" cy="731520"/>
          </a:xfrm>
          <a:prstGeom prst="roundRect">
            <a:avLst>
              <a:gd name="adj" fmla="val 15000"/>
            </a:avLst>
          </a:prstGeom>
          <a:solidFill>
            <a:schemeClr val="accent4"/>
          </a:solidFill>
          <a:ln w="12700">
            <a:solidFill>
              <a:schemeClr val="accent4"/>
            </a:solidFill>
            <a:prstDash val="solid"/>
          </a:ln>
        </p:spPr>
      </p:sp>
      <p:sp>
        <p:nvSpPr>
          <p:cNvPr id="7" name="Text 4"/>
          <p:cNvSpPr txBox="1"/>
          <p:nvPr/>
        </p:nvSpPr>
        <p:spPr>
          <a:xfrm>
            <a:off x="1280160" y="2103120"/>
            <a:ext cx="6583680" cy="731520"/>
          </a:xfrm>
          <a:prstGeom prst="rect">
            <a:avLst/>
          </a:prstGeom>
          <a:noFill/>
          <a:ln/>
        </p:spPr>
        <p:txBody>
          <a:bodyPr wrap="square" lIns="0" tIns="0" rIns="0" bIns="0" rtlCol="0" anchor="ctr"/>
          <a:lstStyle/>
          <a:p>
            <a:pPr algn="ctr" indent="0" marL="0">
              <a:buNone/>
            </a:pPr>
            <a:r>
              <a:rPr lang="en-US" sz="1600" b="1" dirty="0">
                <a:solidFill>
                  <a:schemeClr val="bg1"/>
                </a:solidFill>
              </a:rPr>
              <a:t>CLAUDE.md: project policy and output rules</a:t>
            </a:r>
            <a:endParaRPr lang="en-US" sz="1600" dirty="0"/>
          </a:p>
        </p:txBody>
      </p:sp>
      <p:sp>
        <p:nvSpPr>
          <p:cNvPr id="8" name="layer 3"/>
          <p:cNvSpPr/>
          <p:nvPr/>
        </p:nvSpPr>
        <p:spPr>
          <a:xfrm>
            <a:off x="1737360" y="2971800"/>
            <a:ext cx="5669280" cy="731520"/>
          </a:xfrm>
          <a:prstGeom prst="roundRect">
            <a:avLst>
              <a:gd name="adj" fmla="val 15000"/>
            </a:avLst>
          </a:prstGeom>
          <a:solidFill>
            <a:schemeClr val="accent5"/>
          </a:solidFill>
          <a:ln w="12700">
            <a:solidFill>
              <a:schemeClr val="accent5"/>
            </a:solidFill>
            <a:prstDash val="solid"/>
          </a:ln>
        </p:spPr>
      </p:sp>
      <p:sp>
        <p:nvSpPr>
          <p:cNvPr id="9" name="Text 6"/>
          <p:cNvSpPr txBox="1"/>
          <p:nvPr/>
        </p:nvSpPr>
        <p:spPr>
          <a:xfrm>
            <a:off x="1920240" y="2971800"/>
            <a:ext cx="5303520" cy="731520"/>
          </a:xfrm>
          <a:prstGeom prst="rect">
            <a:avLst/>
          </a:prstGeom>
          <a:noFill/>
          <a:ln/>
        </p:spPr>
        <p:txBody>
          <a:bodyPr wrap="square" lIns="0" tIns="0" rIns="0" bIns="0" rtlCol="0" anchor="ctr"/>
          <a:lstStyle/>
          <a:p>
            <a:pPr algn="ctr" indent="0" marL="0">
              <a:buNone/>
            </a:pPr>
            <a:r>
              <a:rPr lang="en-US" sz="1600" b="1" dirty="0">
                <a:solidFill>
                  <a:schemeClr val="bg1"/>
                </a:solidFill>
              </a:rPr>
              <a:t>SKILL.md: manual-only, allowed-tools, explicit rules</a:t>
            </a:r>
            <a:endParaRPr lang="en-US" sz="1600" dirty="0"/>
          </a:p>
        </p:txBody>
      </p:sp>
      <p:sp>
        <p:nvSpPr>
          <p:cNvPr id="10" name="layer 4"/>
          <p:cNvSpPr/>
          <p:nvPr/>
        </p:nvSpPr>
        <p:spPr>
          <a:xfrm>
            <a:off x="2377440" y="3840480"/>
            <a:ext cx="4389120" cy="731520"/>
          </a:xfrm>
          <a:prstGeom prst="roundRect">
            <a:avLst>
              <a:gd name="adj" fmla="val 15000"/>
            </a:avLst>
          </a:prstGeom>
          <a:solidFill>
            <a:schemeClr val="accent2"/>
          </a:solidFill>
          <a:ln w="12700">
            <a:solidFill>
              <a:schemeClr val="accent2"/>
            </a:solidFill>
            <a:prstDash val="solid"/>
          </a:ln>
        </p:spPr>
      </p:sp>
      <p:sp>
        <p:nvSpPr>
          <p:cNvPr id="11" name="Text 8"/>
          <p:cNvSpPr txBox="1"/>
          <p:nvPr/>
        </p:nvSpPr>
        <p:spPr>
          <a:xfrm>
            <a:off x="2560320" y="3840480"/>
            <a:ext cx="4023360" cy="731520"/>
          </a:xfrm>
          <a:prstGeom prst="rect">
            <a:avLst/>
          </a:prstGeom>
          <a:noFill/>
          <a:ln/>
        </p:spPr>
        <p:txBody>
          <a:bodyPr wrap="square" lIns="0" tIns="0" rIns="0" bIns="0" rtlCol="0" anchor="ctr"/>
          <a:lstStyle/>
          <a:p>
            <a:pPr algn="ctr" indent="0" marL="0">
              <a:buNone/>
            </a:pPr>
            <a:r>
              <a:rPr lang="en-US" sz="1600" b="1" dirty="0">
                <a:solidFill>
                  <a:schemeClr val="bg1"/>
                </a:solidFill>
              </a:rPr>
              <a:t>Script: read-only calls and secret redaction</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Run /pipeline-triage on the baseline</a:t>
            </a:r>
            <a:endParaRPr lang="en-US" sz="3000" dirty="0"/>
          </a:p>
        </p:txBody>
      </p:sp>
      <p:sp>
        <p:nvSpPr>
          <p:cNvPr id="4" name="code panel"/>
          <p:cNvSpPr/>
          <p:nvPr/>
        </p:nvSpPr>
        <p:spPr>
          <a:xfrm>
            <a:off x="457200" y="1234440"/>
            <a:ext cx="4389120" cy="2103120"/>
          </a:xfrm>
          <a:prstGeom prst="roundRect">
            <a:avLst>
              <a:gd name="adj" fmla="val 3478"/>
            </a:avLst>
          </a:prstGeom>
          <a:solidFill>
            <a:schemeClr val="tx1"/>
          </a:solidFill>
          <a:ln w="12700">
            <a:solidFill>
              <a:schemeClr val="tx1"/>
            </a:solidFill>
            <a:prstDash val="solid"/>
          </a:ln>
        </p:spPr>
      </p:sp>
      <p:sp>
        <p:nvSpPr>
          <p:cNvPr id="5" name="code"/>
          <p:cNvSpPr txBox="1"/>
          <p:nvPr/>
        </p:nvSpPr>
        <p:spPr>
          <a:xfrm>
            <a:off x="621792" y="1344168"/>
            <a:ext cx="4059936" cy="188366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cd ~/ansible-onboarding/theepicbook/\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week-10/assignment-05-pipeline-triage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claude</a:t>
            </a:r>
            <a:endParaRPr lang="en-US" sz="1200" dirty="0"/>
          </a:p>
          <a:p>
            <a:pPr indent="0" marL="0">
              <a:buNone/>
            </a:pP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inside Claude Code: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/pipeline-triage</a:t>
            </a:r>
            <a:endParaRPr lang="en-US" sz="1200" dirty="0"/>
          </a:p>
        </p:txBody>
      </p:sp>
      <p:sp>
        <p:nvSpPr>
          <p:cNvPr id="6" name="Text 3"/>
          <p:cNvSpPr txBox="1"/>
          <p:nvPr/>
        </p:nvSpPr>
        <p:spPr>
          <a:xfrm>
            <a:off x="5120640" y="1234440"/>
            <a:ext cx="3566160" cy="320040"/>
          </a:xfrm>
          <a:prstGeom prst="rect">
            <a:avLst/>
          </a:prstGeom>
          <a:noFill/>
          <a:ln/>
        </p:spPr>
        <p:txBody>
          <a:bodyPr wrap="square" lIns="0" tIns="0" rIns="0" bIns="0" rtlCol="0" anchor="t"/>
          <a:lstStyle/>
          <a:p>
            <a:pPr indent="0" marL="0">
              <a:buNone/>
            </a:pPr>
            <a:r>
              <a:rPr lang="en-US" sz="1600" b="1" dirty="0">
                <a:solidFill>
                  <a:schemeClr val="tx1"/>
                </a:solidFill>
              </a:rPr>
              <a:t>Expected</a:t>
            </a:r>
            <a:endParaRPr lang="en-US" sz="1600" dirty="0"/>
          </a:p>
        </p:txBody>
      </p:sp>
      <p:sp>
        <p:nvSpPr>
          <p:cNvPr id="7" name="Text 4"/>
          <p:cNvSpPr txBox="1"/>
          <p:nvPr/>
        </p:nvSpPr>
        <p:spPr>
          <a:xfrm>
            <a:off x="5120640" y="1600200"/>
            <a:ext cx="3566160" cy="28346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Runs the script with Bash</a:t>
            </a:r>
            <a:endParaRPr lang="en-US" sz="1400" dirty="0"/>
          </a:p>
          <a:p>
            <a:pPr marL="342900" indent="-342900">
              <a:spcAft>
                <a:spcPts val="400"/>
              </a:spcAft>
              <a:buSzPct val="100000"/>
              <a:buChar char="•"/>
            </a:pPr>
            <a:r>
              <a:rPr lang="en-US" sz="1400" dirty="0">
                <a:solidFill>
                  <a:schemeClr val="tx1"/>
                </a:solidFill>
              </a:rPr>
              <a:t>Reads the report and logs</a:t>
            </a:r>
            <a:endParaRPr lang="en-US" sz="1400" dirty="0"/>
          </a:p>
          <a:p>
            <a:pPr marL="342900" indent="-342900">
              <a:spcAft>
                <a:spcPts val="400"/>
              </a:spcAft>
              <a:buSzPct val="100000"/>
              <a:buChar char="•"/>
            </a:pPr>
            <a:r>
              <a:rPr lang="en-US" sz="1400" dirty="0">
                <a:solidFill>
                  <a:schemeClr val="tx1"/>
                </a:solidFill>
              </a:rPr>
              <a:t>Both pipelines HEALTHY</a:t>
            </a:r>
            <a:endParaRPr lang="en-US" sz="1400" dirty="0"/>
          </a:p>
          <a:p>
            <a:pPr marL="342900" indent="-342900">
              <a:spcAft>
                <a:spcPts val="400"/>
              </a:spcAft>
              <a:buSzPct val="100000"/>
              <a:buChar char="•"/>
            </a:pPr>
            <a:r>
              <a:rPr lang="en-US" sz="1400" dirty="0">
                <a:solidFill>
                  <a:schemeClr val="tx1"/>
                </a:solidFill>
              </a:rPr>
              <a:t>States no fix is required</a:t>
            </a:r>
            <a:endParaRPr lang="en-US" sz="1400" dirty="0"/>
          </a:p>
          <a:p>
            <a:pPr marL="342900" indent="-342900">
              <a:spcAft>
                <a:spcPts val="400"/>
              </a:spcAft>
              <a:buSzPct val="100000"/>
              <a:buChar char="•"/>
            </a:pPr>
            <a:r>
              <a:rPr lang="en-US" sz="1400" dirty="0">
                <a:solidFill>
                  <a:schemeClr val="tx1"/>
                </a:solidFill>
              </a:rPr>
              <a:t>Follows the 9-point structure (N/A where no failure)</a:t>
            </a:r>
            <a:endParaRPr lang="en-US" sz="1400" dirty="0"/>
          </a:p>
          <a:p>
            <a:pPr marL="342900" indent="-342900">
              <a:spcAft>
                <a:spcPts val="400"/>
              </a:spcAft>
              <a:buSzPct val="100000"/>
              <a:buChar char="•"/>
            </a:pPr>
            <a:r>
              <a:rPr lang="en-US" sz="1400" dirty="0">
                <a:solidFill>
                  <a:schemeClr val="tx1"/>
                </a:solidFill>
              </a:rPr>
              <a:t>No file edited, no git, no pipeline action</a:t>
            </a:r>
            <a:endParaRPr lang="en-US" sz="1400" dirty="0"/>
          </a:p>
        </p:txBody>
      </p:sp>
      <p:sp>
        <p:nvSpPr>
          <p:cNvPr id="8" name="Text 5"/>
          <p:cNvSpPr txBox="1"/>
          <p:nvPr/>
        </p:nvSpPr>
        <p:spPr>
          <a:xfrm>
            <a:off x="457200" y="3520440"/>
            <a:ext cx="4389120" cy="822960"/>
          </a:xfrm>
          <a:prstGeom prst="rect">
            <a:avLst/>
          </a:prstGeom>
          <a:noFill/>
          <a:ln/>
        </p:spPr>
        <p:txBody>
          <a:bodyPr wrap="square" lIns="0" tIns="0" rIns="0" bIns="0" rtlCol="0" anchor="t"/>
          <a:lstStyle/>
          <a:p>
            <a:pPr indent="0" marL="0">
              <a:buNone/>
            </a:pPr>
            <a:r>
              <a:rPr lang="en-US" sz="1400" b="1" dirty="0">
                <a:solidFill>
                  <a:schemeClr val="accent3"/>
                </a:solidFill>
              </a:rPr>
              <a:t>Not appearing? Check the path, the capital letters in SKILL.md, and that --- is on line 1.</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title" hasCustomPrompt="1"/>
          </p:nvPr>
        </p:nvSpPr>
        <p:spPr>
          <a:xfrm>
            <a:off x="640080" y="1783080"/>
            <a:ext cx="5669280" cy="1097280"/>
          </a:xfrm>
          <a:prstGeom prst="rect">
            <a:avLst/>
          </a:prstGeom>
          <a:noFill/>
          <a:ln/>
        </p:spPr>
        <p:txBody>
          <a:bodyPr wrap="square" lIns="0" tIns="0" rIns="0" bIns="0" rtlCol="0" anchor="t"/>
          <a:lstStyle/>
          <a:p>
            <a:pPr algn="l" indent="0" marL="0">
              <a:buNone/>
            </a:pPr>
            <a:r>
              <a:rPr lang="en-US" sz="3800" b="1" dirty="0">
                <a:solidFill>
                  <a:schemeClr val="bg1"/>
                </a:solidFill>
              </a:rPr>
              <a:t>The Failure Drill</a:t>
            </a:r>
            <a:endParaRPr lang="en-US" sz="3800" dirty="0"/>
          </a:p>
        </p:txBody>
      </p:sp>
      <p:sp>
        <p:nvSpPr>
          <p:cNvPr id="3" name="Text 1"/>
          <p:cNvSpPr/>
          <p:nvPr>
            <p:ph idx="102" type="body" hasCustomPrompt="1"/>
          </p:nvPr>
        </p:nvSpPr>
        <p:spPr>
          <a:xfrm>
            <a:off x="640080" y="2971800"/>
            <a:ext cx="5669280" cy="1005840"/>
          </a:xfrm>
          <a:prstGeom prst="rect">
            <a:avLst/>
          </a:prstGeom>
          <a:noFill/>
          <a:ln/>
        </p:spPr>
        <p:txBody>
          <a:bodyPr wrap="square" lIns="0" tIns="0" rIns="0" bIns="0" rtlCol="0" anchor="t"/>
          <a:lstStyle/>
          <a:p>
            <a:pPr algn="l" indent="0" marL="0">
              <a:buNone/>
            </a:pPr>
            <a:r>
              <a:rPr lang="en-US" sz="1800" dirty="0">
                <a:solidFill>
                  <a:schemeClr val="bg1"/>
                </a:solidFill>
              </a:rPr>
              <a:t>Break the application pipeline on purpose, triage it, fix it as a human, and prove recovery.</a:t>
            </a:r>
            <a:endParaRPr lang="en-US" sz="1800" dirty="0"/>
          </a:p>
        </p:txBody>
      </p:sp>
      <p:sp>
        <p:nvSpPr>
          <p:cNvPr id="4" name="Text 2"/>
          <p:cNvSpPr txBox="1"/>
          <p:nvPr/>
        </p:nvSpPr>
        <p:spPr>
          <a:xfrm>
            <a:off x="640080" y="1325880"/>
            <a:ext cx="5486400" cy="320040"/>
          </a:xfrm>
          <a:prstGeom prst="rect">
            <a:avLst/>
          </a:prstGeom>
          <a:noFill/>
          <a:ln/>
        </p:spPr>
        <p:txBody>
          <a:bodyPr wrap="square" lIns="0" tIns="0" rIns="0" bIns="0" rtlCol="0" anchor="ctr"/>
          <a:lstStyle/>
          <a:p>
            <a:pPr indent="0" marL="0">
              <a:buNone/>
            </a:pPr>
            <a:r>
              <a:rPr lang="en-US" sz="1400" b="1" spc="300" kern="0" dirty="0">
                <a:solidFill>
                  <a:schemeClr val="bg1"/>
                </a:solidFill>
              </a:rPr>
              <a:t>PART 6 · TASKS 6-8</a:t>
            </a:r>
            <a:endParaRPr lang="en-US" sz="1400" dirty="0"/>
          </a:p>
        </p:txBody>
      </p:sp>
      <p:sp>
        <p:nvSpPr>
          <p:cNvPr id="5" name="Shape 3"/>
          <p:cNvSpPr/>
          <p:nvPr/>
        </p:nvSpPr>
        <p:spPr>
          <a:xfrm>
            <a:off x="6675120" y="1554480"/>
            <a:ext cx="1920240" cy="1920240"/>
          </a:xfrm>
          <a:prstGeom prst="ellipse">
            <a:avLst/>
          </a:prstGeom>
          <a:solidFill>
            <a:schemeClr val="tx1"/>
          </a:solidFill>
          <a:ln w="12700">
            <a:solidFill>
              <a:schemeClr val="tx1"/>
            </a:solidFill>
            <a:prstDash val="solid"/>
          </a:ln>
        </p:spPr>
      </p:sp>
      <p:pic>
        <p:nvPicPr>
          <p:cNvPr id="6" name="Image 0" descr="FaFire">    </p:cNvPr>
          <p:cNvPicPr>
            <a:picLocks noChangeAspect="1"/>
          </p:cNvPicPr>
          <p:nvPr/>
        </p:nvPicPr>
        <p:blipFill>
          <a:blip r:embed="rId1"/>
          <a:stretch>
            <a:fillRect/>
          </a:stretch>
        </p:blipFill>
        <p:spPr>
          <a:xfrm>
            <a:off x="7132320" y="2011680"/>
            <a:ext cx="1005840" cy="100584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Why run a fire drill?</a:t>
            </a:r>
            <a:endParaRPr lang="en-US" sz="3000" dirty="0"/>
          </a:p>
        </p:txBody>
      </p:sp>
      <p:sp>
        <p:nvSpPr>
          <p:cNvPr id="4" name="card"/>
          <p:cNvSpPr/>
          <p:nvPr/>
        </p:nvSpPr>
        <p:spPr>
          <a:xfrm>
            <a:off x="457200" y="1280160"/>
            <a:ext cx="3977640" cy="1325880"/>
          </a:xfrm>
          <a:prstGeom prst="roundRect">
            <a:avLst>
              <a:gd name="adj" fmla="val 6897"/>
            </a:avLst>
          </a:prstGeom>
          <a:solidFill>
            <a:schemeClr val="bg2"/>
          </a:solidFill>
          <a:ln w="12700">
            <a:solidFill>
              <a:schemeClr val="bg2"/>
            </a:solidFill>
            <a:prstDash val="solid"/>
          </a:ln>
        </p:spPr>
      </p:sp>
      <p:sp>
        <p:nvSpPr>
          <p:cNvPr id="5" name="icon circle"/>
          <p:cNvSpPr/>
          <p:nvPr/>
        </p:nvSpPr>
        <p:spPr>
          <a:xfrm>
            <a:off x="640080" y="1668780"/>
            <a:ext cx="548640" cy="548640"/>
          </a:xfrm>
          <a:prstGeom prst="ellipse">
            <a:avLst/>
          </a:prstGeom>
          <a:solidFill>
            <a:schemeClr val="accent6"/>
          </a:solidFill>
          <a:ln w="12700">
            <a:solidFill>
              <a:schemeClr val="accent6"/>
            </a:solidFill>
            <a:prstDash val="solid"/>
          </a:ln>
        </p:spPr>
      </p:sp>
      <p:pic>
        <p:nvPicPr>
          <p:cNvPr id="6" name="icon FaShieldAlt" descr="FaShieldAlt">    </p:cNvPr>
          <p:cNvPicPr>
            <a:picLocks noChangeAspect="1"/>
          </p:cNvPicPr>
          <p:nvPr/>
        </p:nvPicPr>
        <p:blipFill>
          <a:blip r:embed="rId1"/>
          <a:stretch>
            <a:fillRect/>
          </a:stretch>
        </p:blipFill>
        <p:spPr>
          <a:xfrm>
            <a:off x="771754" y="1800454"/>
            <a:ext cx="285293" cy="285293"/>
          </a:xfrm>
          <a:prstGeom prst="rect">
            <a:avLst/>
          </a:prstGeom>
        </p:spPr>
      </p:pic>
      <p:sp>
        <p:nvSpPr>
          <p:cNvPr id="7" name="Text 3"/>
          <p:cNvSpPr txBox="1"/>
          <p:nvPr/>
        </p:nvSpPr>
        <p:spPr>
          <a:xfrm>
            <a:off x="1353312" y="1353312"/>
            <a:ext cx="2898648" cy="1179576"/>
          </a:xfrm>
          <a:prstGeom prst="rect">
            <a:avLst/>
          </a:prstGeom>
          <a:noFill/>
          <a:ln/>
        </p:spPr>
        <p:txBody>
          <a:bodyPr wrap="square" lIns="0" tIns="0" rIns="0" bIns="0" rtlCol="0" anchor="ctr"/>
          <a:lstStyle/>
          <a:p>
            <a:pPr indent="0" marL="0">
              <a:buNone/>
            </a:pPr>
            <a:r>
              <a:rPr lang="en-US" sz="1600" b="1" dirty="0">
                <a:solidFill>
                  <a:schemeClr val="tx1"/>
                </a:solidFill>
              </a:rPr>
              <a:t>Safe</a:t>
            </a:r>
            <a:endParaRPr lang="en-US" sz="1600" dirty="0"/>
          </a:p>
          <a:p>
            <a:pPr indent="0" marL="0">
              <a:buNone/>
            </a:pPr>
            <a:r>
              <a:rPr lang="en-US" sz="1400" dirty="0">
                <a:solidFill>
                  <a:schemeClr val="tx1"/>
                </a:solidFill>
              </a:rPr>
              <a:t>Happens before deployment, no cloud resources or credentials touched</a:t>
            </a:r>
            <a:endParaRPr lang="en-US" sz="1600" dirty="0"/>
          </a:p>
        </p:txBody>
      </p:sp>
      <p:sp>
        <p:nvSpPr>
          <p:cNvPr id="8" name="card"/>
          <p:cNvSpPr/>
          <p:nvPr/>
        </p:nvSpPr>
        <p:spPr>
          <a:xfrm>
            <a:off x="4709160" y="1280160"/>
            <a:ext cx="3977640" cy="1325880"/>
          </a:xfrm>
          <a:prstGeom prst="roundRect">
            <a:avLst>
              <a:gd name="adj" fmla="val 6897"/>
            </a:avLst>
          </a:prstGeom>
          <a:solidFill>
            <a:schemeClr val="bg2"/>
          </a:solidFill>
          <a:ln w="12700">
            <a:solidFill>
              <a:schemeClr val="bg2"/>
            </a:solidFill>
            <a:prstDash val="solid"/>
          </a:ln>
        </p:spPr>
      </p:sp>
      <p:sp>
        <p:nvSpPr>
          <p:cNvPr id="9" name="icon circle"/>
          <p:cNvSpPr/>
          <p:nvPr/>
        </p:nvSpPr>
        <p:spPr>
          <a:xfrm>
            <a:off x="4892040" y="1668780"/>
            <a:ext cx="548640" cy="548640"/>
          </a:xfrm>
          <a:prstGeom prst="ellipse">
            <a:avLst/>
          </a:prstGeom>
          <a:solidFill>
            <a:schemeClr val="accent4"/>
          </a:solidFill>
          <a:ln w="12700">
            <a:solidFill>
              <a:schemeClr val="accent4"/>
            </a:solidFill>
            <a:prstDash val="solid"/>
          </a:ln>
        </p:spPr>
      </p:sp>
      <p:pic>
        <p:nvPicPr>
          <p:cNvPr id="10" name="icon FaUndo" descr="FaUndo">    </p:cNvPr>
          <p:cNvPicPr>
            <a:picLocks noChangeAspect="1"/>
          </p:cNvPicPr>
          <p:nvPr/>
        </p:nvPicPr>
        <p:blipFill>
          <a:blip r:embed="rId2"/>
          <a:stretch>
            <a:fillRect/>
          </a:stretch>
        </p:blipFill>
        <p:spPr>
          <a:xfrm>
            <a:off x="5023714" y="1800454"/>
            <a:ext cx="285293" cy="285293"/>
          </a:xfrm>
          <a:prstGeom prst="rect">
            <a:avLst/>
          </a:prstGeom>
        </p:spPr>
      </p:pic>
      <p:sp>
        <p:nvSpPr>
          <p:cNvPr id="11" name="Text 6"/>
          <p:cNvSpPr txBox="1"/>
          <p:nvPr/>
        </p:nvSpPr>
        <p:spPr>
          <a:xfrm>
            <a:off x="5605272" y="1353312"/>
            <a:ext cx="2898648" cy="1179576"/>
          </a:xfrm>
          <a:prstGeom prst="rect">
            <a:avLst/>
          </a:prstGeom>
          <a:noFill/>
          <a:ln/>
        </p:spPr>
        <p:txBody>
          <a:bodyPr wrap="square" lIns="0" tIns="0" rIns="0" bIns="0" rtlCol="0" anchor="ctr"/>
          <a:lstStyle/>
          <a:p>
            <a:pPr indent="0" marL="0">
              <a:buNone/>
            </a:pPr>
            <a:r>
              <a:rPr lang="en-US" sz="1600" b="1" dirty="0">
                <a:solidFill>
                  <a:schemeClr val="tx1"/>
                </a:solidFill>
              </a:rPr>
              <a:t>Reversible</a:t>
            </a:r>
            <a:endParaRPr lang="en-US" sz="1600" dirty="0"/>
          </a:p>
          <a:p>
            <a:pPr indent="0" marL="0">
              <a:buNone/>
            </a:pPr>
            <a:r>
              <a:rPr lang="en-US" sz="1400" dirty="0">
                <a:solidFill>
                  <a:schemeClr val="tx1"/>
                </a:solidFill>
              </a:rPr>
              <a:t>One commit that git revert can cleanly undo</a:t>
            </a:r>
            <a:endParaRPr lang="en-US" sz="1600" dirty="0"/>
          </a:p>
        </p:txBody>
      </p:sp>
      <p:sp>
        <p:nvSpPr>
          <p:cNvPr id="12" name="card"/>
          <p:cNvSpPr/>
          <p:nvPr/>
        </p:nvSpPr>
        <p:spPr>
          <a:xfrm>
            <a:off x="457200" y="2743200"/>
            <a:ext cx="3977640" cy="1325880"/>
          </a:xfrm>
          <a:prstGeom prst="roundRect">
            <a:avLst>
              <a:gd name="adj" fmla="val 6897"/>
            </a:avLst>
          </a:prstGeom>
          <a:solidFill>
            <a:schemeClr val="bg2"/>
          </a:solidFill>
          <a:ln w="12700">
            <a:solidFill>
              <a:schemeClr val="bg2"/>
            </a:solidFill>
            <a:prstDash val="solid"/>
          </a:ln>
        </p:spPr>
      </p:sp>
      <p:sp>
        <p:nvSpPr>
          <p:cNvPr id="13" name="icon circle"/>
          <p:cNvSpPr/>
          <p:nvPr/>
        </p:nvSpPr>
        <p:spPr>
          <a:xfrm>
            <a:off x="640080" y="3131820"/>
            <a:ext cx="548640" cy="548640"/>
          </a:xfrm>
          <a:prstGeom prst="ellipse">
            <a:avLst/>
          </a:prstGeom>
          <a:solidFill>
            <a:schemeClr val="accent5"/>
          </a:solidFill>
          <a:ln w="12700">
            <a:solidFill>
              <a:schemeClr val="accent5"/>
            </a:solidFill>
            <a:prstDash val="solid"/>
          </a:ln>
        </p:spPr>
      </p:sp>
      <p:pic>
        <p:nvPicPr>
          <p:cNvPr id="14" name="icon FaCodeBranch" descr="FaCodeBranch">    </p:cNvPr>
          <p:cNvPicPr>
            <a:picLocks noChangeAspect="1"/>
          </p:cNvPicPr>
          <p:nvPr/>
        </p:nvPicPr>
        <p:blipFill>
          <a:blip r:embed="rId3"/>
          <a:stretch>
            <a:fillRect/>
          </a:stretch>
        </p:blipFill>
        <p:spPr>
          <a:xfrm>
            <a:off x="771754" y="3263494"/>
            <a:ext cx="285293" cy="285293"/>
          </a:xfrm>
          <a:prstGeom prst="rect">
            <a:avLst/>
          </a:prstGeom>
        </p:spPr>
      </p:pic>
      <p:sp>
        <p:nvSpPr>
          <p:cNvPr id="15" name="Text 9"/>
          <p:cNvSpPr txBox="1"/>
          <p:nvPr/>
        </p:nvSpPr>
        <p:spPr>
          <a:xfrm>
            <a:off x="1353312" y="2816352"/>
            <a:ext cx="2898648" cy="1179576"/>
          </a:xfrm>
          <a:prstGeom prst="rect">
            <a:avLst/>
          </a:prstGeom>
          <a:noFill/>
          <a:ln/>
        </p:spPr>
        <p:txBody>
          <a:bodyPr wrap="square" lIns="0" tIns="0" rIns="0" bIns="0" rtlCol="0" anchor="ctr"/>
          <a:lstStyle/>
          <a:p>
            <a:pPr indent="0" marL="0">
              <a:buNone/>
            </a:pPr>
            <a:r>
              <a:rPr lang="en-US" sz="1600" b="1" dirty="0">
                <a:solidFill>
                  <a:schemeClr val="tx1"/>
                </a:solidFill>
              </a:rPr>
              <a:t>Isolated</a:t>
            </a:r>
            <a:endParaRPr lang="en-US" sz="1600" dirty="0"/>
          </a:p>
          <a:p>
            <a:pPr indent="0" marL="0">
              <a:buNone/>
            </a:pPr>
            <a:r>
              <a:rPr lang="en-US" sz="1400" dirty="0">
                <a:solidFill>
                  <a:schemeClr val="tx1"/>
                </a:solidFill>
              </a:rPr>
              <a:t>Lives on a drill branch; main is never touched</a:t>
            </a:r>
            <a:endParaRPr lang="en-US" sz="1600" dirty="0"/>
          </a:p>
        </p:txBody>
      </p:sp>
      <p:sp>
        <p:nvSpPr>
          <p:cNvPr id="16" name="card"/>
          <p:cNvSpPr/>
          <p:nvPr/>
        </p:nvSpPr>
        <p:spPr>
          <a:xfrm>
            <a:off x="4709160" y="2743200"/>
            <a:ext cx="3977640" cy="1325880"/>
          </a:xfrm>
          <a:prstGeom prst="roundRect">
            <a:avLst>
              <a:gd name="adj" fmla="val 6897"/>
            </a:avLst>
          </a:prstGeom>
          <a:solidFill>
            <a:schemeClr val="bg2"/>
          </a:solidFill>
          <a:ln w="12700">
            <a:solidFill>
              <a:schemeClr val="bg2"/>
            </a:solidFill>
            <a:prstDash val="solid"/>
          </a:ln>
        </p:spPr>
      </p:sp>
      <p:sp>
        <p:nvSpPr>
          <p:cNvPr id="17" name="icon circle"/>
          <p:cNvSpPr/>
          <p:nvPr/>
        </p:nvSpPr>
        <p:spPr>
          <a:xfrm>
            <a:off x="4892040" y="3131820"/>
            <a:ext cx="548640" cy="548640"/>
          </a:xfrm>
          <a:prstGeom prst="ellipse">
            <a:avLst/>
          </a:prstGeom>
          <a:solidFill>
            <a:schemeClr val="accent1"/>
          </a:solidFill>
          <a:ln w="12700">
            <a:solidFill>
              <a:schemeClr val="accent1"/>
            </a:solidFill>
            <a:prstDash val="solid"/>
          </a:ln>
        </p:spPr>
      </p:sp>
      <p:pic>
        <p:nvPicPr>
          <p:cNvPr id="18" name="icon FaBullseye" descr="FaBullseye">    </p:cNvPr>
          <p:cNvPicPr>
            <a:picLocks noChangeAspect="1"/>
          </p:cNvPicPr>
          <p:nvPr/>
        </p:nvPicPr>
        <p:blipFill>
          <a:blip r:embed="rId4"/>
          <a:stretch>
            <a:fillRect/>
          </a:stretch>
        </p:blipFill>
        <p:spPr>
          <a:xfrm>
            <a:off x="5023714" y="3263494"/>
            <a:ext cx="285293" cy="285293"/>
          </a:xfrm>
          <a:prstGeom prst="rect">
            <a:avLst/>
          </a:prstGeom>
        </p:spPr>
      </p:pic>
      <p:sp>
        <p:nvSpPr>
          <p:cNvPr id="19" name="Text 12"/>
          <p:cNvSpPr txBox="1"/>
          <p:nvPr/>
        </p:nvSpPr>
        <p:spPr>
          <a:xfrm>
            <a:off x="5605272" y="2816352"/>
            <a:ext cx="2898648" cy="1179576"/>
          </a:xfrm>
          <a:prstGeom prst="rect">
            <a:avLst/>
          </a:prstGeom>
          <a:noFill/>
          <a:ln/>
        </p:spPr>
        <p:txBody>
          <a:bodyPr wrap="square" lIns="0" tIns="0" rIns="0" bIns="0" rtlCol="0" anchor="ctr"/>
          <a:lstStyle/>
          <a:p>
            <a:pPr indent="0" marL="0">
              <a:buNone/>
            </a:pPr>
            <a:r>
              <a:rPr lang="en-US" sz="1600" b="1" dirty="0">
                <a:solidFill>
                  <a:schemeClr val="tx1"/>
                </a:solidFill>
              </a:rPr>
              <a:t>Predictable</a:t>
            </a:r>
            <a:endParaRPr lang="en-US" sz="1600" dirty="0"/>
          </a:p>
          <a:p>
            <a:pPr indent="0" marL="0">
              <a:buNone/>
            </a:pPr>
            <a:r>
              <a:rPr lang="en-US" sz="1400" dirty="0">
                <a:solidFill>
                  <a:schemeClr val="tx1"/>
                </a:solidFill>
              </a:rPr>
              <a:t>A known error that maps to a known category</a:t>
            </a:r>
            <a:endParaRPr lang="en-US" sz="1600" dirty="0"/>
          </a:p>
        </p:txBody>
      </p:sp>
      <p:sp>
        <p:nvSpPr>
          <p:cNvPr id="20" name="callout"/>
          <p:cNvSpPr/>
          <p:nvPr/>
        </p:nvSpPr>
        <p:spPr>
          <a:xfrm>
            <a:off x="457200" y="4206240"/>
            <a:ext cx="8229600" cy="548640"/>
          </a:xfrm>
          <a:prstGeom prst="roundRect">
            <a:avLst>
              <a:gd name="adj" fmla="val 16667"/>
            </a:avLst>
          </a:prstGeom>
          <a:solidFill>
            <a:schemeClr val="accent2"/>
          </a:solidFill>
          <a:ln w="12700">
            <a:solidFill>
              <a:schemeClr val="accent2"/>
            </a:solidFill>
            <a:prstDash val="solid"/>
          </a:ln>
        </p:spPr>
      </p:sp>
      <p:sp>
        <p:nvSpPr>
          <p:cNvPr id="21" name="Text 14"/>
          <p:cNvSpPr txBox="1"/>
          <p:nvPr/>
        </p:nvSpPr>
        <p:spPr>
          <a:xfrm>
            <a:off x="685800" y="420624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We chose a bad dependency name in package.json for the Application pipeline.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6: inject the safe failure</a:t>
            </a:r>
            <a:endParaRPr lang="en-US" sz="3000" dirty="0"/>
          </a:p>
        </p:txBody>
      </p:sp>
      <p:sp>
        <p:nvSpPr>
          <p:cNvPr id="4" name="code panel"/>
          <p:cNvSpPr/>
          <p:nvPr/>
        </p:nvSpPr>
        <p:spPr>
          <a:xfrm>
            <a:off x="457200" y="1234440"/>
            <a:ext cx="5212080" cy="2468880"/>
          </a:xfrm>
          <a:prstGeom prst="roundRect">
            <a:avLst>
              <a:gd name="adj" fmla="val 2963"/>
            </a:avLst>
          </a:prstGeom>
          <a:solidFill>
            <a:schemeClr val="tx1"/>
          </a:solidFill>
          <a:ln w="12700">
            <a:solidFill>
              <a:schemeClr val="tx1"/>
            </a:solidFill>
            <a:prstDash val="solid"/>
          </a:ln>
        </p:spPr>
      </p:sp>
      <p:sp>
        <p:nvSpPr>
          <p:cNvPr id="5" name="code"/>
          <p:cNvSpPr txBox="1"/>
          <p:nvPr/>
        </p:nvSpPr>
        <p:spPr>
          <a:xfrm>
            <a:off x="621792" y="1344168"/>
            <a:ext cx="4882896" cy="22494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cd ~/ansible-onboarding/theepicbook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status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checkout -b drill/pipeline-failure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nano package.json            # add the line below</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diff -- package.json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add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commit -m "drill: invalid dependency"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push -u origin drill/pipeline-failure</a:t>
            </a:r>
            <a:endParaRPr lang="en-US" sz="1200" dirty="0"/>
          </a:p>
        </p:txBody>
      </p:sp>
      <p:sp>
        <p:nvSpPr>
          <p:cNvPr id="6" name="Text 3"/>
          <p:cNvSpPr txBox="1"/>
          <p:nvPr/>
        </p:nvSpPr>
        <p:spPr>
          <a:xfrm>
            <a:off x="5943600" y="1234440"/>
            <a:ext cx="2743200" cy="274320"/>
          </a:xfrm>
          <a:prstGeom prst="rect">
            <a:avLst/>
          </a:prstGeom>
          <a:noFill/>
          <a:ln/>
        </p:spPr>
        <p:txBody>
          <a:bodyPr wrap="square" lIns="0" tIns="0" rIns="0" bIns="0" rtlCol="0" anchor="t"/>
          <a:lstStyle/>
          <a:p>
            <a:pPr indent="0" marL="0">
              <a:buNone/>
            </a:pPr>
            <a:r>
              <a:rPr lang="en-US" sz="1400" b="1" dirty="0">
                <a:solidFill>
                  <a:schemeClr val="tx1"/>
                </a:solidFill>
              </a:rPr>
              <a:t>Add inside "dependencies":</a:t>
            </a:r>
            <a:endParaRPr lang="en-US" sz="1400" dirty="0"/>
          </a:p>
        </p:txBody>
      </p:sp>
      <p:sp>
        <p:nvSpPr>
          <p:cNvPr id="7" name="code panel"/>
          <p:cNvSpPr/>
          <p:nvPr/>
        </p:nvSpPr>
        <p:spPr>
          <a:xfrm>
            <a:off x="5943600" y="1600200"/>
            <a:ext cx="2743200" cy="822960"/>
          </a:xfrm>
          <a:prstGeom prst="roundRect">
            <a:avLst>
              <a:gd name="adj" fmla="val 8889"/>
            </a:avLst>
          </a:prstGeom>
          <a:solidFill>
            <a:schemeClr val="tx1"/>
          </a:solidFill>
          <a:ln w="12700">
            <a:solidFill>
              <a:schemeClr val="tx1"/>
            </a:solidFill>
            <a:prstDash val="solid"/>
          </a:ln>
        </p:spPr>
      </p:sp>
      <p:sp>
        <p:nvSpPr>
          <p:cNvPr id="8" name="code"/>
          <p:cNvSpPr txBox="1"/>
          <p:nvPr/>
        </p:nvSpPr>
        <p:spPr>
          <a:xfrm>
            <a:off x="6108192" y="1709928"/>
            <a:ext cx="2414016" cy="60350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 "not-a-real-package-xyz":</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"1.0.0"</a:t>
            </a:r>
            <a:endParaRPr lang="en-US" sz="1100" dirty="0"/>
          </a:p>
        </p:txBody>
      </p:sp>
      <p:sp>
        <p:nvSpPr>
          <p:cNvPr id="9" name="Text 6"/>
          <p:cNvSpPr txBox="1"/>
          <p:nvPr/>
        </p:nvSpPr>
        <p:spPr>
          <a:xfrm>
            <a:off x="5943600" y="2606040"/>
            <a:ext cx="2743200" cy="1280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Do not change existing dependencies</a:t>
            </a:r>
            <a:endParaRPr lang="en-US" sz="1400" dirty="0"/>
          </a:p>
          <a:p>
            <a:pPr marL="342900" indent="-342900">
              <a:spcAft>
                <a:spcPts val="500"/>
              </a:spcAft>
              <a:buSzPct val="100000"/>
              <a:buChar char="•"/>
            </a:pPr>
            <a:r>
              <a:rPr lang="en-US" sz="1400" dirty="0">
                <a:solidFill>
                  <a:schemeClr val="tx1"/>
                </a:solidFill>
              </a:rPr>
              <a:t>The diff must show only this addition</a:t>
            </a:r>
            <a:endParaRPr lang="en-US" sz="1400" dirty="0"/>
          </a:p>
          <a:p>
            <a:pPr marL="342900" indent="-342900">
              <a:spcAft>
                <a:spcPts val="500"/>
              </a:spcAft>
              <a:buSzPct val="100000"/>
              <a:buChar char="•"/>
            </a:pPr>
            <a:r>
              <a:rPr lang="en-US" sz="1400" dirty="0">
                <a:solidFill>
                  <a:schemeClr val="tx1"/>
                </a:solidFill>
              </a:rPr>
              <a:t>Never merge the drill branch</a:t>
            </a:r>
            <a:endParaRPr lang="en-US" sz="1400" dirty="0"/>
          </a:p>
        </p:txBody>
      </p:sp>
      <p:sp>
        <p:nvSpPr>
          <p:cNvPr id="10" name="callout"/>
          <p:cNvSpPr/>
          <p:nvPr/>
        </p:nvSpPr>
        <p:spPr>
          <a:xfrm>
            <a:off x="457200" y="3977640"/>
            <a:ext cx="8229600" cy="548640"/>
          </a:xfrm>
          <a:prstGeom prst="roundRect">
            <a:avLst>
              <a:gd name="adj" fmla="val 16667"/>
            </a:avLst>
          </a:prstGeom>
          <a:solidFill>
            <a:schemeClr val="accent3"/>
          </a:solidFill>
          <a:ln w="12700">
            <a:solidFill>
              <a:schemeClr val="accent3"/>
            </a:solidFill>
            <a:prstDash val="solid"/>
          </a:ln>
        </p:spPr>
      </p:sp>
      <p:sp>
        <p:nvSpPr>
          <p:cNvPr id="11" name="Text 8"/>
          <p:cNvSpPr txBox="1"/>
          <p:nvPr/>
        </p:nvSpPr>
        <p:spPr>
          <a:xfrm>
            <a:off x="685800" y="397764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Work in the application repo, on a branch. Main stays untouched.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Why this fails: where it breaks in the pipeline</a:t>
            </a:r>
            <a:endParaRPr lang="en-US" sz="3000" dirty="0"/>
          </a:p>
        </p:txBody>
      </p:sp>
      <p:sp>
        <p:nvSpPr>
          <p:cNvPr id="4" name="step 1"/>
          <p:cNvSpPr/>
          <p:nvPr/>
        </p:nvSpPr>
        <p:spPr>
          <a:xfrm>
            <a:off x="457200" y="1371600"/>
            <a:ext cx="1783080" cy="1554480"/>
          </a:xfrm>
          <a:prstGeom prst="roundRect">
            <a:avLst>
              <a:gd name="adj" fmla="val 5882"/>
            </a:avLst>
          </a:prstGeom>
          <a:solidFill>
            <a:schemeClr val="accent6"/>
          </a:solidFill>
          <a:ln w="12700">
            <a:solidFill>
              <a:schemeClr val="accent6"/>
            </a:solidFill>
            <a:prstDash val="solid"/>
          </a:ln>
        </p:spPr>
      </p:sp>
      <p:sp>
        <p:nvSpPr>
          <p:cNvPr id="5" name="Text 2"/>
          <p:cNvSpPr txBox="1"/>
          <p:nvPr/>
        </p:nvSpPr>
        <p:spPr>
          <a:xfrm>
            <a:off x="594360" y="1508760"/>
            <a:ext cx="1508760" cy="1325880"/>
          </a:xfrm>
          <a:prstGeom prst="rect">
            <a:avLst/>
          </a:prstGeom>
          <a:noFill/>
          <a:ln/>
        </p:spPr>
        <p:txBody>
          <a:bodyPr wrap="square" lIns="0" tIns="0" rIns="0" bIns="0" rtlCol="0" anchor="t"/>
          <a:lstStyle/>
          <a:p>
            <a:pPr indent="0" marL="0">
              <a:buNone/>
            </a:pPr>
            <a:r>
              <a:rPr lang="en-US" sz="1500" b="1" dirty="0">
                <a:solidFill>
                  <a:schemeClr val="bg1"/>
                </a:solidFill>
              </a:rPr>
              <a:t>Checkout</a:t>
            </a:r>
            <a:endParaRPr lang="en-US" sz="1500" dirty="0"/>
          </a:p>
          <a:p>
            <a:pPr indent="0" marL="0">
              <a:buNone/>
            </a:pPr>
            <a:r>
              <a:rPr lang="en-US" sz="1300" dirty="0">
                <a:solidFill>
                  <a:schemeClr val="bg1"/>
                </a:solidFill>
              </a:rPr>
              <a:t>succeeds</a:t>
            </a:r>
            <a:endParaRPr lang="en-US" sz="1500" dirty="0"/>
          </a:p>
        </p:txBody>
      </p:sp>
      <p:sp>
        <p:nvSpPr>
          <p:cNvPr id="6" name="arrow"/>
          <p:cNvSpPr/>
          <p:nvPr/>
        </p:nvSpPr>
        <p:spPr>
          <a:xfrm>
            <a:off x="2286000" y="2148840"/>
            <a:ext cx="274320" cy="0"/>
          </a:xfrm>
          <a:prstGeom prst="line">
            <a:avLst/>
          </a:prstGeom>
          <a:noFill/>
          <a:ln w="28575">
            <a:solidFill>
              <a:schemeClr val="tx2"/>
            </a:solidFill>
            <a:prstDash val="solid"/>
            <a:tailEnd type="triangle"/>
          </a:ln>
        </p:spPr>
      </p:sp>
      <p:sp>
        <p:nvSpPr>
          <p:cNvPr id="7" name="step 2"/>
          <p:cNvSpPr/>
          <p:nvPr/>
        </p:nvSpPr>
        <p:spPr>
          <a:xfrm>
            <a:off x="2606040" y="1371600"/>
            <a:ext cx="1783080" cy="1554480"/>
          </a:xfrm>
          <a:prstGeom prst="roundRect">
            <a:avLst>
              <a:gd name="adj" fmla="val 5882"/>
            </a:avLst>
          </a:prstGeom>
          <a:solidFill>
            <a:schemeClr val="accent3"/>
          </a:solidFill>
          <a:ln w="12700">
            <a:solidFill>
              <a:schemeClr val="accent3"/>
            </a:solidFill>
            <a:prstDash val="solid"/>
          </a:ln>
        </p:spPr>
      </p:sp>
      <p:sp>
        <p:nvSpPr>
          <p:cNvPr id="8" name="Text 5"/>
          <p:cNvSpPr txBox="1"/>
          <p:nvPr/>
        </p:nvSpPr>
        <p:spPr>
          <a:xfrm>
            <a:off x="2743200" y="1508760"/>
            <a:ext cx="1508760" cy="1325880"/>
          </a:xfrm>
          <a:prstGeom prst="rect">
            <a:avLst/>
          </a:prstGeom>
          <a:noFill/>
          <a:ln/>
        </p:spPr>
        <p:txBody>
          <a:bodyPr wrap="square" lIns="0" tIns="0" rIns="0" bIns="0" rtlCol="0" anchor="t"/>
          <a:lstStyle/>
          <a:p>
            <a:pPr indent="0" marL="0">
              <a:buNone/>
            </a:pPr>
            <a:r>
              <a:rPr lang="en-US" sz="1500" b="1" dirty="0">
                <a:solidFill>
                  <a:schemeClr val="bg1"/>
                </a:solidFill>
              </a:rPr>
              <a:t>npm install</a:t>
            </a:r>
            <a:endParaRPr lang="en-US" sz="1500" dirty="0"/>
          </a:p>
          <a:p>
            <a:pPr indent="0" marL="0">
              <a:buNone/>
            </a:pPr>
            <a:r>
              <a:rPr lang="en-US" sz="1300" dirty="0">
                <a:solidFill>
                  <a:schemeClr val="bg1"/>
                </a:solidFill>
              </a:rPr>
              <a:t>FAILS: package not found</a:t>
            </a:r>
            <a:endParaRPr lang="en-US" sz="1500" dirty="0"/>
          </a:p>
        </p:txBody>
      </p:sp>
      <p:sp>
        <p:nvSpPr>
          <p:cNvPr id="9" name="arrow"/>
          <p:cNvSpPr/>
          <p:nvPr/>
        </p:nvSpPr>
        <p:spPr>
          <a:xfrm>
            <a:off x="4434840" y="2148840"/>
            <a:ext cx="274320" cy="0"/>
          </a:xfrm>
          <a:prstGeom prst="line">
            <a:avLst/>
          </a:prstGeom>
          <a:noFill/>
          <a:ln w="28575">
            <a:solidFill>
              <a:schemeClr val="tx2"/>
            </a:solidFill>
            <a:prstDash val="solid"/>
            <a:tailEnd type="triangle"/>
          </a:ln>
        </p:spPr>
      </p:sp>
      <p:sp>
        <p:nvSpPr>
          <p:cNvPr id="10" name="step 3"/>
          <p:cNvSpPr/>
          <p:nvPr/>
        </p:nvSpPr>
        <p:spPr>
          <a:xfrm>
            <a:off x="4754880" y="1371600"/>
            <a:ext cx="1783080" cy="1554480"/>
          </a:xfrm>
          <a:prstGeom prst="roundRect">
            <a:avLst>
              <a:gd name="adj" fmla="val 5882"/>
            </a:avLst>
          </a:prstGeom>
          <a:solidFill>
            <a:schemeClr val="tx2"/>
          </a:solidFill>
          <a:ln w="12700">
            <a:solidFill>
              <a:schemeClr val="tx2"/>
            </a:solidFill>
            <a:prstDash val="solid"/>
          </a:ln>
        </p:spPr>
      </p:sp>
      <p:sp>
        <p:nvSpPr>
          <p:cNvPr id="11" name="Text 8"/>
          <p:cNvSpPr txBox="1"/>
          <p:nvPr/>
        </p:nvSpPr>
        <p:spPr>
          <a:xfrm>
            <a:off x="4892040" y="1508760"/>
            <a:ext cx="1508760" cy="1325880"/>
          </a:xfrm>
          <a:prstGeom prst="rect">
            <a:avLst/>
          </a:prstGeom>
          <a:noFill/>
          <a:ln/>
        </p:spPr>
        <p:txBody>
          <a:bodyPr wrap="square" lIns="0" tIns="0" rIns="0" bIns="0" rtlCol="0" anchor="t"/>
          <a:lstStyle/>
          <a:p>
            <a:pPr indent="0" marL="0">
              <a:buNone/>
            </a:pPr>
            <a:r>
              <a:rPr lang="en-US" sz="1500" b="1" dirty="0">
                <a:solidFill>
                  <a:schemeClr val="bg1"/>
                </a:solidFill>
              </a:rPr>
              <a:t>Build / test</a:t>
            </a:r>
            <a:endParaRPr lang="en-US" sz="1500" dirty="0"/>
          </a:p>
          <a:p>
            <a:pPr indent="0" marL="0">
              <a:buNone/>
            </a:pPr>
            <a:r>
              <a:rPr lang="en-US" sz="1300" dirty="0">
                <a:solidFill>
                  <a:schemeClr val="bg1"/>
                </a:solidFill>
              </a:rPr>
              <a:t>skipped</a:t>
            </a:r>
            <a:endParaRPr lang="en-US" sz="1500" dirty="0"/>
          </a:p>
        </p:txBody>
      </p:sp>
      <p:sp>
        <p:nvSpPr>
          <p:cNvPr id="12" name="arrow"/>
          <p:cNvSpPr/>
          <p:nvPr/>
        </p:nvSpPr>
        <p:spPr>
          <a:xfrm>
            <a:off x="6583680" y="2148840"/>
            <a:ext cx="274320" cy="0"/>
          </a:xfrm>
          <a:prstGeom prst="line">
            <a:avLst/>
          </a:prstGeom>
          <a:noFill/>
          <a:ln w="28575">
            <a:solidFill>
              <a:schemeClr val="tx2"/>
            </a:solidFill>
            <a:prstDash val="solid"/>
            <a:tailEnd type="triangle"/>
          </a:ln>
        </p:spPr>
      </p:sp>
      <p:sp>
        <p:nvSpPr>
          <p:cNvPr id="13" name="step 4"/>
          <p:cNvSpPr/>
          <p:nvPr/>
        </p:nvSpPr>
        <p:spPr>
          <a:xfrm>
            <a:off x="6903720" y="1371600"/>
            <a:ext cx="1783080" cy="1554480"/>
          </a:xfrm>
          <a:prstGeom prst="roundRect">
            <a:avLst>
              <a:gd name="adj" fmla="val 5882"/>
            </a:avLst>
          </a:prstGeom>
          <a:solidFill>
            <a:schemeClr val="tx2"/>
          </a:solidFill>
          <a:ln w="12700">
            <a:solidFill>
              <a:schemeClr val="tx2"/>
            </a:solidFill>
            <a:prstDash val="solid"/>
          </a:ln>
        </p:spPr>
      </p:sp>
      <p:sp>
        <p:nvSpPr>
          <p:cNvPr id="14" name="Text 11"/>
          <p:cNvSpPr txBox="1"/>
          <p:nvPr/>
        </p:nvSpPr>
        <p:spPr>
          <a:xfrm>
            <a:off x="7040880" y="1508760"/>
            <a:ext cx="1508760" cy="1325880"/>
          </a:xfrm>
          <a:prstGeom prst="rect">
            <a:avLst/>
          </a:prstGeom>
          <a:noFill/>
          <a:ln/>
        </p:spPr>
        <p:txBody>
          <a:bodyPr wrap="square" lIns="0" tIns="0" rIns="0" bIns="0" rtlCol="0" anchor="t"/>
          <a:lstStyle/>
          <a:p>
            <a:pPr indent="0" marL="0">
              <a:buNone/>
            </a:pPr>
            <a:r>
              <a:rPr lang="en-US" sz="1500" b="1" dirty="0">
                <a:solidFill>
                  <a:schemeClr val="bg1"/>
                </a:solidFill>
              </a:rPr>
              <a:t>Deploy</a:t>
            </a:r>
            <a:endParaRPr lang="en-US" sz="1500" dirty="0"/>
          </a:p>
          <a:p>
            <a:pPr indent="0" marL="0">
              <a:buNone/>
            </a:pPr>
            <a:r>
              <a:rPr lang="en-US" sz="1300" dirty="0">
                <a:solidFill>
                  <a:schemeClr val="bg1"/>
                </a:solidFill>
              </a:rPr>
              <a:t>never reached</a:t>
            </a:r>
            <a:endParaRPr lang="en-US" sz="1500" dirty="0"/>
          </a:p>
        </p:txBody>
      </p:sp>
      <p:sp>
        <p:nvSpPr>
          <p:cNvPr id="15" name="callout"/>
          <p:cNvSpPr/>
          <p:nvPr/>
        </p:nvSpPr>
        <p:spPr>
          <a:xfrm>
            <a:off x="457200" y="3291840"/>
            <a:ext cx="8229600" cy="548640"/>
          </a:xfrm>
          <a:prstGeom prst="roundRect">
            <a:avLst>
              <a:gd name="adj" fmla="val 16667"/>
            </a:avLst>
          </a:prstGeom>
          <a:solidFill>
            <a:schemeClr val="accent2"/>
          </a:solidFill>
          <a:ln w="12700">
            <a:solidFill>
              <a:schemeClr val="accent2"/>
            </a:solidFill>
            <a:prstDash val="solid"/>
          </a:ln>
        </p:spPr>
      </p:sp>
      <p:sp>
        <p:nvSpPr>
          <p:cNvPr id="16" name="Text 13"/>
          <p:cNvSpPr txBox="1"/>
          <p:nvPr/>
        </p:nvSpPr>
        <p:spPr>
          <a:xfrm>
            <a:off x="685800" y="329184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Expected category: Dependency installation failure. Infrastructure pipeline unchanged.</a:t>
            </a:r>
            <a:endParaRPr lang="en-US" sz="1500" dirty="0"/>
          </a:p>
        </p:txBody>
      </p:sp>
      <p:sp>
        <p:nvSpPr>
          <p:cNvPr id="17" name="Text 14"/>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400" i="1" dirty="0">
                <a:solidFill>
                  <a:schemeClr val="tx2"/>
                </a:solidFill>
              </a:rPr>
              <a:t>The log should hold a clear, recognisable dependency error such as a 404 for the package.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6-7: queue the pipeline on the drill branch</a:t>
            </a:r>
            <a:endParaRPr lang="en-US" sz="3000" dirty="0"/>
          </a:p>
        </p:txBody>
      </p:sp>
      <p:sp>
        <p:nvSpPr>
          <p:cNvPr id="4" name="code panel"/>
          <p:cNvSpPr/>
          <p:nvPr/>
        </p:nvSpPr>
        <p:spPr>
          <a:xfrm>
            <a:off x="457200" y="1234440"/>
            <a:ext cx="5486400" cy="2651760"/>
          </a:xfrm>
          <a:prstGeom prst="roundRect">
            <a:avLst>
              <a:gd name="adj" fmla="val 2759"/>
            </a:avLst>
          </a:prstGeom>
          <a:solidFill>
            <a:schemeClr val="tx1"/>
          </a:solidFill>
          <a:ln w="12700">
            <a:solidFill>
              <a:schemeClr val="tx1"/>
            </a:solidFill>
            <a:prstDash val="solid"/>
          </a:ln>
        </p:spPr>
      </p:sp>
      <p:sp>
        <p:nvSpPr>
          <p:cNvPr id="5" name="code"/>
          <p:cNvSpPr txBox="1"/>
          <p:nvPr/>
        </p:nvSpPr>
        <p:spPr>
          <a:xfrm>
            <a:off x="621792" y="1344168"/>
            <a:ext cx="5157216" cy="24323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az pipelines run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--organization https://dev.azure.com/DMI-Cohort-3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--project "Epicbook Deployment"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--id 10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--branch drill/pipeline-failure</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az pipelines runs list --pipeline-ids 10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--branch drill/pipeline-failure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--top 1 --output table     # wait for: failed</a:t>
            </a:r>
            <a:endParaRPr lang="en-US" sz="1200" dirty="0"/>
          </a:p>
        </p:txBody>
      </p:sp>
      <p:sp>
        <p:nvSpPr>
          <p:cNvPr id="6" name="icon circle"/>
          <p:cNvSpPr/>
          <p:nvPr/>
        </p:nvSpPr>
        <p:spPr>
          <a:xfrm>
            <a:off x="6217920" y="1371600"/>
            <a:ext cx="457200" cy="457200"/>
          </a:xfrm>
          <a:prstGeom prst="ellipse">
            <a:avLst/>
          </a:prstGeom>
          <a:solidFill>
            <a:schemeClr val="accent4"/>
          </a:solidFill>
          <a:ln w="12700">
            <a:solidFill>
              <a:schemeClr val="accent4"/>
            </a:solidFill>
            <a:prstDash val="solid"/>
          </a:ln>
        </p:spPr>
      </p:sp>
      <p:pic>
        <p:nvPicPr>
          <p:cNvPr id="7" name="icon FaMapSigns" descr="FaMapSigns">    </p:cNvPr>
          <p:cNvPicPr>
            <a:picLocks noChangeAspect="1"/>
          </p:cNvPicPr>
          <p:nvPr/>
        </p:nvPicPr>
        <p:blipFill>
          <a:blip r:embed="rId1"/>
          <a:stretch>
            <a:fillRect/>
          </a:stretch>
        </p:blipFill>
        <p:spPr>
          <a:xfrm>
            <a:off x="6327648" y="1481328"/>
            <a:ext cx="237744" cy="237744"/>
          </a:xfrm>
          <a:prstGeom prst="rect">
            <a:avLst/>
          </a:prstGeom>
        </p:spPr>
      </p:pic>
      <p:sp>
        <p:nvSpPr>
          <p:cNvPr id="8" name="Text 4"/>
          <p:cNvSpPr txBox="1"/>
          <p:nvPr/>
        </p:nvSpPr>
        <p:spPr>
          <a:xfrm>
            <a:off x="6858000" y="1344168"/>
            <a:ext cx="1828800" cy="1463040"/>
          </a:xfrm>
          <a:prstGeom prst="rect">
            <a:avLst/>
          </a:prstGeom>
          <a:noFill/>
          <a:ln/>
        </p:spPr>
        <p:txBody>
          <a:bodyPr wrap="square" lIns="0" tIns="0" rIns="0" bIns="0" rtlCol="0" anchor="t"/>
          <a:lstStyle/>
          <a:p>
            <a:pPr indent="0" marL="0">
              <a:buNone/>
            </a:pPr>
            <a:r>
              <a:rPr lang="en-US" sz="1500" b="1" dirty="0">
                <a:solidFill>
                  <a:schemeClr val="tx1"/>
                </a:solidFill>
              </a:rPr>
              <a:t>Trigger watches main</a:t>
            </a:r>
            <a:endParaRPr lang="en-US" sz="1500" dirty="0"/>
          </a:p>
          <a:p>
            <a:pPr indent="0" marL="0">
              <a:buNone/>
            </a:pPr>
            <a:r>
              <a:rPr lang="en-US" sz="1300" dirty="0">
                <a:solidFill>
                  <a:schemeClr val="tx1"/>
                </a:solidFill>
              </a:rPr>
              <a:t>So we queue the branch ourselves</a:t>
            </a:r>
            <a:endParaRPr lang="en-US" sz="1500" dirty="0"/>
          </a:p>
        </p:txBody>
      </p:sp>
      <p:sp>
        <p:nvSpPr>
          <p:cNvPr id="9" name="icon circle"/>
          <p:cNvSpPr/>
          <p:nvPr/>
        </p:nvSpPr>
        <p:spPr>
          <a:xfrm>
            <a:off x="6217920" y="2926080"/>
            <a:ext cx="457200" cy="457200"/>
          </a:xfrm>
          <a:prstGeom prst="ellipse">
            <a:avLst/>
          </a:prstGeom>
          <a:solidFill>
            <a:schemeClr val="accent6"/>
          </a:solidFill>
          <a:ln w="12700">
            <a:solidFill>
              <a:schemeClr val="accent6"/>
            </a:solidFill>
            <a:prstDash val="solid"/>
          </a:ln>
        </p:spPr>
      </p:sp>
      <p:pic>
        <p:nvPicPr>
          <p:cNvPr id="10" name="icon FaCheckCircle" descr="FaCheckCircle">    </p:cNvPr>
          <p:cNvPicPr>
            <a:picLocks noChangeAspect="1"/>
          </p:cNvPicPr>
          <p:nvPr/>
        </p:nvPicPr>
        <p:blipFill>
          <a:blip r:embed="rId2"/>
          <a:stretch>
            <a:fillRect/>
          </a:stretch>
        </p:blipFill>
        <p:spPr>
          <a:xfrm>
            <a:off x="6327648" y="3035808"/>
            <a:ext cx="237744" cy="237744"/>
          </a:xfrm>
          <a:prstGeom prst="rect">
            <a:avLst/>
          </a:prstGeom>
        </p:spPr>
      </p:pic>
      <p:sp>
        <p:nvSpPr>
          <p:cNvPr id="11" name="Text 6"/>
          <p:cNvSpPr txBox="1"/>
          <p:nvPr/>
        </p:nvSpPr>
        <p:spPr>
          <a:xfrm>
            <a:off x="6858000" y="2898648"/>
            <a:ext cx="1828800" cy="1463040"/>
          </a:xfrm>
          <a:prstGeom prst="rect">
            <a:avLst/>
          </a:prstGeom>
          <a:noFill/>
          <a:ln/>
        </p:spPr>
        <p:txBody>
          <a:bodyPr wrap="square" lIns="0" tIns="0" rIns="0" bIns="0" rtlCol="0" anchor="t"/>
          <a:lstStyle/>
          <a:p>
            <a:pPr indent="0" marL="0">
              <a:buNone/>
            </a:pPr>
            <a:r>
              <a:rPr lang="en-US" sz="1500" b="1" dirty="0">
                <a:solidFill>
                  <a:schemeClr val="tx1"/>
                </a:solidFill>
              </a:rPr>
              <a:t>Confirm</a:t>
            </a:r>
            <a:endParaRPr lang="en-US" sz="1500" dirty="0"/>
          </a:p>
          <a:p>
            <a:pPr indent="0" marL="0">
              <a:buNone/>
            </a:pPr>
            <a:r>
              <a:rPr lang="en-US" sz="1300" dirty="0">
                <a:solidFill>
                  <a:schemeClr val="tx1"/>
                </a:solidFill>
              </a:rPr>
              <a:t>Result: failed; infra run unchanged</a:t>
            </a:r>
            <a:endParaRPr lang="en-US" sz="1500" dirty="0"/>
          </a:p>
        </p:txBody>
      </p:sp>
      <p:sp>
        <p:nvSpPr>
          <p:cNvPr id="12" name="callout"/>
          <p:cNvSpPr/>
          <p:nvPr/>
        </p:nvSpPr>
        <p:spPr>
          <a:xfrm>
            <a:off x="457200" y="4023360"/>
            <a:ext cx="8229600" cy="548640"/>
          </a:xfrm>
          <a:prstGeom prst="roundRect">
            <a:avLst>
              <a:gd name="adj" fmla="val 16667"/>
            </a:avLst>
          </a:prstGeom>
          <a:solidFill>
            <a:schemeClr val="accent3"/>
          </a:solidFill>
          <a:ln w="12700">
            <a:solidFill>
              <a:schemeClr val="accent3"/>
            </a:solidFill>
            <a:prstDash val="solid"/>
          </a:ln>
        </p:spPr>
      </p:sp>
      <p:sp>
        <p:nvSpPr>
          <p:cNvPr id="13" name="Text 8"/>
          <p:cNvSpPr txBox="1"/>
          <p:nvPr/>
        </p:nvSpPr>
        <p:spPr>
          <a:xfrm>
            <a:off x="685800" y="402336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Queueing was our action as a human. The triage tool itself never queues anything.</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incident: BEFORE vs AFTER</a:t>
            </a:r>
            <a:endParaRPr lang="en-US" sz="3000" dirty="0"/>
          </a:p>
        </p:txBody>
      </p:sp>
      <p:sp>
        <p:nvSpPr>
          <p:cNvPr id="4" name="card"/>
          <p:cNvSpPr/>
          <p:nvPr/>
        </p:nvSpPr>
        <p:spPr>
          <a:xfrm>
            <a:off x="457200" y="1234440"/>
            <a:ext cx="3977640" cy="3246120"/>
          </a:xfrm>
          <a:prstGeom prst="roundRect">
            <a:avLst>
              <a:gd name="adj" fmla="val 2817"/>
            </a:avLst>
          </a:prstGeom>
          <a:solidFill>
            <a:schemeClr val="bg2"/>
          </a:solidFill>
          <a:ln w="12700">
            <a:solidFill>
              <a:schemeClr val="bg2"/>
            </a:solidFill>
            <a:prstDash val="solid"/>
          </a:ln>
        </p:spPr>
      </p:sp>
      <p:sp>
        <p:nvSpPr>
          <p:cNvPr id="5" name="icon circle"/>
          <p:cNvSpPr/>
          <p:nvPr/>
        </p:nvSpPr>
        <p:spPr>
          <a:xfrm>
            <a:off x="640080" y="1417320"/>
            <a:ext cx="457200" cy="457200"/>
          </a:xfrm>
          <a:prstGeom prst="ellipse">
            <a:avLst/>
          </a:prstGeom>
          <a:solidFill>
            <a:schemeClr val="accent3"/>
          </a:solidFill>
          <a:ln w="12700">
            <a:solidFill>
              <a:schemeClr val="accent3"/>
            </a:solidFill>
            <a:prstDash val="solid"/>
          </a:ln>
        </p:spPr>
      </p:sp>
      <p:pic>
        <p:nvPicPr>
          <p:cNvPr id="6" name="icon FaClock" descr="FaClock">    </p:cNvPr>
          <p:cNvPicPr>
            <a:picLocks noChangeAspect="1"/>
          </p:cNvPicPr>
          <p:nvPr/>
        </p:nvPicPr>
        <p:blipFill>
          <a:blip r:embed="rId1"/>
          <a:stretch>
            <a:fillRect/>
          </a:stretch>
        </p:blipFill>
        <p:spPr>
          <a:xfrm>
            <a:off x="749808" y="1527048"/>
            <a:ext cx="237744" cy="237744"/>
          </a:xfrm>
          <a:prstGeom prst="rect">
            <a:avLst/>
          </a:prstGeom>
        </p:spPr>
      </p:pic>
      <p:sp>
        <p:nvSpPr>
          <p:cNvPr id="7" name="Text 3"/>
          <p:cNvSpPr txBox="1"/>
          <p:nvPr/>
        </p:nvSpPr>
        <p:spPr>
          <a:xfrm>
            <a:off x="640080" y="1984248"/>
            <a:ext cx="3611880" cy="292608"/>
          </a:xfrm>
          <a:prstGeom prst="rect">
            <a:avLst/>
          </a:prstGeom>
          <a:noFill/>
          <a:ln/>
        </p:spPr>
        <p:txBody>
          <a:bodyPr wrap="square" lIns="0" tIns="0" rIns="0" bIns="0" rtlCol="0" anchor="t"/>
          <a:lstStyle/>
          <a:p>
            <a:pPr indent="0" marL="0">
              <a:buNone/>
            </a:pPr>
            <a:r>
              <a:rPr lang="en-US" sz="1600" b="1" dirty="0">
                <a:solidFill>
                  <a:schemeClr val="tx1"/>
                </a:solidFill>
              </a:rPr>
              <a:t>BEFORE: manual triage</a:t>
            </a:r>
            <a:endParaRPr lang="en-US" sz="1600" dirty="0"/>
          </a:p>
        </p:txBody>
      </p:sp>
      <p:sp>
        <p:nvSpPr>
          <p:cNvPr id="8" name="Text 4"/>
          <p:cNvSpPr txBox="1"/>
          <p:nvPr/>
        </p:nvSpPr>
        <p:spPr>
          <a:xfrm>
            <a:off x="640080" y="2322576"/>
            <a:ext cx="3611880" cy="1975104"/>
          </a:xfrm>
          <a:prstGeom prst="rect">
            <a:avLst/>
          </a:prstGeom>
          <a:noFill/>
          <a:ln/>
        </p:spPr>
        <p:txBody>
          <a:bodyPr wrap="square" lIns="0" tIns="0" rIns="0" bIns="0" rtlCol="0" anchor="t"/>
          <a:lstStyle/>
          <a:p>
            <a:pPr indent="0" marL="0">
              <a:buNone/>
            </a:pPr>
            <a:r>
              <a:rPr lang="en-US" sz="1400" dirty="0">
                <a:solidFill>
                  <a:schemeClr val="tx1"/>
                </a:solidFill>
              </a:rPr>
              <a:t>Open the portal and find the failed run.</a:t>
            </a:r>
            <a:endParaRPr lang="en-US" sz="1400" dirty="0"/>
          </a:p>
          <a:p>
            <a:pPr indent="0" marL="0">
              <a:buNone/>
            </a:pPr>
            <a:r>
              <a:rPr lang="en-US" sz="1400" dirty="0">
                <a:solidFill>
                  <a:schemeClr val="tx1"/>
                </a:solidFill>
              </a:rPr>
              <a:t>Click into the failed job.</a:t>
            </a:r>
            <a:endParaRPr lang="en-US" sz="1400" dirty="0"/>
          </a:p>
          <a:p>
            <a:pPr indent="0" marL="0">
              <a:buNone/>
            </a:pPr>
            <a:r>
              <a:rPr lang="en-US" sz="1400" dirty="0">
                <a:solidFill>
                  <a:schemeClr val="tx1"/>
                </a:solidFill>
              </a:rPr>
              <a:t>Scroll the log for the real error.</a:t>
            </a:r>
            <a:endParaRPr lang="en-US" sz="1400" dirty="0"/>
          </a:p>
          <a:p>
            <a:pPr indent="0" marL="0">
              <a:buNone/>
            </a:pPr>
            <a:r>
              <a:rPr lang="en-US" sz="1400" dirty="0">
                <a:solidFill>
                  <a:schemeClr val="tx1"/>
                </a:solidFill>
              </a:rPr>
              <a:t>Worry whether a secret is in the log.</a:t>
            </a:r>
            <a:endParaRPr lang="en-US" sz="1400" dirty="0"/>
          </a:p>
          <a:p>
            <a:pPr indent="0" marL="0">
              <a:buNone/>
            </a:pPr>
            <a:r>
              <a:rPr lang="en-US" sz="1400" dirty="0">
                <a:solidFill>
                  <a:schemeClr val="tx1"/>
                </a:solidFill>
              </a:rPr>
              <a:t>Guess the cause, search for the error.</a:t>
            </a:r>
            <a:endParaRPr lang="en-US" sz="1400" dirty="0"/>
          </a:p>
          <a:p>
            <a:pPr indent="0" marL="0">
              <a:buNone/>
            </a:pPr>
            <a:r>
              <a:rPr lang="en-US" sz="1400" dirty="0">
                <a:solidFill>
                  <a:schemeClr val="tx1"/>
                </a:solidFill>
              </a:rPr>
              <a:t>Write your own notes, maybe.</a:t>
            </a:r>
            <a:endParaRPr lang="en-US" sz="1400" dirty="0"/>
          </a:p>
        </p:txBody>
      </p:sp>
      <p:sp>
        <p:nvSpPr>
          <p:cNvPr id="9" name="card"/>
          <p:cNvSpPr/>
          <p:nvPr/>
        </p:nvSpPr>
        <p:spPr>
          <a:xfrm>
            <a:off x="4709160" y="1234440"/>
            <a:ext cx="3977640" cy="3246120"/>
          </a:xfrm>
          <a:prstGeom prst="roundRect">
            <a:avLst>
              <a:gd name="adj" fmla="val 2817"/>
            </a:avLst>
          </a:prstGeom>
          <a:solidFill>
            <a:schemeClr val="bg2"/>
          </a:solidFill>
          <a:ln w="12700">
            <a:solidFill>
              <a:schemeClr val="bg2"/>
            </a:solidFill>
            <a:prstDash val="solid"/>
          </a:ln>
        </p:spPr>
      </p:sp>
      <p:sp>
        <p:nvSpPr>
          <p:cNvPr id="10" name="icon circle"/>
          <p:cNvSpPr/>
          <p:nvPr/>
        </p:nvSpPr>
        <p:spPr>
          <a:xfrm>
            <a:off x="4892040" y="1417320"/>
            <a:ext cx="457200" cy="457200"/>
          </a:xfrm>
          <a:prstGeom prst="ellipse">
            <a:avLst/>
          </a:prstGeom>
          <a:solidFill>
            <a:schemeClr val="accent6"/>
          </a:solidFill>
          <a:ln w="12700">
            <a:solidFill>
              <a:schemeClr val="accent6"/>
            </a:solidFill>
            <a:prstDash val="solid"/>
          </a:ln>
        </p:spPr>
      </p:sp>
      <p:pic>
        <p:nvPicPr>
          <p:cNvPr id="11" name="icon FaBolt" descr="FaBolt">    </p:cNvPr>
          <p:cNvPicPr>
            <a:picLocks noChangeAspect="1"/>
          </p:cNvPicPr>
          <p:nvPr/>
        </p:nvPicPr>
        <p:blipFill>
          <a:blip r:embed="rId2"/>
          <a:stretch>
            <a:fillRect/>
          </a:stretch>
        </p:blipFill>
        <p:spPr>
          <a:xfrm>
            <a:off x="5001768" y="1527048"/>
            <a:ext cx="237744" cy="237744"/>
          </a:xfrm>
          <a:prstGeom prst="rect">
            <a:avLst/>
          </a:prstGeom>
        </p:spPr>
      </p:pic>
      <p:sp>
        <p:nvSpPr>
          <p:cNvPr id="12" name="Text 7"/>
          <p:cNvSpPr txBox="1"/>
          <p:nvPr/>
        </p:nvSpPr>
        <p:spPr>
          <a:xfrm>
            <a:off x="4892040" y="1984248"/>
            <a:ext cx="3611880" cy="292608"/>
          </a:xfrm>
          <a:prstGeom prst="rect">
            <a:avLst/>
          </a:prstGeom>
          <a:noFill/>
          <a:ln/>
        </p:spPr>
        <p:txBody>
          <a:bodyPr wrap="square" lIns="0" tIns="0" rIns="0" bIns="0" rtlCol="0" anchor="t"/>
          <a:lstStyle/>
          <a:p>
            <a:pPr indent="0" marL="0">
              <a:buNone/>
            </a:pPr>
            <a:r>
              <a:rPr lang="en-US" sz="1600" b="1" dirty="0">
                <a:solidFill>
                  <a:schemeClr val="tx1"/>
                </a:solidFill>
              </a:rPr>
              <a:t>AFTER: /pipeline-triage</a:t>
            </a:r>
            <a:endParaRPr lang="en-US" sz="1600" dirty="0"/>
          </a:p>
        </p:txBody>
      </p:sp>
      <p:sp>
        <p:nvSpPr>
          <p:cNvPr id="13" name="Text 8"/>
          <p:cNvSpPr txBox="1"/>
          <p:nvPr/>
        </p:nvSpPr>
        <p:spPr>
          <a:xfrm>
            <a:off x="4892040" y="2322576"/>
            <a:ext cx="3611880" cy="1975104"/>
          </a:xfrm>
          <a:prstGeom prst="rect">
            <a:avLst/>
          </a:prstGeom>
          <a:noFill/>
          <a:ln/>
        </p:spPr>
        <p:txBody>
          <a:bodyPr wrap="square" lIns="0" tIns="0" rIns="0" bIns="0" rtlCol="0" anchor="t"/>
          <a:lstStyle/>
          <a:p>
            <a:pPr indent="0" marL="0">
              <a:buNone/>
            </a:pPr>
            <a:r>
              <a:rPr lang="en-US" sz="1400" dirty="0">
                <a:solidFill>
                  <a:schemeClr val="tx1"/>
                </a:solidFill>
              </a:rPr>
              <a:t>Type /pipeline-triage.</a:t>
            </a:r>
            <a:endParaRPr lang="en-US" sz="1400" dirty="0"/>
          </a:p>
          <a:p>
            <a:pPr indent="0" marL="0">
              <a:buNone/>
            </a:pPr>
            <a:r>
              <a:rPr lang="en-US" sz="1400" dirty="0">
                <a:solidFill>
                  <a:schemeClr val="tx1"/>
                </a:solidFill>
              </a:rPr>
              <a:t>Script gathers and sanitises evidence; report saved.</a:t>
            </a:r>
            <a:endParaRPr lang="en-US" sz="1400" dirty="0"/>
          </a:p>
          <a:p>
            <a:pPr indent="0" marL="0">
              <a:buNone/>
            </a:pPr>
            <a:r>
              <a:rPr lang="en-US" sz="1400" dirty="0">
                <a:solidFill>
                  <a:schemeClr val="tx1"/>
                </a:solidFill>
              </a:rPr>
              <a:t>Claude explains the evidence in the same 9-point format.</a:t>
            </a:r>
            <a:endParaRPr lang="en-US" sz="1400" dirty="0"/>
          </a:p>
          <a:p>
            <a:pPr indent="0" marL="0">
              <a:buNone/>
            </a:pPr>
            <a:r>
              <a:rPr lang="en-US" sz="1400" dirty="0">
                <a:solidFill>
                  <a:schemeClr val="tx1"/>
                </a:solidFill>
              </a:rPr>
              <a:t>You review one recommendation, apply the fix, and run it again.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7: run the skill and judge the answer</a:t>
            </a:r>
            <a:endParaRPr lang="en-US" sz="3000" dirty="0"/>
          </a:p>
        </p:txBody>
      </p:sp>
      <p:sp>
        <p:nvSpPr>
          <p:cNvPr id="4" name="code panel"/>
          <p:cNvSpPr/>
          <p:nvPr/>
        </p:nvSpPr>
        <p:spPr>
          <a:xfrm>
            <a:off x="457200" y="1234440"/>
            <a:ext cx="4023360" cy="1645920"/>
          </a:xfrm>
          <a:prstGeom prst="roundRect">
            <a:avLst>
              <a:gd name="adj" fmla="val 4444"/>
            </a:avLst>
          </a:prstGeom>
          <a:solidFill>
            <a:schemeClr val="tx1"/>
          </a:solidFill>
          <a:ln w="12700">
            <a:solidFill>
              <a:schemeClr val="tx1"/>
            </a:solidFill>
            <a:prstDash val="solid"/>
          </a:ln>
        </p:spPr>
      </p:sp>
      <p:sp>
        <p:nvSpPr>
          <p:cNvPr id="5" name="code"/>
          <p:cNvSpPr txBox="1"/>
          <p:nvPr/>
        </p:nvSpPr>
        <p:spPr>
          <a:xfrm>
            <a:off x="621792" y="1344168"/>
            <a:ext cx="3694176" cy="142646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cd ~/ansible-onboarding/theepicbook/\</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week-10/assignment-05-pipeline-triage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claude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/pipeline-triage</a:t>
            </a:r>
            <a:endParaRPr lang="en-US" sz="1100" dirty="0"/>
          </a:p>
        </p:txBody>
      </p:sp>
      <p:sp>
        <p:nvSpPr>
          <p:cNvPr id="6" name="Text 3"/>
          <p:cNvSpPr txBox="1"/>
          <p:nvPr/>
        </p:nvSpPr>
        <p:spPr>
          <a:xfrm>
            <a:off x="4663440" y="1188720"/>
            <a:ext cx="4023360" cy="320040"/>
          </a:xfrm>
          <a:prstGeom prst="rect">
            <a:avLst/>
          </a:prstGeom>
          <a:noFill/>
          <a:ln/>
        </p:spPr>
        <p:txBody>
          <a:bodyPr wrap="square" lIns="0" tIns="0" rIns="0" bIns="0" rtlCol="0" anchor="t"/>
          <a:lstStyle/>
          <a:p>
            <a:pPr indent="0" marL="0">
              <a:buNone/>
            </a:pPr>
            <a:r>
              <a:rPr lang="en-US" sz="1600" b="1" dirty="0">
                <a:solidFill>
                  <a:schemeClr val="tx1"/>
                </a:solidFill>
              </a:rPr>
              <a:t>Review checklist</a:t>
            </a:r>
            <a:endParaRPr lang="en-US" sz="1600" dirty="0"/>
          </a:p>
        </p:txBody>
      </p:sp>
      <p:sp>
        <p:nvSpPr>
          <p:cNvPr id="7" name="icon circle"/>
          <p:cNvSpPr/>
          <p:nvPr/>
        </p:nvSpPr>
        <p:spPr>
          <a:xfrm>
            <a:off x="4663440" y="1600200"/>
            <a:ext cx="347472" cy="347472"/>
          </a:xfrm>
          <a:prstGeom prst="ellipse">
            <a:avLst/>
          </a:prstGeom>
          <a:solidFill>
            <a:schemeClr val="accent6"/>
          </a:solidFill>
          <a:ln w="12700">
            <a:solidFill>
              <a:schemeClr val="accent6"/>
            </a:solidFill>
            <a:prstDash val="solid"/>
          </a:ln>
        </p:spPr>
      </p:sp>
      <p:pic>
        <p:nvPicPr>
          <p:cNvPr id="8" name="icon FaCheckCircle" descr="FaCheckCircle">    </p:cNvPr>
          <p:cNvPicPr>
            <a:picLocks noChangeAspect="1"/>
          </p:cNvPicPr>
          <p:nvPr/>
        </p:nvPicPr>
        <p:blipFill>
          <a:blip r:embed="rId1"/>
          <a:stretch>
            <a:fillRect/>
          </a:stretch>
        </p:blipFill>
        <p:spPr>
          <a:xfrm>
            <a:off x="4746833" y="1683593"/>
            <a:ext cx="180685" cy="180685"/>
          </a:xfrm>
          <a:prstGeom prst="rect">
            <a:avLst/>
          </a:prstGeom>
        </p:spPr>
      </p:pic>
      <p:sp>
        <p:nvSpPr>
          <p:cNvPr id="9" name="Text 5"/>
          <p:cNvSpPr txBox="1"/>
          <p:nvPr/>
        </p:nvSpPr>
        <p:spPr>
          <a:xfrm>
            <a:off x="5166360" y="1572768"/>
            <a:ext cx="3520440" cy="457200"/>
          </a:xfrm>
          <a:prstGeom prst="rect">
            <a:avLst/>
          </a:prstGeom>
          <a:noFill/>
          <a:ln/>
        </p:spPr>
        <p:txBody>
          <a:bodyPr wrap="square" lIns="0" tIns="0" rIns="0" bIns="0" rtlCol="0" anchor="ctr"/>
          <a:lstStyle/>
          <a:p>
            <a:pPr indent="0" marL="0">
              <a:buNone/>
            </a:pPr>
            <a:r>
              <a:rPr lang="en-US" sz="1400" dirty="0">
                <a:solidFill>
                  <a:schemeClr val="tx1"/>
                </a:solidFill>
              </a:rPr>
              <a:t>Application Pipeline reported failed</a:t>
            </a:r>
            <a:endParaRPr lang="en-US" sz="1400" dirty="0"/>
          </a:p>
        </p:txBody>
      </p:sp>
      <p:sp>
        <p:nvSpPr>
          <p:cNvPr id="10" name="icon circle"/>
          <p:cNvSpPr/>
          <p:nvPr/>
        </p:nvSpPr>
        <p:spPr>
          <a:xfrm>
            <a:off x="4663440" y="2167128"/>
            <a:ext cx="347472" cy="347472"/>
          </a:xfrm>
          <a:prstGeom prst="ellipse">
            <a:avLst/>
          </a:prstGeom>
          <a:solidFill>
            <a:schemeClr val="accent6"/>
          </a:solidFill>
          <a:ln w="12700">
            <a:solidFill>
              <a:schemeClr val="accent6"/>
            </a:solidFill>
            <a:prstDash val="solid"/>
          </a:ln>
        </p:spPr>
      </p:sp>
      <p:pic>
        <p:nvPicPr>
          <p:cNvPr id="11" name="icon FaCheckCircle" descr="FaCheckCircle">    </p:cNvPr>
          <p:cNvPicPr>
            <a:picLocks noChangeAspect="1"/>
          </p:cNvPicPr>
          <p:nvPr/>
        </p:nvPicPr>
        <p:blipFill>
          <a:blip r:embed="rId2"/>
          <a:stretch>
            <a:fillRect/>
          </a:stretch>
        </p:blipFill>
        <p:spPr>
          <a:xfrm>
            <a:off x="4746833" y="2250521"/>
            <a:ext cx="180685" cy="180685"/>
          </a:xfrm>
          <a:prstGeom prst="rect">
            <a:avLst/>
          </a:prstGeom>
        </p:spPr>
      </p:pic>
      <p:sp>
        <p:nvSpPr>
          <p:cNvPr id="12" name="Text 7"/>
          <p:cNvSpPr txBox="1"/>
          <p:nvPr/>
        </p:nvSpPr>
        <p:spPr>
          <a:xfrm>
            <a:off x="5166360" y="2139696"/>
            <a:ext cx="3520440" cy="457200"/>
          </a:xfrm>
          <a:prstGeom prst="rect">
            <a:avLst/>
          </a:prstGeom>
          <a:noFill/>
          <a:ln/>
        </p:spPr>
        <p:txBody>
          <a:bodyPr wrap="square" lIns="0" tIns="0" rIns="0" bIns="0" rtlCol="0" anchor="ctr"/>
          <a:lstStyle/>
          <a:p>
            <a:pPr indent="0" marL="0">
              <a:buNone/>
            </a:pPr>
            <a:r>
              <a:rPr lang="en-US" sz="1400" dirty="0">
                <a:solidFill>
                  <a:schemeClr val="tx1"/>
                </a:solidFill>
              </a:rPr>
              <a:t>Category: dependency installation</a:t>
            </a:r>
            <a:endParaRPr lang="en-US" sz="1400" dirty="0"/>
          </a:p>
        </p:txBody>
      </p:sp>
      <p:sp>
        <p:nvSpPr>
          <p:cNvPr id="13" name="icon circle"/>
          <p:cNvSpPr/>
          <p:nvPr/>
        </p:nvSpPr>
        <p:spPr>
          <a:xfrm>
            <a:off x="4663440" y="2734056"/>
            <a:ext cx="347472" cy="347472"/>
          </a:xfrm>
          <a:prstGeom prst="ellipse">
            <a:avLst/>
          </a:prstGeom>
          <a:solidFill>
            <a:schemeClr val="accent6"/>
          </a:solidFill>
          <a:ln w="12700">
            <a:solidFill>
              <a:schemeClr val="accent6"/>
            </a:solidFill>
            <a:prstDash val="solid"/>
          </a:ln>
        </p:spPr>
      </p:sp>
      <p:pic>
        <p:nvPicPr>
          <p:cNvPr id="14" name="icon FaCheckCircle" descr="FaCheckCircle">    </p:cNvPr>
          <p:cNvPicPr>
            <a:picLocks noChangeAspect="1"/>
          </p:cNvPicPr>
          <p:nvPr/>
        </p:nvPicPr>
        <p:blipFill>
          <a:blip r:embed="rId3"/>
          <a:stretch>
            <a:fillRect/>
          </a:stretch>
        </p:blipFill>
        <p:spPr>
          <a:xfrm>
            <a:off x="4746833" y="2817449"/>
            <a:ext cx="180685" cy="180685"/>
          </a:xfrm>
          <a:prstGeom prst="rect">
            <a:avLst/>
          </a:prstGeom>
        </p:spPr>
      </p:pic>
      <p:sp>
        <p:nvSpPr>
          <p:cNvPr id="15" name="Text 9"/>
          <p:cNvSpPr txBox="1"/>
          <p:nvPr/>
        </p:nvSpPr>
        <p:spPr>
          <a:xfrm>
            <a:off x="5166360" y="2706624"/>
            <a:ext cx="3520440" cy="457200"/>
          </a:xfrm>
          <a:prstGeom prst="rect">
            <a:avLst/>
          </a:prstGeom>
          <a:noFill/>
          <a:ln/>
        </p:spPr>
        <p:txBody>
          <a:bodyPr wrap="square" lIns="0" tIns="0" rIns="0" bIns="0" rtlCol="0" anchor="ctr"/>
          <a:lstStyle/>
          <a:p>
            <a:pPr indent="0" marL="0">
              <a:buNone/>
            </a:pPr>
            <a:r>
              <a:rPr lang="en-US" sz="1400" dirty="0">
                <a:solidFill>
                  <a:schemeClr val="tx1"/>
                </a:solidFill>
              </a:rPr>
              <a:t>Sanitised quote from the real log</a:t>
            </a:r>
            <a:endParaRPr lang="en-US" sz="1400" dirty="0"/>
          </a:p>
        </p:txBody>
      </p:sp>
      <p:sp>
        <p:nvSpPr>
          <p:cNvPr id="16" name="icon circle"/>
          <p:cNvSpPr/>
          <p:nvPr/>
        </p:nvSpPr>
        <p:spPr>
          <a:xfrm>
            <a:off x="4663440" y="3300984"/>
            <a:ext cx="347472" cy="347472"/>
          </a:xfrm>
          <a:prstGeom prst="ellipse">
            <a:avLst/>
          </a:prstGeom>
          <a:solidFill>
            <a:schemeClr val="accent6"/>
          </a:solidFill>
          <a:ln w="12700">
            <a:solidFill>
              <a:schemeClr val="accent6"/>
            </a:solidFill>
            <a:prstDash val="solid"/>
          </a:ln>
        </p:spPr>
      </p:sp>
      <p:pic>
        <p:nvPicPr>
          <p:cNvPr id="17" name="icon FaCheckCircle" descr="FaCheckCircle">    </p:cNvPr>
          <p:cNvPicPr>
            <a:picLocks noChangeAspect="1"/>
          </p:cNvPicPr>
          <p:nvPr/>
        </p:nvPicPr>
        <p:blipFill>
          <a:blip r:embed="rId4"/>
          <a:stretch>
            <a:fillRect/>
          </a:stretch>
        </p:blipFill>
        <p:spPr>
          <a:xfrm>
            <a:off x="4746833" y="3384377"/>
            <a:ext cx="180685" cy="180685"/>
          </a:xfrm>
          <a:prstGeom prst="rect">
            <a:avLst/>
          </a:prstGeom>
        </p:spPr>
      </p:pic>
      <p:sp>
        <p:nvSpPr>
          <p:cNvPr id="18" name="Text 11"/>
          <p:cNvSpPr txBox="1"/>
          <p:nvPr/>
        </p:nvSpPr>
        <p:spPr>
          <a:xfrm>
            <a:off x="5166360" y="3273552"/>
            <a:ext cx="3520440" cy="457200"/>
          </a:xfrm>
          <a:prstGeom prst="rect">
            <a:avLst/>
          </a:prstGeom>
          <a:noFill/>
          <a:ln/>
        </p:spPr>
        <p:txBody>
          <a:bodyPr wrap="square" lIns="0" tIns="0" rIns="0" bIns="0" rtlCol="0" anchor="ctr"/>
          <a:lstStyle/>
          <a:p>
            <a:pPr indent="0" marL="0">
              <a:buNone/>
            </a:pPr>
            <a:r>
              <a:rPr lang="en-US" sz="1400" dirty="0">
                <a:solidFill>
                  <a:schemeClr val="tx1"/>
                </a:solidFill>
              </a:rPr>
              <a:t>One cause, one recommendation, one verification step</a:t>
            </a:r>
            <a:endParaRPr lang="en-US" sz="1400" dirty="0"/>
          </a:p>
        </p:txBody>
      </p:sp>
      <p:sp>
        <p:nvSpPr>
          <p:cNvPr id="19" name="icon circle"/>
          <p:cNvSpPr/>
          <p:nvPr/>
        </p:nvSpPr>
        <p:spPr>
          <a:xfrm>
            <a:off x="4663440" y="3867912"/>
            <a:ext cx="347472" cy="347472"/>
          </a:xfrm>
          <a:prstGeom prst="ellipse">
            <a:avLst/>
          </a:prstGeom>
          <a:solidFill>
            <a:schemeClr val="accent6"/>
          </a:solidFill>
          <a:ln w="12700">
            <a:solidFill>
              <a:schemeClr val="accent6"/>
            </a:solidFill>
            <a:prstDash val="solid"/>
          </a:ln>
        </p:spPr>
      </p:sp>
      <p:pic>
        <p:nvPicPr>
          <p:cNvPr id="20" name="icon FaCheckCircle" descr="FaCheckCircle">    </p:cNvPr>
          <p:cNvPicPr>
            <a:picLocks noChangeAspect="1"/>
          </p:cNvPicPr>
          <p:nvPr/>
        </p:nvPicPr>
        <p:blipFill>
          <a:blip r:embed="rId5"/>
          <a:stretch>
            <a:fillRect/>
          </a:stretch>
        </p:blipFill>
        <p:spPr>
          <a:xfrm>
            <a:off x="4746833" y="3951305"/>
            <a:ext cx="180685" cy="180685"/>
          </a:xfrm>
          <a:prstGeom prst="rect">
            <a:avLst/>
          </a:prstGeom>
        </p:spPr>
      </p:pic>
      <p:sp>
        <p:nvSpPr>
          <p:cNvPr id="21" name="Text 13"/>
          <p:cNvSpPr txBox="1"/>
          <p:nvPr/>
        </p:nvSpPr>
        <p:spPr>
          <a:xfrm>
            <a:off x="5166360" y="3840480"/>
            <a:ext cx="3520440" cy="457200"/>
          </a:xfrm>
          <a:prstGeom prst="rect">
            <a:avLst/>
          </a:prstGeom>
          <a:noFill/>
          <a:ln/>
        </p:spPr>
        <p:txBody>
          <a:bodyPr wrap="square" lIns="0" tIns="0" rIns="0" bIns="0" rtlCol="0" anchor="ctr"/>
          <a:lstStyle/>
          <a:p>
            <a:pPr indent="0" marL="0">
              <a:buNone/>
            </a:pPr>
            <a:r>
              <a:rPr lang="en-US" sz="1400" dirty="0">
                <a:solidFill>
                  <a:schemeClr val="tx1"/>
                </a:solidFill>
              </a:rPr>
              <a:t>No edits, pushes, reruns or fixes applied</a:t>
            </a:r>
            <a:endParaRPr lang="en-US" sz="1400" dirty="0"/>
          </a:p>
        </p:txBody>
      </p:sp>
      <p:sp>
        <p:nvSpPr>
          <p:cNvPr id="22" name="Text 14"/>
          <p:cNvSpPr txBox="1"/>
          <p:nvPr/>
        </p:nvSpPr>
        <p:spPr>
          <a:xfrm>
            <a:off x="457200" y="3108960"/>
            <a:ext cx="3931920" cy="822960"/>
          </a:xfrm>
          <a:prstGeom prst="rect">
            <a:avLst/>
          </a:prstGeom>
          <a:noFill/>
          <a:ln/>
        </p:spPr>
        <p:txBody>
          <a:bodyPr wrap="square" lIns="0" tIns="0" rIns="0" bIns="0" rtlCol="0" anchor="t"/>
          <a:lstStyle/>
          <a:p>
            <a:pPr indent="0" marL="0">
              <a:buNone/>
            </a:pPr>
            <a:r>
              <a:rPr lang="en-US" sz="1400" i="1" dirty="0">
                <a:solidFill>
                  <a:schemeClr val="tx2"/>
                </a:solidFill>
              </a:rPr>
              <a:t>The latest run is now the failed drill run, so the script reports that one.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 good triage report (illustrative)</a:t>
            </a:r>
            <a:endParaRPr lang="en-US" sz="3000" dirty="0"/>
          </a:p>
        </p:txBody>
      </p:sp>
      <p:sp>
        <p:nvSpPr>
          <p:cNvPr id="4" name="code panel"/>
          <p:cNvSpPr/>
          <p:nvPr/>
        </p:nvSpPr>
        <p:spPr>
          <a:xfrm>
            <a:off x="457200" y="1188720"/>
            <a:ext cx="8229600" cy="3154680"/>
          </a:xfrm>
          <a:prstGeom prst="roundRect">
            <a:avLst>
              <a:gd name="adj" fmla="val 2319"/>
            </a:avLst>
          </a:prstGeom>
          <a:solidFill>
            <a:schemeClr val="tx1"/>
          </a:solidFill>
          <a:ln w="12700">
            <a:solidFill>
              <a:schemeClr val="tx1"/>
            </a:solidFill>
            <a:prstDash val="solid"/>
          </a:ln>
        </p:spPr>
      </p:sp>
      <p:sp>
        <p:nvSpPr>
          <p:cNvPr id="5" name="code"/>
          <p:cNvSpPr txBox="1"/>
          <p:nvPr/>
        </p:nvSpPr>
        <p:spPr>
          <a:xfrm>
            <a:off x="621792" y="1298448"/>
            <a:ext cx="7900416" cy="29352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Overall status:   FAILED  (exit code 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Affected pipeline: Application Pipeline (ID 10)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Pipeline run ID:   &lt;your failed run id&gt;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Failure category:  Dependency installation failure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Evidence:          npm ERR! 404 Not Found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'not-a-real-package-xyz@1.0.0'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Likely cause:      package.json lists a dependency that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does not exist in the registry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Recommendation:    Review package.json and remove or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correct that entry (human applies).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Verify:            Re-run the pipeline, then triage again.</a:t>
            </a:r>
            <a:endParaRPr lang="en-US" sz="1200" dirty="0"/>
          </a:p>
        </p:txBody>
      </p:sp>
      <p:sp>
        <p:nvSpPr>
          <p:cNvPr id="6" name="Text 3"/>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300" i="1" dirty="0">
                <a:solidFill>
                  <a:schemeClr val="tx2"/>
                </a:solidFill>
              </a:rPr>
              <a:t>Illustrative only. No credentials appear; evidence is sanitised.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Save the evidence BEFORE you fix anything</a:t>
            </a:r>
            <a:endParaRPr lang="en-US" sz="3000" dirty="0"/>
          </a:p>
        </p:txBody>
      </p:sp>
      <p:sp>
        <p:nvSpPr>
          <p:cNvPr id="4" name="code panel"/>
          <p:cNvSpPr/>
          <p:nvPr/>
        </p:nvSpPr>
        <p:spPr>
          <a:xfrm>
            <a:off x="457200" y="1280160"/>
            <a:ext cx="8229600" cy="1005840"/>
          </a:xfrm>
          <a:prstGeom prst="roundRect">
            <a:avLst>
              <a:gd name="adj" fmla="val 7273"/>
            </a:avLst>
          </a:prstGeom>
          <a:solidFill>
            <a:schemeClr val="tx1"/>
          </a:solidFill>
          <a:ln w="12700">
            <a:solidFill>
              <a:schemeClr val="tx1"/>
            </a:solidFill>
            <a:prstDash val="solid"/>
          </a:ln>
        </p:spPr>
      </p:sp>
      <p:sp>
        <p:nvSpPr>
          <p:cNvPr id="5" name="code"/>
          <p:cNvSpPr txBox="1"/>
          <p:nvPr/>
        </p:nvSpPr>
        <p:spPr>
          <a:xfrm>
            <a:off x="621792" y="1389888"/>
            <a:ext cx="7900416" cy="78638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cp reports/pipeline-health-report.txt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reports/incident-failure-report.txt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cat reports/incident-failure-report.txt</a:t>
            </a:r>
            <a:endParaRPr lang="en-US" sz="1400" dirty="0"/>
          </a:p>
        </p:txBody>
      </p:sp>
      <p:sp>
        <p:nvSpPr>
          <p:cNvPr id="6" name="Text 3"/>
          <p:cNvSpPr txBox="1"/>
          <p:nvPr/>
        </p:nvSpPr>
        <p:spPr>
          <a:xfrm>
            <a:off x="457200" y="2514600"/>
            <a:ext cx="8229600" cy="320040"/>
          </a:xfrm>
          <a:prstGeom prst="rect">
            <a:avLst/>
          </a:prstGeom>
          <a:noFill/>
          <a:ln/>
        </p:spPr>
        <p:txBody>
          <a:bodyPr wrap="square" lIns="0" tIns="0" rIns="0" bIns="0" rtlCol="0" anchor="t"/>
          <a:lstStyle/>
          <a:p>
            <a:pPr indent="0" marL="0">
              <a:buNone/>
            </a:pPr>
            <a:r>
              <a:rPr lang="en-US" sz="1600" b="1" dirty="0">
                <a:solidFill>
                  <a:schemeClr val="tx1"/>
                </a:solidFill>
              </a:rPr>
              <a:t>The incident report should contain</a:t>
            </a:r>
            <a:endParaRPr lang="en-US" sz="1600" dirty="0"/>
          </a:p>
        </p:txBody>
      </p:sp>
      <p:sp>
        <p:nvSpPr>
          <p:cNvPr id="7" name="icon circle"/>
          <p:cNvSpPr/>
          <p:nvPr/>
        </p:nvSpPr>
        <p:spPr>
          <a:xfrm>
            <a:off x="457200" y="2926080"/>
            <a:ext cx="365760" cy="365760"/>
          </a:xfrm>
          <a:prstGeom prst="ellipse">
            <a:avLst/>
          </a:prstGeom>
          <a:solidFill>
            <a:schemeClr val="accent6"/>
          </a:solidFill>
          <a:ln w="12700">
            <a:solidFill>
              <a:schemeClr val="accent6"/>
            </a:solidFill>
            <a:prstDash val="solid"/>
          </a:ln>
        </p:spPr>
      </p:sp>
      <p:pic>
        <p:nvPicPr>
          <p:cNvPr id="8" name="icon FaCheckCircle" descr="FaCheckCircle">    </p:cNvPr>
          <p:cNvPicPr>
            <a:picLocks noChangeAspect="1"/>
          </p:cNvPicPr>
          <p:nvPr/>
        </p:nvPicPr>
        <p:blipFill>
          <a:blip r:embed="rId1"/>
          <a:stretch>
            <a:fillRect/>
          </a:stretch>
        </p:blipFill>
        <p:spPr>
          <a:xfrm>
            <a:off x="544982" y="3013862"/>
            <a:ext cx="190195" cy="190195"/>
          </a:xfrm>
          <a:prstGeom prst="rect">
            <a:avLst/>
          </a:prstGeom>
        </p:spPr>
      </p:pic>
      <p:sp>
        <p:nvSpPr>
          <p:cNvPr id="9" name="Text 5"/>
          <p:cNvSpPr txBox="1"/>
          <p:nvPr/>
        </p:nvSpPr>
        <p:spPr>
          <a:xfrm>
            <a:off x="960120" y="2926080"/>
            <a:ext cx="2194560" cy="365760"/>
          </a:xfrm>
          <a:prstGeom prst="rect">
            <a:avLst/>
          </a:prstGeom>
          <a:noFill/>
          <a:ln/>
        </p:spPr>
        <p:txBody>
          <a:bodyPr wrap="square" lIns="0" tIns="0" rIns="0" bIns="0" rtlCol="0" anchor="ctr"/>
          <a:lstStyle/>
          <a:p>
            <a:pPr indent="0" marL="0">
              <a:buNone/>
            </a:pPr>
            <a:r>
              <a:rPr lang="en-US" sz="1400" dirty="0">
                <a:solidFill>
                  <a:schemeClr val="tx1"/>
                </a:solidFill>
              </a:rPr>
              <a:t>Your full name</a:t>
            </a:r>
            <a:endParaRPr lang="en-US" sz="1400" dirty="0"/>
          </a:p>
        </p:txBody>
      </p:sp>
      <p:sp>
        <p:nvSpPr>
          <p:cNvPr id="10" name="icon circle"/>
          <p:cNvSpPr/>
          <p:nvPr/>
        </p:nvSpPr>
        <p:spPr>
          <a:xfrm>
            <a:off x="3291840" y="2926080"/>
            <a:ext cx="365760" cy="365760"/>
          </a:xfrm>
          <a:prstGeom prst="ellipse">
            <a:avLst/>
          </a:prstGeom>
          <a:solidFill>
            <a:schemeClr val="accent6"/>
          </a:solidFill>
          <a:ln w="12700">
            <a:solidFill>
              <a:schemeClr val="accent6"/>
            </a:solidFill>
            <a:prstDash val="solid"/>
          </a:ln>
        </p:spPr>
      </p:sp>
      <p:pic>
        <p:nvPicPr>
          <p:cNvPr id="11" name="icon FaCheckCircle" descr="FaCheckCircle">    </p:cNvPr>
          <p:cNvPicPr>
            <a:picLocks noChangeAspect="1"/>
          </p:cNvPicPr>
          <p:nvPr/>
        </p:nvPicPr>
        <p:blipFill>
          <a:blip r:embed="rId2"/>
          <a:stretch>
            <a:fillRect/>
          </a:stretch>
        </p:blipFill>
        <p:spPr>
          <a:xfrm>
            <a:off x="3379622" y="3013862"/>
            <a:ext cx="190195" cy="190195"/>
          </a:xfrm>
          <a:prstGeom prst="rect">
            <a:avLst/>
          </a:prstGeom>
        </p:spPr>
      </p:pic>
      <p:sp>
        <p:nvSpPr>
          <p:cNvPr id="12" name="Text 7"/>
          <p:cNvSpPr txBox="1"/>
          <p:nvPr/>
        </p:nvSpPr>
        <p:spPr>
          <a:xfrm>
            <a:off x="3794760" y="2926080"/>
            <a:ext cx="2194560" cy="365760"/>
          </a:xfrm>
          <a:prstGeom prst="rect">
            <a:avLst/>
          </a:prstGeom>
          <a:noFill/>
          <a:ln/>
        </p:spPr>
        <p:txBody>
          <a:bodyPr wrap="square" lIns="0" tIns="0" rIns="0" bIns="0" rtlCol="0" anchor="ctr"/>
          <a:lstStyle/>
          <a:p>
            <a:pPr indent="0" marL="0">
              <a:buNone/>
            </a:pPr>
            <a:r>
              <a:rPr lang="en-US" sz="1400" dirty="0">
                <a:solidFill>
                  <a:schemeClr val="tx1"/>
                </a:solidFill>
              </a:rPr>
              <a:t>Pipeline name and run ID</a:t>
            </a:r>
            <a:endParaRPr lang="en-US" sz="1400" dirty="0"/>
          </a:p>
        </p:txBody>
      </p:sp>
      <p:sp>
        <p:nvSpPr>
          <p:cNvPr id="13" name="icon circle"/>
          <p:cNvSpPr/>
          <p:nvPr/>
        </p:nvSpPr>
        <p:spPr>
          <a:xfrm>
            <a:off x="6126480" y="2926080"/>
            <a:ext cx="365760" cy="365760"/>
          </a:xfrm>
          <a:prstGeom prst="ellipse">
            <a:avLst/>
          </a:prstGeom>
          <a:solidFill>
            <a:schemeClr val="accent6"/>
          </a:solidFill>
          <a:ln w="12700">
            <a:solidFill>
              <a:schemeClr val="accent6"/>
            </a:solidFill>
            <a:prstDash val="solid"/>
          </a:ln>
        </p:spPr>
      </p:sp>
      <p:pic>
        <p:nvPicPr>
          <p:cNvPr id="14" name="icon FaCheckCircle" descr="FaCheckCircle">    </p:cNvPr>
          <p:cNvPicPr>
            <a:picLocks noChangeAspect="1"/>
          </p:cNvPicPr>
          <p:nvPr/>
        </p:nvPicPr>
        <p:blipFill>
          <a:blip r:embed="rId3"/>
          <a:stretch>
            <a:fillRect/>
          </a:stretch>
        </p:blipFill>
        <p:spPr>
          <a:xfrm>
            <a:off x="6214262" y="3013862"/>
            <a:ext cx="190195" cy="190195"/>
          </a:xfrm>
          <a:prstGeom prst="rect">
            <a:avLst/>
          </a:prstGeom>
        </p:spPr>
      </p:pic>
      <p:sp>
        <p:nvSpPr>
          <p:cNvPr id="15" name="Text 9"/>
          <p:cNvSpPr txBox="1"/>
          <p:nvPr/>
        </p:nvSpPr>
        <p:spPr>
          <a:xfrm>
            <a:off x="6629400" y="2926080"/>
            <a:ext cx="2194560" cy="365760"/>
          </a:xfrm>
          <a:prstGeom prst="rect">
            <a:avLst/>
          </a:prstGeom>
          <a:noFill/>
          <a:ln/>
        </p:spPr>
        <p:txBody>
          <a:bodyPr wrap="square" lIns="0" tIns="0" rIns="0" bIns="0" rtlCol="0" anchor="ctr"/>
          <a:lstStyle/>
          <a:p>
            <a:pPr indent="0" marL="0">
              <a:buNone/>
            </a:pPr>
            <a:r>
              <a:rPr lang="en-US" sz="1400" dirty="0">
                <a:solidFill>
                  <a:schemeClr val="tx1"/>
                </a:solidFill>
              </a:rPr>
              <a:t>Failure category</a:t>
            </a:r>
            <a:endParaRPr lang="en-US" sz="1400" dirty="0"/>
          </a:p>
        </p:txBody>
      </p:sp>
      <p:sp>
        <p:nvSpPr>
          <p:cNvPr id="16" name="icon circle"/>
          <p:cNvSpPr/>
          <p:nvPr/>
        </p:nvSpPr>
        <p:spPr>
          <a:xfrm>
            <a:off x="457200" y="3566160"/>
            <a:ext cx="365760" cy="365760"/>
          </a:xfrm>
          <a:prstGeom prst="ellipse">
            <a:avLst/>
          </a:prstGeom>
          <a:solidFill>
            <a:schemeClr val="accent6"/>
          </a:solidFill>
          <a:ln w="12700">
            <a:solidFill>
              <a:schemeClr val="accent6"/>
            </a:solidFill>
            <a:prstDash val="solid"/>
          </a:ln>
        </p:spPr>
      </p:sp>
      <p:pic>
        <p:nvPicPr>
          <p:cNvPr id="17" name="icon FaCheckCircle" descr="FaCheckCircle">    </p:cNvPr>
          <p:cNvPicPr>
            <a:picLocks noChangeAspect="1"/>
          </p:cNvPicPr>
          <p:nvPr/>
        </p:nvPicPr>
        <p:blipFill>
          <a:blip r:embed="rId4"/>
          <a:stretch>
            <a:fillRect/>
          </a:stretch>
        </p:blipFill>
        <p:spPr>
          <a:xfrm>
            <a:off x="544982" y="3653942"/>
            <a:ext cx="190195" cy="190195"/>
          </a:xfrm>
          <a:prstGeom prst="rect">
            <a:avLst/>
          </a:prstGeom>
        </p:spPr>
      </p:pic>
      <p:sp>
        <p:nvSpPr>
          <p:cNvPr id="18" name="Text 11"/>
          <p:cNvSpPr txBox="1"/>
          <p:nvPr/>
        </p:nvSpPr>
        <p:spPr>
          <a:xfrm>
            <a:off x="960120" y="3566160"/>
            <a:ext cx="2194560" cy="365760"/>
          </a:xfrm>
          <a:prstGeom prst="rect">
            <a:avLst/>
          </a:prstGeom>
          <a:noFill/>
          <a:ln/>
        </p:spPr>
        <p:txBody>
          <a:bodyPr wrap="square" lIns="0" tIns="0" rIns="0" bIns="0" rtlCol="0" anchor="ctr"/>
          <a:lstStyle/>
          <a:p>
            <a:pPr indent="0" marL="0">
              <a:buNone/>
            </a:pPr>
            <a:r>
              <a:rPr lang="en-US" sz="1400" dirty="0">
                <a:solidFill>
                  <a:schemeClr val="tx1"/>
                </a:solidFill>
              </a:rPr>
              <a:t>Sanitised evidence</a:t>
            </a:r>
            <a:endParaRPr lang="en-US" sz="1400" dirty="0"/>
          </a:p>
        </p:txBody>
      </p:sp>
      <p:sp>
        <p:nvSpPr>
          <p:cNvPr id="19" name="icon circle"/>
          <p:cNvSpPr/>
          <p:nvPr/>
        </p:nvSpPr>
        <p:spPr>
          <a:xfrm>
            <a:off x="3291840" y="3566160"/>
            <a:ext cx="365760" cy="365760"/>
          </a:xfrm>
          <a:prstGeom prst="ellipse">
            <a:avLst/>
          </a:prstGeom>
          <a:solidFill>
            <a:schemeClr val="accent6"/>
          </a:solidFill>
          <a:ln w="12700">
            <a:solidFill>
              <a:schemeClr val="accent6"/>
            </a:solidFill>
            <a:prstDash val="solid"/>
          </a:ln>
        </p:spPr>
      </p:sp>
      <p:pic>
        <p:nvPicPr>
          <p:cNvPr id="20" name="icon FaCheckCircle" descr="FaCheckCircle">    </p:cNvPr>
          <p:cNvPicPr>
            <a:picLocks noChangeAspect="1"/>
          </p:cNvPicPr>
          <p:nvPr/>
        </p:nvPicPr>
        <p:blipFill>
          <a:blip r:embed="rId5"/>
          <a:stretch>
            <a:fillRect/>
          </a:stretch>
        </p:blipFill>
        <p:spPr>
          <a:xfrm>
            <a:off x="3379622" y="3653942"/>
            <a:ext cx="190195" cy="190195"/>
          </a:xfrm>
          <a:prstGeom prst="rect">
            <a:avLst/>
          </a:prstGeom>
        </p:spPr>
      </p:pic>
      <p:sp>
        <p:nvSpPr>
          <p:cNvPr id="21" name="Text 13"/>
          <p:cNvSpPr txBox="1"/>
          <p:nvPr/>
        </p:nvSpPr>
        <p:spPr>
          <a:xfrm>
            <a:off x="3794760" y="3566160"/>
            <a:ext cx="2194560" cy="365760"/>
          </a:xfrm>
          <a:prstGeom prst="rect">
            <a:avLst/>
          </a:prstGeom>
          <a:noFill/>
          <a:ln/>
        </p:spPr>
        <p:txBody>
          <a:bodyPr wrap="square" lIns="0" tIns="0" rIns="0" bIns="0" rtlCol="0" anchor="ctr"/>
          <a:lstStyle/>
          <a:p>
            <a:pPr indent="0" marL="0">
              <a:buNone/>
            </a:pPr>
            <a:r>
              <a:rPr lang="en-US" sz="1400" dirty="0">
                <a:solidFill>
                  <a:schemeClr val="tx1"/>
                </a:solidFill>
              </a:rPr>
              <a:t>Recommended action</a:t>
            </a:r>
            <a:endParaRPr lang="en-US" sz="1400" dirty="0"/>
          </a:p>
        </p:txBody>
      </p:sp>
      <p:sp>
        <p:nvSpPr>
          <p:cNvPr id="22" name="callout"/>
          <p:cNvSpPr/>
          <p:nvPr/>
        </p:nvSpPr>
        <p:spPr>
          <a:xfrm>
            <a:off x="457200" y="4160520"/>
            <a:ext cx="8229600" cy="548640"/>
          </a:xfrm>
          <a:prstGeom prst="roundRect">
            <a:avLst>
              <a:gd name="adj" fmla="val 16667"/>
            </a:avLst>
          </a:prstGeom>
          <a:solidFill>
            <a:schemeClr val="accent2"/>
          </a:solidFill>
          <a:ln w="12700">
            <a:solidFill>
              <a:schemeClr val="accent2"/>
            </a:solidFill>
            <a:prstDash val="solid"/>
          </a:ln>
        </p:spPr>
      </p:sp>
      <p:sp>
        <p:nvSpPr>
          <p:cNvPr id="23" name="Text 15"/>
          <p:cNvSpPr txBox="1"/>
          <p:nvPr/>
        </p:nvSpPr>
        <p:spPr>
          <a:xfrm>
            <a:off x="685800" y="416052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Evidence first, then fix. Never overwrite the proof.</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Task 8: the human applies the fix</a:t>
            </a:r>
            <a:endParaRPr lang="en-US" sz="3000" dirty="0"/>
          </a:p>
        </p:txBody>
      </p:sp>
      <p:sp>
        <p:nvSpPr>
          <p:cNvPr id="4" name="step 1"/>
          <p:cNvSpPr/>
          <p:nvPr/>
        </p:nvSpPr>
        <p:spPr>
          <a:xfrm>
            <a:off x="457200" y="1234440"/>
            <a:ext cx="1817370" cy="1783080"/>
          </a:xfrm>
          <a:prstGeom prst="roundRect">
            <a:avLst>
              <a:gd name="adj" fmla="val 5128"/>
            </a:avLst>
          </a:prstGeom>
          <a:solidFill>
            <a:schemeClr val="accent6"/>
          </a:solidFill>
          <a:ln w="12700">
            <a:solidFill>
              <a:schemeClr val="accent6"/>
            </a:solidFill>
            <a:prstDash val="solid"/>
          </a:ln>
        </p:spPr>
      </p:sp>
      <p:sp>
        <p:nvSpPr>
          <p:cNvPr id="5" name="Shape 2"/>
          <p:cNvSpPr/>
          <p:nvPr/>
        </p:nvSpPr>
        <p:spPr>
          <a:xfrm>
            <a:off x="594360" y="1371600"/>
            <a:ext cx="411480" cy="411480"/>
          </a:xfrm>
          <a:prstGeom prst="ellipse">
            <a:avLst/>
          </a:prstGeom>
          <a:solidFill>
            <a:schemeClr val="bg1">
              <a:alpha val="18000"/>
            </a:schemeClr>
          </a:solidFill>
          <a:ln w="12700">
            <a:solidFill>
              <a:schemeClr val="bg1"/>
            </a:solidFill>
            <a:prstDash val="solid"/>
          </a:ln>
        </p:spPr>
      </p:sp>
      <p:pic>
        <p:nvPicPr>
          <p:cNvPr id="6" name="Image 0" descr="FaUserCheck">    </p:cNvPr>
          <p:cNvPicPr>
            <a:picLocks noChangeAspect="1"/>
          </p:cNvPicPr>
          <p:nvPr/>
        </p:nvPicPr>
        <p:blipFill>
          <a:blip r:embed="rId1"/>
          <a:stretch>
            <a:fillRect/>
          </a:stretch>
        </p:blipFill>
        <p:spPr>
          <a:xfrm>
            <a:off x="694944" y="1472184"/>
            <a:ext cx="210312" cy="210312"/>
          </a:xfrm>
          <a:prstGeom prst="rect">
            <a:avLst/>
          </a:prstGeom>
        </p:spPr>
      </p:pic>
      <p:sp>
        <p:nvSpPr>
          <p:cNvPr id="7" name="Text 3"/>
          <p:cNvSpPr txBox="1"/>
          <p:nvPr/>
        </p:nvSpPr>
        <p:spPr>
          <a:xfrm>
            <a:off x="594360" y="1874520"/>
            <a:ext cx="1543050" cy="1051560"/>
          </a:xfrm>
          <a:prstGeom prst="rect">
            <a:avLst/>
          </a:prstGeom>
          <a:noFill/>
          <a:ln/>
        </p:spPr>
        <p:txBody>
          <a:bodyPr wrap="square" lIns="0" tIns="0" rIns="0" bIns="0" rtlCol="0" anchor="t"/>
          <a:lstStyle/>
          <a:p>
            <a:pPr indent="0" marL="0">
              <a:buNone/>
            </a:pPr>
            <a:r>
              <a:rPr lang="en-US" sz="1500" b="1" dirty="0">
                <a:solidFill>
                  <a:schemeClr val="bg1"/>
                </a:solidFill>
              </a:rPr>
              <a:t>Review</a:t>
            </a:r>
            <a:endParaRPr lang="en-US" sz="1500" dirty="0"/>
          </a:p>
          <a:p>
            <a:pPr indent="0" marL="0">
              <a:buNone/>
            </a:pPr>
            <a:r>
              <a:rPr lang="en-US" sz="1300" dirty="0">
                <a:solidFill>
                  <a:schemeClr val="bg1"/>
                </a:solidFill>
              </a:rPr>
              <a:t>Does the advice match the log?</a:t>
            </a:r>
            <a:endParaRPr lang="en-US" sz="1500" dirty="0"/>
          </a:p>
        </p:txBody>
      </p:sp>
      <p:sp>
        <p:nvSpPr>
          <p:cNvPr id="8" name="arrow"/>
          <p:cNvSpPr/>
          <p:nvPr/>
        </p:nvSpPr>
        <p:spPr>
          <a:xfrm>
            <a:off x="2320290" y="2125980"/>
            <a:ext cx="228600" cy="0"/>
          </a:xfrm>
          <a:prstGeom prst="line">
            <a:avLst/>
          </a:prstGeom>
          <a:noFill/>
          <a:ln w="28575">
            <a:solidFill>
              <a:schemeClr val="tx2"/>
            </a:solidFill>
            <a:prstDash val="solid"/>
            <a:tailEnd type="triangle"/>
          </a:ln>
        </p:spPr>
      </p:sp>
      <p:sp>
        <p:nvSpPr>
          <p:cNvPr id="9" name="step 2"/>
          <p:cNvSpPr/>
          <p:nvPr/>
        </p:nvSpPr>
        <p:spPr>
          <a:xfrm>
            <a:off x="2594610" y="1234440"/>
            <a:ext cx="1817370" cy="1783080"/>
          </a:xfrm>
          <a:prstGeom prst="roundRect">
            <a:avLst>
              <a:gd name="adj" fmla="val 5128"/>
            </a:avLst>
          </a:prstGeom>
          <a:solidFill>
            <a:schemeClr val="accent4"/>
          </a:solidFill>
          <a:ln w="12700">
            <a:solidFill>
              <a:schemeClr val="accent4"/>
            </a:solidFill>
            <a:prstDash val="solid"/>
          </a:ln>
        </p:spPr>
      </p:sp>
      <p:sp>
        <p:nvSpPr>
          <p:cNvPr id="10" name="Shape 6"/>
          <p:cNvSpPr/>
          <p:nvPr/>
        </p:nvSpPr>
        <p:spPr>
          <a:xfrm>
            <a:off x="2731770" y="1371600"/>
            <a:ext cx="411480" cy="411480"/>
          </a:xfrm>
          <a:prstGeom prst="ellipse">
            <a:avLst/>
          </a:prstGeom>
          <a:solidFill>
            <a:schemeClr val="bg1">
              <a:alpha val="18000"/>
            </a:schemeClr>
          </a:solidFill>
          <a:ln w="12700">
            <a:solidFill>
              <a:schemeClr val="bg1"/>
            </a:solidFill>
            <a:prstDash val="solid"/>
          </a:ln>
        </p:spPr>
      </p:sp>
      <p:pic>
        <p:nvPicPr>
          <p:cNvPr id="11" name="Image 1" descr="FaUndo">    </p:cNvPr>
          <p:cNvPicPr>
            <a:picLocks noChangeAspect="1"/>
          </p:cNvPicPr>
          <p:nvPr/>
        </p:nvPicPr>
        <p:blipFill>
          <a:blip r:embed="rId2"/>
          <a:stretch>
            <a:fillRect/>
          </a:stretch>
        </p:blipFill>
        <p:spPr>
          <a:xfrm>
            <a:off x="2832354" y="1472184"/>
            <a:ext cx="210312" cy="210312"/>
          </a:xfrm>
          <a:prstGeom prst="rect">
            <a:avLst/>
          </a:prstGeom>
        </p:spPr>
      </p:pic>
      <p:sp>
        <p:nvSpPr>
          <p:cNvPr id="12" name="Text 7"/>
          <p:cNvSpPr txBox="1"/>
          <p:nvPr/>
        </p:nvSpPr>
        <p:spPr>
          <a:xfrm>
            <a:off x="2731770" y="1874520"/>
            <a:ext cx="1543050" cy="1051560"/>
          </a:xfrm>
          <a:prstGeom prst="rect">
            <a:avLst/>
          </a:prstGeom>
          <a:noFill/>
          <a:ln/>
        </p:spPr>
        <p:txBody>
          <a:bodyPr wrap="square" lIns="0" tIns="0" rIns="0" bIns="0" rtlCol="0" anchor="t"/>
          <a:lstStyle/>
          <a:p>
            <a:pPr indent="0" marL="0">
              <a:buNone/>
            </a:pPr>
            <a:r>
              <a:rPr lang="en-US" sz="1500" b="1" dirty="0">
                <a:solidFill>
                  <a:schemeClr val="bg1"/>
                </a:solidFill>
              </a:rPr>
              <a:t>git revert</a:t>
            </a:r>
            <a:endParaRPr lang="en-US" sz="1500" dirty="0"/>
          </a:p>
          <a:p>
            <a:pPr indent="0" marL="0">
              <a:buNone/>
            </a:pPr>
            <a:r>
              <a:rPr lang="en-US" sz="1300" dirty="0">
                <a:solidFill>
                  <a:schemeClr val="bg1"/>
                </a:solidFill>
              </a:rPr>
              <a:t>Undo the bad commit</a:t>
            </a:r>
            <a:endParaRPr lang="en-US" sz="1500" dirty="0"/>
          </a:p>
        </p:txBody>
      </p:sp>
      <p:sp>
        <p:nvSpPr>
          <p:cNvPr id="13" name="arrow"/>
          <p:cNvSpPr/>
          <p:nvPr/>
        </p:nvSpPr>
        <p:spPr>
          <a:xfrm>
            <a:off x="4457700" y="2125980"/>
            <a:ext cx="228600" cy="0"/>
          </a:xfrm>
          <a:prstGeom prst="line">
            <a:avLst/>
          </a:prstGeom>
          <a:noFill/>
          <a:ln w="28575">
            <a:solidFill>
              <a:schemeClr val="tx2"/>
            </a:solidFill>
            <a:prstDash val="solid"/>
            <a:tailEnd type="triangle"/>
          </a:ln>
        </p:spPr>
      </p:sp>
      <p:sp>
        <p:nvSpPr>
          <p:cNvPr id="14" name="step 3"/>
          <p:cNvSpPr/>
          <p:nvPr/>
        </p:nvSpPr>
        <p:spPr>
          <a:xfrm>
            <a:off x="4732020" y="1234440"/>
            <a:ext cx="1817370" cy="1783080"/>
          </a:xfrm>
          <a:prstGeom prst="roundRect">
            <a:avLst>
              <a:gd name="adj" fmla="val 5128"/>
            </a:avLst>
          </a:prstGeom>
          <a:solidFill>
            <a:schemeClr val="accent5"/>
          </a:solidFill>
          <a:ln w="12700">
            <a:solidFill>
              <a:schemeClr val="accent5"/>
            </a:solidFill>
            <a:prstDash val="solid"/>
          </a:ln>
        </p:spPr>
      </p:sp>
      <p:sp>
        <p:nvSpPr>
          <p:cNvPr id="15" name="Shape 10"/>
          <p:cNvSpPr/>
          <p:nvPr/>
        </p:nvSpPr>
        <p:spPr>
          <a:xfrm>
            <a:off x="4869180" y="1371600"/>
            <a:ext cx="411480" cy="411480"/>
          </a:xfrm>
          <a:prstGeom prst="ellipse">
            <a:avLst/>
          </a:prstGeom>
          <a:solidFill>
            <a:schemeClr val="bg1">
              <a:alpha val="18000"/>
            </a:schemeClr>
          </a:solidFill>
          <a:ln w="12700">
            <a:solidFill>
              <a:schemeClr val="bg1"/>
            </a:solidFill>
            <a:prstDash val="solid"/>
          </a:ln>
        </p:spPr>
      </p:sp>
      <p:pic>
        <p:nvPicPr>
          <p:cNvPr id="16" name="Image 2" descr="FaCloudUploadAlt">    </p:cNvPr>
          <p:cNvPicPr>
            <a:picLocks noChangeAspect="1"/>
          </p:cNvPicPr>
          <p:nvPr/>
        </p:nvPicPr>
        <p:blipFill>
          <a:blip r:embed="rId3"/>
          <a:stretch>
            <a:fillRect/>
          </a:stretch>
        </p:blipFill>
        <p:spPr>
          <a:xfrm>
            <a:off x="4969764" y="1472184"/>
            <a:ext cx="210312" cy="210312"/>
          </a:xfrm>
          <a:prstGeom prst="rect">
            <a:avLst/>
          </a:prstGeom>
        </p:spPr>
      </p:pic>
      <p:sp>
        <p:nvSpPr>
          <p:cNvPr id="17" name="Text 11"/>
          <p:cNvSpPr txBox="1"/>
          <p:nvPr/>
        </p:nvSpPr>
        <p:spPr>
          <a:xfrm>
            <a:off x="4869180" y="1874520"/>
            <a:ext cx="1543050" cy="1051560"/>
          </a:xfrm>
          <a:prstGeom prst="rect">
            <a:avLst/>
          </a:prstGeom>
          <a:noFill/>
          <a:ln/>
        </p:spPr>
        <p:txBody>
          <a:bodyPr wrap="square" lIns="0" tIns="0" rIns="0" bIns="0" rtlCol="0" anchor="t"/>
          <a:lstStyle/>
          <a:p>
            <a:pPr indent="0" marL="0">
              <a:buNone/>
            </a:pPr>
            <a:r>
              <a:rPr lang="en-US" sz="1500" b="1" dirty="0">
                <a:solidFill>
                  <a:schemeClr val="bg1"/>
                </a:solidFill>
              </a:rPr>
              <a:t>Push</a:t>
            </a:r>
            <a:endParaRPr lang="en-US" sz="1500" dirty="0"/>
          </a:p>
          <a:p>
            <a:pPr indent="0" marL="0">
              <a:buNone/>
            </a:pPr>
            <a:r>
              <a:rPr lang="en-US" sz="1300" dirty="0">
                <a:solidFill>
                  <a:schemeClr val="bg1"/>
                </a:solidFill>
              </a:rPr>
              <a:t>Update drill branch</a:t>
            </a:r>
            <a:endParaRPr lang="en-US" sz="1500" dirty="0"/>
          </a:p>
        </p:txBody>
      </p:sp>
      <p:sp>
        <p:nvSpPr>
          <p:cNvPr id="18" name="arrow"/>
          <p:cNvSpPr/>
          <p:nvPr/>
        </p:nvSpPr>
        <p:spPr>
          <a:xfrm>
            <a:off x="6595110" y="2125980"/>
            <a:ext cx="228600" cy="0"/>
          </a:xfrm>
          <a:prstGeom prst="line">
            <a:avLst/>
          </a:prstGeom>
          <a:noFill/>
          <a:ln w="28575">
            <a:solidFill>
              <a:schemeClr val="tx2"/>
            </a:solidFill>
            <a:prstDash val="solid"/>
            <a:tailEnd type="triangle"/>
          </a:ln>
        </p:spPr>
      </p:sp>
      <p:sp>
        <p:nvSpPr>
          <p:cNvPr id="19" name="step 4"/>
          <p:cNvSpPr/>
          <p:nvPr/>
        </p:nvSpPr>
        <p:spPr>
          <a:xfrm>
            <a:off x="6869430" y="1234440"/>
            <a:ext cx="1817370" cy="1783080"/>
          </a:xfrm>
          <a:prstGeom prst="roundRect">
            <a:avLst>
              <a:gd name="adj" fmla="val 5128"/>
            </a:avLst>
          </a:prstGeom>
          <a:solidFill>
            <a:schemeClr val="accent2"/>
          </a:solidFill>
          <a:ln w="12700">
            <a:solidFill>
              <a:schemeClr val="accent2"/>
            </a:solidFill>
            <a:prstDash val="solid"/>
          </a:ln>
        </p:spPr>
      </p:sp>
      <p:sp>
        <p:nvSpPr>
          <p:cNvPr id="20" name="Shape 14"/>
          <p:cNvSpPr/>
          <p:nvPr/>
        </p:nvSpPr>
        <p:spPr>
          <a:xfrm>
            <a:off x="7006590" y="1371600"/>
            <a:ext cx="411480" cy="411480"/>
          </a:xfrm>
          <a:prstGeom prst="ellipse">
            <a:avLst/>
          </a:prstGeom>
          <a:solidFill>
            <a:schemeClr val="bg1">
              <a:alpha val="18000"/>
            </a:schemeClr>
          </a:solidFill>
          <a:ln w="12700">
            <a:solidFill>
              <a:schemeClr val="bg1"/>
            </a:solidFill>
            <a:prstDash val="solid"/>
          </a:ln>
        </p:spPr>
      </p:sp>
      <p:pic>
        <p:nvPicPr>
          <p:cNvPr id="21" name="Image 3" descr="FaRedo">    </p:cNvPr>
          <p:cNvPicPr>
            <a:picLocks noChangeAspect="1"/>
          </p:cNvPicPr>
          <p:nvPr/>
        </p:nvPicPr>
        <p:blipFill>
          <a:blip r:embed="rId4"/>
          <a:stretch>
            <a:fillRect/>
          </a:stretch>
        </p:blipFill>
        <p:spPr>
          <a:xfrm>
            <a:off x="7107174" y="1472184"/>
            <a:ext cx="210312" cy="210312"/>
          </a:xfrm>
          <a:prstGeom prst="rect">
            <a:avLst/>
          </a:prstGeom>
        </p:spPr>
      </p:pic>
      <p:sp>
        <p:nvSpPr>
          <p:cNvPr id="22" name="Text 15"/>
          <p:cNvSpPr txBox="1"/>
          <p:nvPr/>
        </p:nvSpPr>
        <p:spPr>
          <a:xfrm>
            <a:off x="7006590" y="1874520"/>
            <a:ext cx="1543050" cy="1051560"/>
          </a:xfrm>
          <a:prstGeom prst="rect">
            <a:avLst/>
          </a:prstGeom>
          <a:noFill/>
          <a:ln/>
        </p:spPr>
        <p:txBody>
          <a:bodyPr wrap="square" lIns="0" tIns="0" rIns="0" bIns="0" rtlCol="0" anchor="t"/>
          <a:lstStyle/>
          <a:p>
            <a:pPr indent="0" marL="0">
              <a:buNone/>
            </a:pPr>
            <a:r>
              <a:rPr lang="en-US" sz="1500" b="1" dirty="0">
                <a:solidFill>
                  <a:schemeClr val="bg1"/>
                </a:solidFill>
              </a:rPr>
              <a:t>Re-queue</a:t>
            </a:r>
            <a:endParaRPr lang="en-US" sz="1500" dirty="0"/>
          </a:p>
          <a:p>
            <a:pPr indent="0" marL="0">
              <a:buNone/>
            </a:pPr>
            <a:r>
              <a:rPr lang="en-US" sz="1300" dirty="0">
                <a:solidFill>
                  <a:schemeClr val="bg1"/>
                </a:solidFill>
              </a:rPr>
              <a:t>Run pipeline 10 again</a:t>
            </a:r>
            <a:endParaRPr lang="en-US" sz="1500" dirty="0"/>
          </a:p>
        </p:txBody>
      </p:sp>
      <p:sp>
        <p:nvSpPr>
          <p:cNvPr id="23" name="code panel"/>
          <p:cNvSpPr/>
          <p:nvPr/>
        </p:nvSpPr>
        <p:spPr>
          <a:xfrm>
            <a:off x="457200" y="3200400"/>
            <a:ext cx="8229600" cy="1280160"/>
          </a:xfrm>
          <a:prstGeom prst="roundRect">
            <a:avLst>
              <a:gd name="adj" fmla="val 5714"/>
            </a:avLst>
          </a:prstGeom>
          <a:solidFill>
            <a:schemeClr val="tx1"/>
          </a:solidFill>
          <a:ln w="12700">
            <a:solidFill>
              <a:schemeClr val="tx1"/>
            </a:solidFill>
            <a:prstDash val="solid"/>
          </a:ln>
        </p:spPr>
      </p:sp>
      <p:sp>
        <p:nvSpPr>
          <p:cNvPr id="24" name="code"/>
          <p:cNvSpPr txBox="1"/>
          <p:nvPr/>
        </p:nvSpPr>
        <p:spPr>
          <a:xfrm>
            <a:off x="621792" y="3310128"/>
            <a:ext cx="7900416" cy="10607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git checkout drill/pipeline-failure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revert --no-edit HEAD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push origin drill/pipeline-failure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az pipelines run --id 10 --branch drill/pipeline-failure   # plus org/project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Verify recovery: triage again</a:t>
            </a:r>
            <a:endParaRPr lang="en-US" sz="3000" dirty="0"/>
          </a:p>
        </p:txBody>
      </p:sp>
      <p:sp>
        <p:nvSpPr>
          <p:cNvPr id="4" name="code panel"/>
          <p:cNvSpPr/>
          <p:nvPr/>
        </p:nvSpPr>
        <p:spPr>
          <a:xfrm>
            <a:off x="457200" y="1234440"/>
            <a:ext cx="5212080" cy="2286000"/>
          </a:xfrm>
          <a:prstGeom prst="roundRect">
            <a:avLst>
              <a:gd name="adj" fmla="val 3200"/>
            </a:avLst>
          </a:prstGeom>
          <a:solidFill>
            <a:schemeClr val="tx1"/>
          </a:solidFill>
          <a:ln w="12700">
            <a:solidFill>
              <a:schemeClr val="tx1"/>
            </a:solidFill>
            <a:prstDash val="solid"/>
          </a:ln>
        </p:spPr>
      </p:sp>
      <p:sp>
        <p:nvSpPr>
          <p:cNvPr id="5" name="code"/>
          <p:cNvSpPr txBox="1"/>
          <p:nvPr/>
        </p:nvSpPr>
        <p:spPr>
          <a:xfrm>
            <a:off x="621792" y="1344168"/>
            <a:ext cx="4882896" cy="20665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az pipelines runs list --pipeline-ids 10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--branch drill/pipeline-failure --top 1 -o table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claude        # then /pipeline-triage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cp reports/pipeline-health-report.txt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reports/recovery-report.txt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ls -la reports/incident-failure-report.txt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reports/recovery-report.txt</a:t>
            </a:r>
            <a:endParaRPr lang="en-US" sz="1200" dirty="0"/>
          </a:p>
        </p:txBody>
      </p:sp>
      <p:sp>
        <p:nvSpPr>
          <p:cNvPr id="6" name="Shape 3"/>
          <p:cNvSpPr/>
          <p:nvPr/>
        </p:nvSpPr>
        <p:spPr>
          <a:xfrm>
            <a:off x="5943600" y="1234440"/>
            <a:ext cx="2743200" cy="2286000"/>
          </a:xfrm>
          <a:prstGeom prst="roundRect">
            <a:avLst>
              <a:gd name="adj" fmla="val 4000"/>
            </a:avLst>
          </a:prstGeom>
          <a:solidFill>
            <a:schemeClr val="accent6"/>
          </a:solidFill>
          <a:ln w="12700">
            <a:solidFill>
              <a:schemeClr val="accent6"/>
            </a:solidFill>
            <a:prstDash val="solid"/>
          </a:ln>
        </p:spPr>
      </p:sp>
      <p:sp>
        <p:nvSpPr>
          <p:cNvPr id="7" name="Text 4"/>
          <p:cNvSpPr txBox="1"/>
          <p:nvPr/>
        </p:nvSpPr>
        <p:spPr>
          <a:xfrm>
            <a:off x="6126480" y="1417320"/>
            <a:ext cx="2377440" cy="1920240"/>
          </a:xfrm>
          <a:prstGeom prst="rect">
            <a:avLst/>
          </a:prstGeom>
          <a:noFill/>
          <a:ln/>
        </p:spPr>
        <p:txBody>
          <a:bodyPr wrap="square" lIns="0" tIns="0" rIns="0" bIns="0" rtlCol="0" anchor="ctr"/>
          <a:lstStyle/>
          <a:p>
            <a:pPr algn="ctr" indent="0" marL="0">
              <a:buNone/>
            </a:pPr>
            <a:r>
              <a:rPr lang="en-US" sz="1600" dirty="0">
                <a:solidFill>
                  <a:schemeClr val="bg1"/>
                </a:solidFill>
              </a:rPr>
              <a:t>Overall Status:</a:t>
            </a:r>
            <a:endParaRPr lang="en-US" sz="1400" dirty="0"/>
          </a:p>
          <a:p>
            <a:pPr algn="ctr" indent="0" marL="0">
              <a:buNone/>
            </a:pPr>
            <a:r>
              <a:rPr lang="en-US" sz="3200" b="1" dirty="0">
                <a:solidFill>
                  <a:schemeClr val="bg1"/>
                </a:solidFill>
                <a:latin typeface="Cambria" pitchFamily="34" charset="0"/>
                <a:ea typeface="Cambria" pitchFamily="34" charset="-122"/>
                <a:cs typeface="Cambria" pitchFamily="34" charset="-120"/>
              </a:rPr>
              <a:t>HEALTHY</a:t>
            </a:r>
            <a:endParaRPr lang="en-US" sz="1400" dirty="0"/>
          </a:p>
          <a:p>
            <a:pPr algn="ctr" indent="0" marL="0">
              <a:buNone/>
            </a:pPr>
            <a:r>
              <a:rPr lang="en-US" sz="1800" dirty="0">
                <a:solidFill>
                  <a:schemeClr val="bg1"/>
                </a:solidFill>
              </a:rPr>
              <a:t>Exit code 0</a:t>
            </a:r>
            <a:endParaRPr lang="en-US" sz="1400" dirty="0"/>
          </a:p>
        </p:txBody>
      </p:sp>
      <p:sp>
        <p:nvSpPr>
          <p:cNvPr id="8" name="callout"/>
          <p:cNvSpPr/>
          <p:nvPr/>
        </p:nvSpPr>
        <p:spPr>
          <a:xfrm>
            <a:off x="457200" y="3749040"/>
            <a:ext cx="8229600" cy="548640"/>
          </a:xfrm>
          <a:prstGeom prst="roundRect">
            <a:avLst>
              <a:gd name="adj" fmla="val 16667"/>
            </a:avLst>
          </a:prstGeom>
          <a:solidFill>
            <a:schemeClr val="accent2"/>
          </a:solidFill>
          <a:ln w="12700">
            <a:solidFill>
              <a:schemeClr val="accent2"/>
            </a:solidFill>
            <a:prstDash val="solid"/>
          </a:ln>
        </p:spPr>
      </p:sp>
      <p:sp>
        <p:nvSpPr>
          <p:cNvPr id="9" name="Text 6"/>
          <p:cNvSpPr txBox="1"/>
          <p:nvPr/>
        </p:nvSpPr>
        <p:spPr>
          <a:xfrm>
            <a:off x="685800" y="374904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Incident report + recovery report = before and after, with evidence.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Clean up, scan for secrets, then commit</a:t>
            </a:r>
            <a:endParaRPr lang="en-US" sz="3000" dirty="0"/>
          </a:p>
        </p:txBody>
      </p:sp>
      <p:sp>
        <p:nvSpPr>
          <p:cNvPr id="4" name="code panel"/>
          <p:cNvSpPr/>
          <p:nvPr/>
        </p:nvSpPr>
        <p:spPr>
          <a:xfrm>
            <a:off x="457200" y="1188720"/>
            <a:ext cx="8229600" cy="3154680"/>
          </a:xfrm>
          <a:prstGeom prst="roundRect">
            <a:avLst>
              <a:gd name="adj" fmla="val 2319"/>
            </a:avLst>
          </a:prstGeom>
          <a:solidFill>
            <a:schemeClr val="tx1"/>
          </a:solidFill>
          <a:ln w="12700">
            <a:solidFill>
              <a:schemeClr val="tx1"/>
            </a:solidFill>
            <a:prstDash val="solid"/>
          </a:ln>
        </p:spPr>
      </p:sp>
      <p:sp>
        <p:nvSpPr>
          <p:cNvPr id="5" name="code"/>
          <p:cNvSpPr txBox="1"/>
          <p:nvPr/>
        </p:nvSpPr>
        <p:spPr>
          <a:xfrm>
            <a:off x="621792" y="1298448"/>
            <a:ext cx="7900416" cy="29352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git checkout main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branch -D drill/pipeline-failure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push origin --delete drill/pipeline-failure</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grep -riE "password|secret|BEGIN.*PRIVATE KEY|Bearer |pat="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reports/*.txt reports/*.log CLAUDE.md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pipeline-triage.sh .claude/skills/pipeline-triage/SKILL.md</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expect: no matches</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add week-10/assignment-05-pipeline-triage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status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commit -m "Add pipeline triage workspace"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git push origin main</a:t>
            </a:r>
            <a:endParaRPr lang="en-US" sz="1200" dirty="0"/>
          </a:p>
        </p:txBody>
      </p:sp>
      <p:sp>
        <p:nvSpPr>
          <p:cNvPr id="6" name="Text 3"/>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400" b="1" dirty="0">
                <a:solidFill>
                  <a:schemeClr val="accent3"/>
                </a:solidFill>
              </a:rPr>
              <a:t>Do NOT merge the drill branch. Main stays clean.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1" type="title" hasCustomPrompt="1"/>
          </p:nvPr>
        </p:nvSpPr>
        <p:spPr>
          <a:xfrm>
            <a:off x="640080" y="1783080"/>
            <a:ext cx="5669280" cy="1097280"/>
          </a:xfrm>
          <a:prstGeom prst="rect">
            <a:avLst/>
          </a:prstGeom>
          <a:noFill/>
          <a:ln/>
        </p:spPr>
        <p:txBody>
          <a:bodyPr wrap="square" lIns="0" tIns="0" rIns="0" bIns="0" rtlCol="0" anchor="t"/>
          <a:lstStyle/>
          <a:p>
            <a:pPr algn="l" indent="0" marL="0">
              <a:buNone/>
            </a:pPr>
            <a:r>
              <a:rPr lang="en-US" sz="3800" b="1" dirty="0">
                <a:solidFill>
                  <a:schemeClr val="bg1"/>
                </a:solidFill>
              </a:rPr>
              <a:t>Wrap-up</a:t>
            </a:r>
            <a:endParaRPr lang="en-US" sz="3800" dirty="0"/>
          </a:p>
        </p:txBody>
      </p:sp>
      <p:sp>
        <p:nvSpPr>
          <p:cNvPr id="3" name="Text 1"/>
          <p:cNvSpPr/>
          <p:nvPr>
            <p:ph idx="102" type="body" hasCustomPrompt="1"/>
          </p:nvPr>
        </p:nvSpPr>
        <p:spPr>
          <a:xfrm>
            <a:off x="640080" y="2971800"/>
            <a:ext cx="5669280" cy="1005840"/>
          </a:xfrm>
          <a:prstGeom prst="rect">
            <a:avLst/>
          </a:prstGeom>
          <a:noFill/>
          <a:ln/>
        </p:spPr>
        <p:txBody>
          <a:bodyPr wrap="square" lIns="0" tIns="0" rIns="0" bIns="0" rtlCol="0" anchor="t"/>
          <a:lstStyle/>
          <a:p>
            <a:pPr algn="l" indent="0" marL="0">
              <a:buNone/>
            </a:pPr>
            <a:r>
              <a:rPr lang="en-US" sz="1800" dirty="0">
                <a:solidFill>
                  <a:schemeClr val="bg1"/>
                </a:solidFill>
              </a:rPr>
              <a:t>Recap, common problems, and questions to discuss.</a:t>
            </a:r>
            <a:endParaRPr lang="en-US" sz="1800" dirty="0"/>
          </a:p>
        </p:txBody>
      </p:sp>
      <p:sp>
        <p:nvSpPr>
          <p:cNvPr id="4" name="Text 2"/>
          <p:cNvSpPr txBox="1"/>
          <p:nvPr/>
        </p:nvSpPr>
        <p:spPr>
          <a:xfrm>
            <a:off x="640080" y="1325880"/>
            <a:ext cx="5486400" cy="320040"/>
          </a:xfrm>
          <a:prstGeom prst="rect">
            <a:avLst/>
          </a:prstGeom>
          <a:noFill/>
          <a:ln/>
        </p:spPr>
        <p:txBody>
          <a:bodyPr wrap="square" lIns="0" tIns="0" rIns="0" bIns="0" rtlCol="0" anchor="ctr"/>
          <a:lstStyle/>
          <a:p>
            <a:pPr indent="0" marL="0">
              <a:buNone/>
            </a:pPr>
            <a:r>
              <a:rPr lang="en-US" sz="1400" b="1" spc="300" kern="0" dirty="0">
                <a:solidFill>
                  <a:schemeClr val="bg1"/>
                </a:solidFill>
              </a:rPr>
              <a:t>PART 7</a:t>
            </a:r>
            <a:endParaRPr lang="en-US" sz="1400" dirty="0"/>
          </a:p>
        </p:txBody>
      </p:sp>
      <p:sp>
        <p:nvSpPr>
          <p:cNvPr id="5" name="Shape 3"/>
          <p:cNvSpPr/>
          <p:nvPr/>
        </p:nvSpPr>
        <p:spPr>
          <a:xfrm>
            <a:off x="6675120" y="1554480"/>
            <a:ext cx="1920240" cy="1920240"/>
          </a:xfrm>
          <a:prstGeom prst="ellipse">
            <a:avLst/>
          </a:prstGeom>
          <a:solidFill>
            <a:schemeClr val="tx1"/>
          </a:solidFill>
          <a:ln w="12700">
            <a:solidFill>
              <a:schemeClr val="tx1"/>
            </a:solidFill>
            <a:prstDash val="solid"/>
          </a:ln>
        </p:spPr>
      </p:sp>
      <p:pic>
        <p:nvPicPr>
          <p:cNvPr id="6" name="Image 0" descr="FaGraduationCap">    </p:cNvPr>
          <p:cNvPicPr>
            <a:picLocks noChangeAspect="1"/>
          </p:cNvPicPr>
          <p:nvPr/>
        </p:nvPicPr>
        <p:blipFill>
          <a:blip r:embed="rId1"/>
          <a:stretch>
            <a:fillRect/>
          </a:stretch>
        </p:blipFill>
        <p:spPr>
          <a:xfrm>
            <a:off x="7132320" y="2011680"/>
            <a:ext cx="1005840" cy="100584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whole assignment on one page</a:t>
            </a:r>
            <a:endParaRPr lang="en-US" sz="3000" dirty="0"/>
          </a:p>
        </p:txBody>
      </p:sp>
      <p:sp>
        <p:nvSpPr>
          <p:cNvPr id="4" name="Shape 1"/>
          <p:cNvSpPr/>
          <p:nvPr/>
        </p:nvSpPr>
        <p:spPr>
          <a:xfrm>
            <a:off x="457200" y="1234440"/>
            <a:ext cx="2560320" cy="960120"/>
          </a:xfrm>
          <a:prstGeom prst="roundRect">
            <a:avLst>
              <a:gd name="adj" fmla="val 9524"/>
            </a:avLst>
          </a:prstGeom>
          <a:solidFill>
            <a:schemeClr val="accent4"/>
          </a:solidFill>
          <a:ln w="12700">
            <a:solidFill>
              <a:schemeClr val="accent4"/>
            </a:solidFill>
            <a:prstDash val="solid"/>
          </a:ln>
        </p:spPr>
      </p:sp>
      <p:sp>
        <p:nvSpPr>
          <p:cNvPr id="5" name="Text 2"/>
          <p:cNvSpPr txBox="1"/>
          <p:nvPr/>
        </p:nvSpPr>
        <p:spPr>
          <a:xfrm>
            <a:off x="640080" y="1234440"/>
            <a:ext cx="2194560" cy="960120"/>
          </a:xfrm>
          <a:prstGeom prst="rect">
            <a:avLst/>
          </a:prstGeom>
          <a:noFill/>
          <a:ln/>
        </p:spPr>
        <p:txBody>
          <a:bodyPr wrap="square" lIns="0" tIns="0" rIns="0" bIns="0" rtlCol="0" anchor="ctr"/>
          <a:lstStyle/>
          <a:p>
            <a:pPr indent="0" marL="0">
              <a:buNone/>
            </a:pPr>
            <a:r>
              <a:rPr lang="en-US" sz="1600" b="1" dirty="0">
                <a:solidFill>
                  <a:schemeClr val="bg1"/>
                </a:solidFill>
              </a:rPr>
              <a:t>Task 0</a:t>
            </a:r>
            <a:endParaRPr lang="en-US" sz="1400" dirty="0"/>
          </a:p>
          <a:p>
            <a:pPr indent="0" marL="0">
              <a:buNone/>
            </a:pPr>
            <a:r>
              <a:rPr lang="en-US" sz="1400" dirty="0">
                <a:solidFill>
                  <a:schemeClr val="bg1"/>
                </a:solidFill>
              </a:rPr>
              <a:t>Tools, login, IDs</a:t>
            </a:r>
            <a:endParaRPr lang="en-US" sz="1400" dirty="0"/>
          </a:p>
        </p:txBody>
      </p:sp>
      <p:sp>
        <p:nvSpPr>
          <p:cNvPr id="6" name="Shape 3"/>
          <p:cNvSpPr/>
          <p:nvPr/>
        </p:nvSpPr>
        <p:spPr>
          <a:xfrm>
            <a:off x="3291840" y="1234440"/>
            <a:ext cx="2560320" cy="960120"/>
          </a:xfrm>
          <a:prstGeom prst="roundRect">
            <a:avLst>
              <a:gd name="adj" fmla="val 9524"/>
            </a:avLst>
          </a:prstGeom>
          <a:solidFill>
            <a:schemeClr val="accent4"/>
          </a:solidFill>
          <a:ln w="12700">
            <a:solidFill>
              <a:schemeClr val="accent4"/>
            </a:solidFill>
            <a:prstDash val="solid"/>
          </a:ln>
        </p:spPr>
      </p:sp>
      <p:sp>
        <p:nvSpPr>
          <p:cNvPr id="7" name="Text 4"/>
          <p:cNvSpPr txBox="1"/>
          <p:nvPr/>
        </p:nvSpPr>
        <p:spPr>
          <a:xfrm>
            <a:off x="3474720" y="1234440"/>
            <a:ext cx="2194560" cy="960120"/>
          </a:xfrm>
          <a:prstGeom prst="rect">
            <a:avLst/>
          </a:prstGeom>
          <a:noFill/>
          <a:ln/>
        </p:spPr>
        <p:txBody>
          <a:bodyPr wrap="square" lIns="0" tIns="0" rIns="0" bIns="0" rtlCol="0" anchor="ctr"/>
          <a:lstStyle/>
          <a:p>
            <a:pPr indent="0" marL="0">
              <a:buNone/>
            </a:pPr>
            <a:r>
              <a:rPr lang="en-US" sz="1600" b="1" dirty="0">
                <a:solidFill>
                  <a:schemeClr val="bg1"/>
                </a:solidFill>
              </a:rPr>
              <a:t>Task 1</a:t>
            </a:r>
            <a:endParaRPr lang="en-US" sz="1400" dirty="0"/>
          </a:p>
          <a:p>
            <a:pPr indent="0" marL="0">
              <a:buNone/>
            </a:pPr>
            <a:r>
              <a:rPr lang="en-US" sz="1400" dirty="0">
                <a:solidFill>
                  <a:schemeClr val="bg1"/>
                </a:solidFill>
              </a:rPr>
              <a:t>Baseline + files</a:t>
            </a:r>
            <a:endParaRPr lang="en-US" sz="1400" dirty="0"/>
          </a:p>
        </p:txBody>
      </p:sp>
      <p:sp>
        <p:nvSpPr>
          <p:cNvPr id="8" name="Shape 5"/>
          <p:cNvSpPr/>
          <p:nvPr/>
        </p:nvSpPr>
        <p:spPr>
          <a:xfrm>
            <a:off x="6126480" y="1234440"/>
            <a:ext cx="2560320" cy="960120"/>
          </a:xfrm>
          <a:prstGeom prst="roundRect">
            <a:avLst>
              <a:gd name="adj" fmla="val 9524"/>
            </a:avLst>
          </a:prstGeom>
          <a:solidFill>
            <a:schemeClr val="accent1"/>
          </a:solidFill>
          <a:ln w="12700">
            <a:solidFill>
              <a:schemeClr val="accent1"/>
            </a:solidFill>
            <a:prstDash val="solid"/>
          </a:ln>
        </p:spPr>
      </p:sp>
      <p:sp>
        <p:nvSpPr>
          <p:cNvPr id="9" name="Text 6"/>
          <p:cNvSpPr txBox="1"/>
          <p:nvPr/>
        </p:nvSpPr>
        <p:spPr>
          <a:xfrm>
            <a:off x="6309360" y="1234440"/>
            <a:ext cx="2194560" cy="960120"/>
          </a:xfrm>
          <a:prstGeom prst="rect">
            <a:avLst/>
          </a:prstGeom>
          <a:noFill/>
          <a:ln/>
        </p:spPr>
        <p:txBody>
          <a:bodyPr wrap="square" lIns="0" tIns="0" rIns="0" bIns="0" rtlCol="0" anchor="ctr"/>
          <a:lstStyle/>
          <a:p>
            <a:pPr indent="0" marL="0">
              <a:buNone/>
            </a:pPr>
            <a:r>
              <a:rPr lang="en-US" sz="1600" b="1" dirty="0">
                <a:solidFill>
                  <a:schemeClr val="tx1"/>
                </a:solidFill>
              </a:rPr>
              <a:t>Task 2</a:t>
            </a:r>
            <a:endParaRPr lang="en-US" sz="1400" dirty="0"/>
          </a:p>
          <a:p>
            <a:pPr indent="0" marL="0">
              <a:buNone/>
            </a:pPr>
            <a:r>
              <a:rPr lang="en-US" sz="1400" dirty="0">
                <a:solidFill>
                  <a:schemeClr val="tx1"/>
                </a:solidFill>
              </a:rPr>
              <a:t>CLAUDE.md rules</a:t>
            </a:r>
            <a:endParaRPr lang="en-US" sz="1400" dirty="0"/>
          </a:p>
        </p:txBody>
      </p:sp>
      <p:sp>
        <p:nvSpPr>
          <p:cNvPr id="10" name="Shape 7"/>
          <p:cNvSpPr/>
          <p:nvPr/>
        </p:nvSpPr>
        <p:spPr>
          <a:xfrm>
            <a:off x="457200" y="2331720"/>
            <a:ext cx="2560320" cy="960120"/>
          </a:xfrm>
          <a:prstGeom prst="roundRect">
            <a:avLst>
              <a:gd name="adj" fmla="val 9524"/>
            </a:avLst>
          </a:prstGeom>
          <a:solidFill>
            <a:schemeClr val="accent5"/>
          </a:solidFill>
          <a:ln w="12700">
            <a:solidFill>
              <a:schemeClr val="accent5"/>
            </a:solidFill>
            <a:prstDash val="solid"/>
          </a:ln>
        </p:spPr>
      </p:sp>
      <p:sp>
        <p:nvSpPr>
          <p:cNvPr id="11" name="Text 8"/>
          <p:cNvSpPr txBox="1"/>
          <p:nvPr/>
        </p:nvSpPr>
        <p:spPr>
          <a:xfrm>
            <a:off x="640080" y="2331720"/>
            <a:ext cx="2194560" cy="960120"/>
          </a:xfrm>
          <a:prstGeom prst="rect">
            <a:avLst/>
          </a:prstGeom>
          <a:noFill/>
          <a:ln/>
        </p:spPr>
        <p:txBody>
          <a:bodyPr wrap="square" lIns="0" tIns="0" rIns="0" bIns="0" rtlCol="0" anchor="ctr"/>
          <a:lstStyle/>
          <a:p>
            <a:pPr indent="0" marL="0">
              <a:buNone/>
            </a:pPr>
            <a:r>
              <a:rPr lang="en-US" sz="1600" b="1" dirty="0">
                <a:solidFill>
                  <a:schemeClr val="bg1"/>
                </a:solidFill>
              </a:rPr>
              <a:t>Task 3</a:t>
            </a:r>
            <a:endParaRPr lang="en-US" sz="1400" dirty="0"/>
          </a:p>
          <a:p>
            <a:pPr indent="0" marL="0">
              <a:buNone/>
            </a:pPr>
            <a:r>
              <a:rPr lang="en-US" sz="1400" dirty="0">
                <a:solidFill>
                  <a:schemeClr val="bg1"/>
                </a:solidFill>
              </a:rPr>
              <a:t>Configure + inspect script</a:t>
            </a:r>
            <a:endParaRPr lang="en-US" sz="1400" dirty="0"/>
          </a:p>
        </p:txBody>
      </p:sp>
      <p:sp>
        <p:nvSpPr>
          <p:cNvPr id="12" name="Shape 9"/>
          <p:cNvSpPr/>
          <p:nvPr/>
        </p:nvSpPr>
        <p:spPr>
          <a:xfrm>
            <a:off x="3291840" y="2331720"/>
            <a:ext cx="2560320" cy="960120"/>
          </a:xfrm>
          <a:prstGeom prst="roundRect">
            <a:avLst>
              <a:gd name="adj" fmla="val 9524"/>
            </a:avLst>
          </a:prstGeom>
          <a:solidFill>
            <a:schemeClr val="accent5"/>
          </a:solidFill>
          <a:ln w="12700">
            <a:solidFill>
              <a:schemeClr val="accent5"/>
            </a:solidFill>
            <a:prstDash val="solid"/>
          </a:ln>
        </p:spPr>
      </p:sp>
      <p:sp>
        <p:nvSpPr>
          <p:cNvPr id="13" name="Text 10"/>
          <p:cNvSpPr txBox="1"/>
          <p:nvPr/>
        </p:nvSpPr>
        <p:spPr>
          <a:xfrm>
            <a:off x="3474720" y="2331720"/>
            <a:ext cx="2194560" cy="960120"/>
          </a:xfrm>
          <a:prstGeom prst="rect">
            <a:avLst/>
          </a:prstGeom>
          <a:noFill/>
          <a:ln/>
        </p:spPr>
        <p:txBody>
          <a:bodyPr wrap="square" lIns="0" tIns="0" rIns="0" bIns="0" rtlCol="0" anchor="ctr"/>
          <a:lstStyle/>
          <a:p>
            <a:pPr indent="0" marL="0">
              <a:buNone/>
            </a:pPr>
            <a:r>
              <a:rPr lang="en-US" sz="1600" b="1" dirty="0">
                <a:solidFill>
                  <a:schemeClr val="bg1"/>
                </a:solidFill>
              </a:rPr>
              <a:t>Task 4</a:t>
            </a:r>
            <a:endParaRPr lang="en-US" sz="1400" dirty="0"/>
          </a:p>
          <a:p>
            <a:pPr indent="0" marL="0">
              <a:buNone/>
            </a:pPr>
            <a:r>
              <a:rPr lang="en-US" sz="1400" dirty="0">
                <a:solidFill>
                  <a:schemeClr val="bg1"/>
                </a:solidFill>
              </a:rPr>
              <a:t>Run healthy report</a:t>
            </a:r>
            <a:endParaRPr lang="en-US" sz="1400" dirty="0"/>
          </a:p>
        </p:txBody>
      </p:sp>
      <p:sp>
        <p:nvSpPr>
          <p:cNvPr id="14" name="Shape 11"/>
          <p:cNvSpPr/>
          <p:nvPr/>
        </p:nvSpPr>
        <p:spPr>
          <a:xfrm>
            <a:off x="6126480" y="2331720"/>
            <a:ext cx="2560320" cy="960120"/>
          </a:xfrm>
          <a:prstGeom prst="roundRect">
            <a:avLst>
              <a:gd name="adj" fmla="val 9524"/>
            </a:avLst>
          </a:prstGeom>
          <a:solidFill>
            <a:schemeClr val="accent2"/>
          </a:solidFill>
          <a:ln w="12700">
            <a:solidFill>
              <a:schemeClr val="accent2"/>
            </a:solidFill>
            <a:prstDash val="solid"/>
          </a:ln>
        </p:spPr>
      </p:sp>
      <p:sp>
        <p:nvSpPr>
          <p:cNvPr id="15" name="Text 12"/>
          <p:cNvSpPr txBox="1"/>
          <p:nvPr/>
        </p:nvSpPr>
        <p:spPr>
          <a:xfrm>
            <a:off x="6309360" y="2331720"/>
            <a:ext cx="2194560" cy="960120"/>
          </a:xfrm>
          <a:prstGeom prst="rect">
            <a:avLst/>
          </a:prstGeom>
          <a:noFill/>
          <a:ln/>
        </p:spPr>
        <p:txBody>
          <a:bodyPr wrap="square" lIns="0" tIns="0" rIns="0" bIns="0" rtlCol="0" anchor="ctr"/>
          <a:lstStyle/>
          <a:p>
            <a:pPr indent="0" marL="0">
              <a:buNone/>
            </a:pPr>
            <a:r>
              <a:rPr lang="en-US" sz="1600" b="1" dirty="0">
                <a:solidFill>
                  <a:schemeClr val="bg1"/>
                </a:solidFill>
              </a:rPr>
              <a:t>Task 5</a:t>
            </a:r>
            <a:endParaRPr lang="en-US" sz="1400" dirty="0"/>
          </a:p>
          <a:p>
            <a:pPr indent="0" marL="0">
              <a:buNone/>
            </a:pPr>
            <a:r>
              <a:rPr lang="en-US" sz="1400" dirty="0">
                <a:solidFill>
                  <a:schemeClr val="bg1"/>
                </a:solidFill>
              </a:rPr>
              <a:t>Build + test skill</a:t>
            </a:r>
            <a:endParaRPr lang="en-US" sz="1400" dirty="0"/>
          </a:p>
        </p:txBody>
      </p:sp>
      <p:sp>
        <p:nvSpPr>
          <p:cNvPr id="16" name="Shape 13"/>
          <p:cNvSpPr/>
          <p:nvPr/>
        </p:nvSpPr>
        <p:spPr>
          <a:xfrm>
            <a:off x="457200" y="3429000"/>
            <a:ext cx="2560320" cy="960120"/>
          </a:xfrm>
          <a:prstGeom prst="roundRect">
            <a:avLst>
              <a:gd name="adj" fmla="val 9524"/>
            </a:avLst>
          </a:prstGeom>
          <a:solidFill>
            <a:schemeClr val="accent3"/>
          </a:solidFill>
          <a:ln w="12700">
            <a:solidFill>
              <a:schemeClr val="accent3"/>
            </a:solidFill>
            <a:prstDash val="solid"/>
          </a:ln>
        </p:spPr>
      </p:sp>
      <p:sp>
        <p:nvSpPr>
          <p:cNvPr id="17" name="Text 14"/>
          <p:cNvSpPr txBox="1"/>
          <p:nvPr/>
        </p:nvSpPr>
        <p:spPr>
          <a:xfrm>
            <a:off x="640080" y="3429000"/>
            <a:ext cx="2194560" cy="960120"/>
          </a:xfrm>
          <a:prstGeom prst="rect">
            <a:avLst/>
          </a:prstGeom>
          <a:noFill/>
          <a:ln/>
        </p:spPr>
        <p:txBody>
          <a:bodyPr wrap="square" lIns="0" tIns="0" rIns="0" bIns="0" rtlCol="0" anchor="ctr"/>
          <a:lstStyle/>
          <a:p>
            <a:pPr indent="0" marL="0">
              <a:buNone/>
            </a:pPr>
            <a:r>
              <a:rPr lang="en-US" sz="1600" b="1" dirty="0">
                <a:solidFill>
                  <a:schemeClr val="bg1"/>
                </a:solidFill>
              </a:rPr>
              <a:t>Task 6</a:t>
            </a:r>
            <a:endParaRPr lang="en-US" sz="1400" dirty="0"/>
          </a:p>
          <a:p>
            <a:pPr indent="0" marL="0">
              <a:buNone/>
            </a:pPr>
            <a:r>
              <a:rPr lang="en-US" sz="1400" dirty="0">
                <a:solidFill>
                  <a:schemeClr val="bg1"/>
                </a:solidFill>
              </a:rPr>
              <a:t>Inject safe failure</a:t>
            </a:r>
            <a:endParaRPr lang="en-US" sz="1400" dirty="0"/>
          </a:p>
        </p:txBody>
      </p:sp>
      <p:sp>
        <p:nvSpPr>
          <p:cNvPr id="18" name="Shape 15"/>
          <p:cNvSpPr/>
          <p:nvPr/>
        </p:nvSpPr>
        <p:spPr>
          <a:xfrm>
            <a:off x="3291840" y="3429000"/>
            <a:ext cx="2560320" cy="960120"/>
          </a:xfrm>
          <a:prstGeom prst="roundRect">
            <a:avLst>
              <a:gd name="adj" fmla="val 9524"/>
            </a:avLst>
          </a:prstGeom>
          <a:solidFill>
            <a:schemeClr val="accent3"/>
          </a:solidFill>
          <a:ln w="12700">
            <a:solidFill>
              <a:schemeClr val="accent3"/>
            </a:solidFill>
            <a:prstDash val="solid"/>
          </a:ln>
        </p:spPr>
      </p:sp>
      <p:sp>
        <p:nvSpPr>
          <p:cNvPr id="19" name="Text 16"/>
          <p:cNvSpPr txBox="1"/>
          <p:nvPr/>
        </p:nvSpPr>
        <p:spPr>
          <a:xfrm>
            <a:off x="3474720" y="3429000"/>
            <a:ext cx="2194560" cy="960120"/>
          </a:xfrm>
          <a:prstGeom prst="rect">
            <a:avLst/>
          </a:prstGeom>
          <a:noFill/>
          <a:ln/>
        </p:spPr>
        <p:txBody>
          <a:bodyPr wrap="square" lIns="0" tIns="0" rIns="0" bIns="0" rtlCol="0" anchor="ctr"/>
          <a:lstStyle/>
          <a:p>
            <a:pPr indent="0" marL="0">
              <a:buNone/>
            </a:pPr>
            <a:r>
              <a:rPr lang="en-US" sz="1600" b="1" dirty="0">
                <a:solidFill>
                  <a:schemeClr val="bg1"/>
                </a:solidFill>
              </a:rPr>
              <a:t>Task 7</a:t>
            </a:r>
            <a:endParaRPr lang="en-US" sz="1400" dirty="0"/>
          </a:p>
          <a:p>
            <a:pPr indent="0" marL="0">
              <a:buNone/>
            </a:pPr>
            <a:r>
              <a:rPr lang="en-US" sz="1400" dirty="0">
                <a:solidFill>
                  <a:schemeClr val="bg1"/>
                </a:solidFill>
              </a:rPr>
              <a:t>Triage + save evidence</a:t>
            </a:r>
            <a:endParaRPr lang="en-US" sz="1400" dirty="0"/>
          </a:p>
        </p:txBody>
      </p:sp>
      <p:sp>
        <p:nvSpPr>
          <p:cNvPr id="20" name="Shape 17"/>
          <p:cNvSpPr/>
          <p:nvPr/>
        </p:nvSpPr>
        <p:spPr>
          <a:xfrm>
            <a:off x="6126480" y="3429000"/>
            <a:ext cx="2560320" cy="960120"/>
          </a:xfrm>
          <a:prstGeom prst="roundRect">
            <a:avLst>
              <a:gd name="adj" fmla="val 9524"/>
            </a:avLst>
          </a:prstGeom>
          <a:solidFill>
            <a:schemeClr val="accent6"/>
          </a:solidFill>
          <a:ln w="12700">
            <a:solidFill>
              <a:schemeClr val="accent6"/>
            </a:solidFill>
            <a:prstDash val="solid"/>
          </a:ln>
        </p:spPr>
      </p:sp>
      <p:sp>
        <p:nvSpPr>
          <p:cNvPr id="21" name="Text 18"/>
          <p:cNvSpPr txBox="1"/>
          <p:nvPr/>
        </p:nvSpPr>
        <p:spPr>
          <a:xfrm>
            <a:off x="6309360" y="3429000"/>
            <a:ext cx="2194560" cy="960120"/>
          </a:xfrm>
          <a:prstGeom prst="rect">
            <a:avLst/>
          </a:prstGeom>
          <a:noFill/>
          <a:ln/>
        </p:spPr>
        <p:txBody>
          <a:bodyPr wrap="square" lIns="0" tIns="0" rIns="0" bIns="0" rtlCol="0" anchor="ctr"/>
          <a:lstStyle/>
          <a:p>
            <a:pPr indent="0" marL="0">
              <a:buNone/>
            </a:pPr>
            <a:r>
              <a:rPr lang="en-US" sz="1600" b="1" dirty="0">
                <a:solidFill>
                  <a:schemeClr val="bg1"/>
                </a:solidFill>
              </a:rPr>
              <a:t>Task 8</a:t>
            </a:r>
            <a:endParaRPr lang="en-US" sz="1400" dirty="0"/>
          </a:p>
          <a:p>
            <a:pPr indent="0" marL="0">
              <a:buNone/>
            </a:pPr>
            <a:r>
              <a:rPr lang="en-US" sz="1400" dirty="0">
                <a:solidFill>
                  <a:schemeClr val="bg1"/>
                </a:solidFill>
              </a:rPr>
              <a:t>Fix, verify, clean up</a:t>
            </a:r>
            <a:endParaRPr lang="en-US" sz="1400" dirty="0"/>
          </a:p>
        </p:txBody>
      </p:sp>
      <p:sp>
        <p:nvSpPr>
          <p:cNvPr id="22" name="Text 19"/>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400" i="1" dirty="0">
                <a:solidFill>
                  <a:schemeClr val="tx2"/>
                </a:solidFill>
              </a:rPr>
              <a:t>Setup &gt; policy &gt; tool &gt; skill &gt; drill</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Key takeaways</a:t>
            </a:r>
            <a:endParaRPr lang="en-US" sz="3000" dirty="0"/>
          </a:p>
        </p:txBody>
      </p:sp>
      <p:sp>
        <p:nvSpPr>
          <p:cNvPr id="4" name="icon circle"/>
          <p:cNvSpPr/>
          <p:nvPr/>
        </p:nvSpPr>
        <p:spPr>
          <a:xfrm>
            <a:off x="457200" y="1234440"/>
            <a:ext cx="457200" cy="457200"/>
          </a:xfrm>
          <a:prstGeom prst="ellipse">
            <a:avLst/>
          </a:prstGeom>
          <a:solidFill>
            <a:schemeClr val="accent2"/>
          </a:solidFill>
          <a:ln w="12700">
            <a:solidFill>
              <a:schemeClr val="accent2"/>
            </a:solidFill>
            <a:prstDash val="solid"/>
          </a:ln>
        </p:spPr>
      </p:sp>
      <p:pic>
        <p:nvPicPr>
          <p:cNvPr id="5" name="icon FaEye" descr="FaEye">    </p:cNvPr>
          <p:cNvPicPr>
            <a:picLocks noChangeAspect="1"/>
          </p:cNvPicPr>
          <p:nvPr/>
        </p:nvPicPr>
        <p:blipFill>
          <a:blip r:embed="rId1"/>
          <a:stretch>
            <a:fillRect/>
          </a:stretch>
        </p:blipFill>
        <p:spPr>
          <a:xfrm>
            <a:off x="566928" y="1344168"/>
            <a:ext cx="237744" cy="237744"/>
          </a:xfrm>
          <a:prstGeom prst="rect">
            <a:avLst/>
          </a:prstGeom>
        </p:spPr>
      </p:pic>
      <p:sp>
        <p:nvSpPr>
          <p:cNvPr id="6" name="Text 2"/>
          <p:cNvSpPr txBox="1"/>
          <p:nvPr/>
        </p:nvSpPr>
        <p:spPr>
          <a:xfrm>
            <a:off x="1097280" y="1207008"/>
            <a:ext cx="7589520" cy="594360"/>
          </a:xfrm>
          <a:prstGeom prst="rect">
            <a:avLst/>
          </a:prstGeom>
          <a:noFill/>
          <a:ln/>
        </p:spPr>
        <p:txBody>
          <a:bodyPr wrap="square" lIns="0" tIns="0" rIns="0" bIns="0" rtlCol="0" anchor="t"/>
          <a:lstStyle/>
          <a:p>
            <a:pPr indent="0" marL="0">
              <a:buNone/>
            </a:pPr>
            <a:r>
              <a:rPr lang="en-US" sz="1600" b="1" dirty="0">
                <a:solidFill>
                  <a:schemeClr val="tx1"/>
                </a:solidFill>
              </a:rPr>
              <a:t>Automate the gathering, not the decision</a:t>
            </a:r>
            <a:endParaRPr lang="en-US" sz="1600" dirty="0"/>
          </a:p>
          <a:p>
            <a:pPr indent="0" marL="0">
              <a:buNone/>
            </a:pPr>
            <a:r>
              <a:rPr lang="en-US" sz="1400" dirty="0">
                <a:solidFill>
                  <a:schemeClr val="tx1"/>
                </a:solidFill>
              </a:rPr>
              <a:t>The script and Claude read; the human acts.</a:t>
            </a:r>
            <a:endParaRPr lang="en-US" sz="1600" dirty="0"/>
          </a:p>
        </p:txBody>
      </p:sp>
      <p:sp>
        <p:nvSpPr>
          <p:cNvPr id="7" name="icon circle"/>
          <p:cNvSpPr/>
          <p:nvPr/>
        </p:nvSpPr>
        <p:spPr>
          <a:xfrm>
            <a:off x="457200" y="1920240"/>
            <a:ext cx="457200" cy="457200"/>
          </a:xfrm>
          <a:prstGeom prst="ellipse">
            <a:avLst/>
          </a:prstGeom>
          <a:solidFill>
            <a:schemeClr val="accent3"/>
          </a:solidFill>
          <a:ln w="12700">
            <a:solidFill>
              <a:schemeClr val="accent3"/>
            </a:solidFill>
            <a:prstDash val="solid"/>
          </a:ln>
        </p:spPr>
      </p:sp>
      <p:pic>
        <p:nvPicPr>
          <p:cNvPr id="8" name="icon FaShieldAlt" descr="FaShieldAlt">    </p:cNvPr>
          <p:cNvPicPr>
            <a:picLocks noChangeAspect="1"/>
          </p:cNvPicPr>
          <p:nvPr/>
        </p:nvPicPr>
        <p:blipFill>
          <a:blip r:embed="rId2"/>
          <a:stretch>
            <a:fillRect/>
          </a:stretch>
        </p:blipFill>
        <p:spPr>
          <a:xfrm>
            <a:off x="566928" y="2029968"/>
            <a:ext cx="237744" cy="237744"/>
          </a:xfrm>
          <a:prstGeom prst="rect">
            <a:avLst/>
          </a:prstGeom>
        </p:spPr>
      </p:pic>
      <p:sp>
        <p:nvSpPr>
          <p:cNvPr id="9" name="Text 4"/>
          <p:cNvSpPr txBox="1"/>
          <p:nvPr/>
        </p:nvSpPr>
        <p:spPr>
          <a:xfrm>
            <a:off x="1097280" y="1892808"/>
            <a:ext cx="7589520" cy="594360"/>
          </a:xfrm>
          <a:prstGeom prst="rect">
            <a:avLst/>
          </a:prstGeom>
          <a:noFill/>
          <a:ln/>
        </p:spPr>
        <p:txBody>
          <a:bodyPr wrap="square" lIns="0" tIns="0" rIns="0" bIns="0" rtlCol="0" anchor="t"/>
          <a:lstStyle/>
          <a:p>
            <a:pPr indent="0" marL="0">
              <a:buNone/>
            </a:pPr>
            <a:r>
              <a:rPr lang="en-US" sz="1600" b="1" dirty="0">
                <a:solidFill>
                  <a:schemeClr val="tx1"/>
                </a:solidFill>
              </a:rPr>
              <a:t>Least privilege, in layers</a:t>
            </a:r>
            <a:endParaRPr lang="en-US" sz="1600" dirty="0"/>
          </a:p>
          <a:p>
            <a:pPr indent="0" marL="0">
              <a:buNone/>
            </a:pPr>
            <a:r>
              <a:rPr lang="en-US" sz="1400" dirty="0">
                <a:solidFill>
                  <a:schemeClr val="tx1"/>
                </a:solidFill>
              </a:rPr>
              <a:t>CLAUDE.md, tool scope, read-only calls, human approval.</a:t>
            </a:r>
            <a:endParaRPr lang="en-US" sz="1600" dirty="0"/>
          </a:p>
        </p:txBody>
      </p:sp>
      <p:sp>
        <p:nvSpPr>
          <p:cNvPr id="10" name="icon circle"/>
          <p:cNvSpPr/>
          <p:nvPr/>
        </p:nvSpPr>
        <p:spPr>
          <a:xfrm>
            <a:off x="457200" y="2606040"/>
            <a:ext cx="457200" cy="457200"/>
          </a:xfrm>
          <a:prstGeom prst="ellipse">
            <a:avLst/>
          </a:prstGeom>
          <a:solidFill>
            <a:schemeClr val="accent4"/>
          </a:solidFill>
          <a:ln w="12700">
            <a:solidFill>
              <a:schemeClr val="accent4"/>
            </a:solidFill>
            <a:prstDash val="solid"/>
          </a:ln>
        </p:spPr>
      </p:sp>
      <p:pic>
        <p:nvPicPr>
          <p:cNvPr id="11" name="icon FaSearch" descr="FaSearch">    </p:cNvPr>
          <p:cNvPicPr>
            <a:picLocks noChangeAspect="1"/>
          </p:cNvPicPr>
          <p:nvPr/>
        </p:nvPicPr>
        <p:blipFill>
          <a:blip r:embed="rId3"/>
          <a:stretch>
            <a:fillRect/>
          </a:stretch>
        </p:blipFill>
        <p:spPr>
          <a:xfrm>
            <a:off x="566928" y="2715768"/>
            <a:ext cx="237744" cy="237744"/>
          </a:xfrm>
          <a:prstGeom prst="rect">
            <a:avLst/>
          </a:prstGeom>
        </p:spPr>
      </p:pic>
      <p:sp>
        <p:nvSpPr>
          <p:cNvPr id="12" name="Text 6"/>
          <p:cNvSpPr txBox="1"/>
          <p:nvPr/>
        </p:nvSpPr>
        <p:spPr>
          <a:xfrm>
            <a:off x="1097280" y="2578608"/>
            <a:ext cx="7589520" cy="594360"/>
          </a:xfrm>
          <a:prstGeom prst="rect">
            <a:avLst/>
          </a:prstGeom>
          <a:noFill/>
          <a:ln/>
        </p:spPr>
        <p:txBody>
          <a:bodyPr wrap="square" lIns="0" tIns="0" rIns="0" bIns="0" rtlCol="0" anchor="t"/>
          <a:lstStyle/>
          <a:p>
            <a:pPr indent="0" marL="0">
              <a:buNone/>
            </a:pPr>
            <a:r>
              <a:rPr lang="en-US" sz="1600" b="1" dirty="0">
                <a:solidFill>
                  <a:schemeClr val="tx1"/>
                </a:solidFill>
              </a:rPr>
              <a:t>Inspect before you trust</a:t>
            </a:r>
            <a:endParaRPr lang="en-US" sz="1600" dirty="0"/>
          </a:p>
          <a:p>
            <a:pPr indent="0" marL="0">
              <a:buNone/>
            </a:pPr>
            <a:r>
              <a:rPr lang="en-US" sz="1400" dirty="0">
                <a:solidFill>
                  <a:schemeClr val="tx1"/>
                </a:solidFill>
              </a:rPr>
              <a:t>Prove behaviour with grep, bash -n and a healthy baseline.</a:t>
            </a:r>
            <a:endParaRPr lang="en-US" sz="1600" dirty="0"/>
          </a:p>
        </p:txBody>
      </p:sp>
      <p:sp>
        <p:nvSpPr>
          <p:cNvPr id="13" name="icon circle"/>
          <p:cNvSpPr/>
          <p:nvPr/>
        </p:nvSpPr>
        <p:spPr>
          <a:xfrm>
            <a:off x="457200" y="3291840"/>
            <a:ext cx="457200" cy="457200"/>
          </a:xfrm>
          <a:prstGeom prst="ellipse">
            <a:avLst/>
          </a:prstGeom>
          <a:solidFill>
            <a:schemeClr val="accent1"/>
          </a:solidFill>
          <a:ln w="12700">
            <a:solidFill>
              <a:schemeClr val="accent1"/>
            </a:solidFill>
            <a:prstDash val="solid"/>
          </a:ln>
        </p:spPr>
      </p:sp>
      <p:pic>
        <p:nvPicPr>
          <p:cNvPr id="14" name="icon FaLock" descr="FaLock">    </p:cNvPr>
          <p:cNvPicPr>
            <a:picLocks noChangeAspect="1"/>
          </p:cNvPicPr>
          <p:nvPr/>
        </p:nvPicPr>
        <p:blipFill>
          <a:blip r:embed="rId4"/>
          <a:stretch>
            <a:fillRect/>
          </a:stretch>
        </p:blipFill>
        <p:spPr>
          <a:xfrm>
            <a:off x="566928" y="3401568"/>
            <a:ext cx="237744" cy="237744"/>
          </a:xfrm>
          <a:prstGeom prst="rect">
            <a:avLst/>
          </a:prstGeom>
        </p:spPr>
      </p:pic>
      <p:sp>
        <p:nvSpPr>
          <p:cNvPr id="15" name="Text 8"/>
          <p:cNvSpPr txBox="1"/>
          <p:nvPr/>
        </p:nvSpPr>
        <p:spPr>
          <a:xfrm>
            <a:off x="1097280" y="3264408"/>
            <a:ext cx="7589520" cy="594360"/>
          </a:xfrm>
          <a:prstGeom prst="rect">
            <a:avLst/>
          </a:prstGeom>
          <a:noFill/>
          <a:ln/>
        </p:spPr>
        <p:txBody>
          <a:bodyPr wrap="square" lIns="0" tIns="0" rIns="0" bIns="0" rtlCol="0" anchor="t"/>
          <a:lstStyle/>
          <a:p>
            <a:pPr indent="0" marL="0">
              <a:buNone/>
            </a:pPr>
            <a:r>
              <a:rPr lang="en-US" sz="1600" b="1" dirty="0">
                <a:solidFill>
                  <a:schemeClr val="tx1"/>
                </a:solidFill>
              </a:rPr>
              <a:t>Keep secrets out of everything</a:t>
            </a:r>
            <a:endParaRPr lang="en-US" sz="1600" dirty="0"/>
          </a:p>
          <a:p>
            <a:pPr indent="0" marL="0">
              <a:buNone/>
            </a:pPr>
            <a:r>
              <a:rPr lang="en-US" sz="1400" dirty="0">
                <a:solidFill>
                  <a:schemeClr val="tx1"/>
                </a:solidFill>
              </a:rPr>
              <a:t>Entra login, sanitised logs, final secret scan.</a:t>
            </a:r>
            <a:endParaRPr lang="en-US" sz="1600" dirty="0"/>
          </a:p>
        </p:txBody>
      </p:sp>
      <p:sp>
        <p:nvSpPr>
          <p:cNvPr id="16" name="icon circle"/>
          <p:cNvSpPr/>
          <p:nvPr/>
        </p:nvSpPr>
        <p:spPr>
          <a:xfrm>
            <a:off x="457200" y="3977640"/>
            <a:ext cx="457200" cy="457200"/>
          </a:xfrm>
          <a:prstGeom prst="ellipse">
            <a:avLst/>
          </a:prstGeom>
          <a:solidFill>
            <a:schemeClr val="accent6"/>
          </a:solidFill>
          <a:ln w="12700">
            <a:solidFill>
              <a:schemeClr val="accent6"/>
            </a:solidFill>
            <a:prstDash val="solid"/>
          </a:ln>
        </p:spPr>
      </p:sp>
      <p:pic>
        <p:nvPicPr>
          <p:cNvPr id="17" name="icon FaRedo" descr="FaRedo">    </p:cNvPr>
          <p:cNvPicPr>
            <a:picLocks noChangeAspect="1"/>
          </p:cNvPicPr>
          <p:nvPr/>
        </p:nvPicPr>
        <p:blipFill>
          <a:blip r:embed="rId5"/>
          <a:stretch>
            <a:fillRect/>
          </a:stretch>
        </p:blipFill>
        <p:spPr>
          <a:xfrm>
            <a:off x="566928" y="4087368"/>
            <a:ext cx="237744" cy="237744"/>
          </a:xfrm>
          <a:prstGeom prst="rect">
            <a:avLst/>
          </a:prstGeom>
        </p:spPr>
      </p:pic>
      <p:sp>
        <p:nvSpPr>
          <p:cNvPr id="18" name="Text 10"/>
          <p:cNvSpPr txBox="1"/>
          <p:nvPr/>
        </p:nvSpPr>
        <p:spPr>
          <a:xfrm>
            <a:off x="1097280" y="3950208"/>
            <a:ext cx="7589520" cy="594360"/>
          </a:xfrm>
          <a:prstGeom prst="rect">
            <a:avLst/>
          </a:prstGeom>
          <a:noFill/>
          <a:ln/>
        </p:spPr>
        <p:txBody>
          <a:bodyPr wrap="square" lIns="0" tIns="0" rIns="0" bIns="0" rtlCol="0" anchor="t"/>
          <a:lstStyle/>
          <a:p>
            <a:pPr indent="0" marL="0">
              <a:buNone/>
            </a:pPr>
            <a:r>
              <a:rPr lang="en-US" sz="1600" b="1" dirty="0">
                <a:solidFill>
                  <a:schemeClr val="tx1"/>
                </a:solidFill>
              </a:rPr>
              <a:t>Gather &gt; Analyze &gt; Human Act &gt; Verify</a:t>
            </a:r>
            <a:endParaRPr lang="en-US" sz="1600" dirty="0"/>
          </a:p>
          <a:p>
            <a:pPr indent="0" marL="0">
              <a:buNone/>
            </a:pPr>
            <a:r>
              <a:rPr lang="en-US" sz="1400" dirty="0">
                <a:solidFill>
                  <a:schemeClr val="tx1"/>
                </a:solidFill>
              </a:rPr>
              <a:t>The same loop for every incident.</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Troubleshooting: common mistakes</a:t>
            </a:r>
            <a:endParaRPr lang="en-US" sz="3000" dirty="0"/>
          </a:p>
        </p:txBody>
      </p:sp>
      <p:graphicFrame>
        <p:nvGraphicFramePr>
          <p:cNvPr id="71" name="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3291840"/>
                <a:gridCol w="2926080"/>
              </a:tblGrid>
              <a:tr h="420624">
                <a:tc>
                  <a:txBody>
                    <a:bodyPr/>
                    <a:lstStyle/>
                    <a:p>
                      <a:pPr indent="0" marL="0">
                        <a:buNone/>
                      </a:pPr>
                      <a:r>
                        <a:rPr lang="en-US" sz="1300" b="1" dirty="0">
                          <a:solidFill>
                            <a:schemeClr val="bg1"/>
                          </a:solidFill>
                        </a:rPr>
                        <a:t>Symptom</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Likely cause</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Fix</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1"/>
                    </a:solidFill>
                  </a:tcPr>
                </a:tc>
              </a:tr>
              <a:tr h="420624">
                <a:tc>
                  <a:txBody>
                    <a:bodyPr/>
                    <a:lstStyle/>
                    <a:p>
                      <a:pPr indent="0" marL="0">
                        <a:buNone/>
                      </a:pPr>
                      <a:r>
                        <a:rPr lang="en-US" sz="1300" b="1" dirty="0">
                          <a:solidFill>
                            <a:schemeClr val="tx1"/>
                          </a:solidFill>
                        </a:rPr>
                        <a:t>/pipeline-triage not found</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Wrong path, skill.md vs SKILL.md, or not started from the assignment root</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Recheck the path; restart claude there</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20624">
                <a:tc>
                  <a:txBody>
                    <a:bodyPr/>
                    <a:lstStyle/>
                    <a:p>
                      <a:pPr indent="0" marL="0">
                        <a:buNone/>
                      </a:pPr>
                      <a:r>
                        <a:rPr lang="en-US" sz="1300" b="1" dirty="0">
                          <a:solidFill>
                            <a:schemeClr val="tx1"/>
                          </a:solidFill>
                        </a:rPr>
                        <a:t>Frontmatter ignored</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 not on line 1</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head -n 1 SKILL.md</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20624">
                <a:tc>
                  <a:txBody>
                    <a:bodyPr/>
                    <a:lstStyle/>
                    <a:p>
                      <a:pPr indent="0" marL="0">
                        <a:buNone/>
                      </a:pPr>
                      <a:r>
                        <a:rPr lang="en-US" sz="1300" b="1" dirty="0">
                          <a:solidFill>
                            <a:schemeClr val="tx1"/>
                          </a:solidFill>
                        </a:rPr>
                        <a:t>Script exits 3</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Not signed in, or wrong org / project / IDs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az login; recheck the five config values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20624">
                <a:tc>
                  <a:txBody>
                    <a:bodyPr/>
                    <a:lstStyle/>
                    <a:p>
                      <a:pPr indent="0" marL="0">
                        <a:buNone/>
                      </a:pPr>
                      <a:r>
                        <a:rPr lang="en-US" sz="1300" b="1" dirty="0">
                          <a:solidFill>
                            <a:schemeClr val="tx1"/>
                          </a:solidFill>
                        </a:rPr>
                        <a:t>az pipelines unknown</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azure-devops extension missing</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az extension add --name azure-devops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20624">
                <a:tc>
                  <a:txBody>
                    <a:bodyPr/>
                    <a:lstStyle/>
                    <a:p>
                      <a:pPr indent="0" marL="0">
                        <a:buNone/>
                      </a:pPr>
                      <a:r>
                        <a:rPr lang="en-US" sz="1300" b="1" dirty="0">
                          <a:solidFill>
                            <a:schemeClr val="tx1"/>
                          </a:solidFill>
                        </a:rPr>
                        <a:t>Skill cannot find a log</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SKILL.md names a file the script does not write</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Point it at infra-last-run.log and app-last-run.log</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420624">
                <a:tc>
                  <a:txBody>
                    <a:bodyPr/>
                    <a:lstStyle/>
                    <a:p>
                      <a:pPr indent="0" marL="0">
                        <a:buNone/>
                      </a:pPr>
                      <a:r>
                        <a:rPr lang="en-US" sz="1300" b="1" dirty="0">
                          <a:solidFill>
                            <a:schemeClr val="tx1"/>
                          </a:solidFill>
                        </a:rPr>
                        <a:t>Drill branch never ran</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Trigger watches main only</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Queue with az pipelines run --branch</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420624">
                <a:tc>
                  <a:txBody>
                    <a:bodyPr/>
                    <a:lstStyle/>
                    <a:p>
                      <a:pPr indent="0" marL="0">
                        <a:buNone/>
                      </a:pPr>
                      <a:r>
                        <a:rPr lang="en-US" sz="1300" b="1" dirty="0">
                          <a:solidFill>
                            <a:schemeClr val="tx1"/>
                          </a:solidFill>
                        </a:rPr>
                        <a:t>Secret scan has matches</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Sanitisation gap</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Stop and fix before committing</a:t>
                      </a:r>
                      <a:endParaRPr lang="en-US" sz="1300" dirty="0"/>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Discussion questions</a:t>
            </a:r>
            <a:endParaRPr lang="en-US" sz="3000" dirty="0"/>
          </a:p>
        </p:txBody>
      </p:sp>
      <p:sp>
        <p:nvSpPr>
          <p:cNvPr id="4" name="Shape 1"/>
          <p:cNvSpPr/>
          <p:nvPr/>
        </p:nvSpPr>
        <p:spPr>
          <a:xfrm>
            <a:off x="457200" y="1188720"/>
            <a:ext cx="8229600" cy="713232"/>
          </a:xfrm>
          <a:prstGeom prst="roundRect">
            <a:avLst>
              <a:gd name="adj" fmla="val 12821"/>
            </a:avLst>
          </a:prstGeom>
          <a:solidFill>
            <a:schemeClr val="bg2"/>
          </a:solidFill>
          <a:ln w="12700">
            <a:solidFill>
              <a:schemeClr val="bg2"/>
            </a:solidFill>
            <a:prstDash val="solid"/>
          </a:ln>
        </p:spPr>
      </p:sp>
      <p:sp>
        <p:nvSpPr>
          <p:cNvPr id="5" name="Shape 2"/>
          <p:cNvSpPr/>
          <p:nvPr/>
        </p:nvSpPr>
        <p:spPr>
          <a:xfrm>
            <a:off x="594360" y="1325880"/>
            <a:ext cx="438912" cy="438912"/>
          </a:xfrm>
          <a:prstGeom prst="ellipse">
            <a:avLst/>
          </a:prstGeom>
          <a:solidFill>
            <a:schemeClr val="accent1"/>
          </a:solidFill>
          <a:ln w="12700">
            <a:solidFill>
              <a:schemeClr val="accent1"/>
            </a:solidFill>
            <a:prstDash val="solid"/>
          </a:ln>
        </p:spPr>
      </p:sp>
      <p:sp>
        <p:nvSpPr>
          <p:cNvPr id="6" name="Text 3"/>
          <p:cNvSpPr txBox="1"/>
          <p:nvPr/>
        </p:nvSpPr>
        <p:spPr>
          <a:xfrm>
            <a:off x="594360" y="1325880"/>
            <a:ext cx="438912" cy="438912"/>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4"/>
          <p:cNvSpPr txBox="1"/>
          <p:nvPr/>
        </p:nvSpPr>
        <p:spPr>
          <a:xfrm>
            <a:off x="1234440" y="1188720"/>
            <a:ext cx="7315200" cy="713232"/>
          </a:xfrm>
          <a:prstGeom prst="rect">
            <a:avLst/>
          </a:prstGeom>
          <a:noFill/>
          <a:ln/>
        </p:spPr>
        <p:txBody>
          <a:bodyPr wrap="square" lIns="0" tIns="0" rIns="0" bIns="0" rtlCol="0" anchor="ctr"/>
          <a:lstStyle/>
          <a:p>
            <a:pPr indent="0" marL="0">
              <a:buNone/>
            </a:pPr>
            <a:r>
              <a:rPr lang="en-US" sz="1400" dirty="0">
                <a:solidFill>
                  <a:schemeClr val="tx1"/>
                </a:solidFill>
              </a:rPr>
              <a:t>Why is exit code 3 separate from exit code 2? What could go wrong if they were the same?</a:t>
            </a:r>
            <a:endParaRPr lang="en-US" sz="1400" dirty="0"/>
          </a:p>
        </p:txBody>
      </p:sp>
      <p:sp>
        <p:nvSpPr>
          <p:cNvPr id="8" name="Shape 5"/>
          <p:cNvSpPr/>
          <p:nvPr/>
        </p:nvSpPr>
        <p:spPr>
          <a:xfrm>
            <a:off x="457200" y="2011680"/>
            <a:ext cx="8229600" cy="713232"/>
          </a:xfrm>
          <a:prstGeom prst="roundRect">
            <a:avLst>
              <a:gd name="adj" fmla="val 12821"/>
            </a:avLst>
          </a:prstGeom>
          <a:solidFill>
            <a:schemeClr val="bg2"/>
          </a:solidFill>
          <a:ln w="12700">
            <a:solidFill>
              <a:schemeClr val="bg2"/>
            </a:solidFill>
            <a:prstDash val="solid"/>
          </a:ln>
        </p:spPr>
      </p:sp>
      <p:sp>
        <p:nvSpPr>
          <p:cNvPr id="9" name="Shape 6"/>
          <p:cNvSpPr/>
          <p:nvPr/>
        </p:nvSpPr>
        <p:spPr>
          <a:xfrm>
            <a:off x="594360" y="2148840"/>
            <a:ext cx="438912" cy="438912"/>
          </a:xfrm>
          <a:prstGeom prst="ellipse">
            <a:avLst/>
          </a:prstGeom>
          <a:solidFill>
            <a:schemeClr val="accent1"/>
          </a:solidFill>
          <a:ln w="12700">
            <a:solidFill>
              <a:schemeClr val="accent1"/>
            </a:solidFill>
            <a:prstDash val="solid"/>
          </a:ln>
        </p:spPr>
      </p:sp>
      <p:sp>
        <p:nvSpPr>
          <p:cNvPr id="10" name="Text 7"/>
          <p:cNvSpPr txBox="1"/>
          <p:nvPr/>
        </p:nvSpPr>
        <p:spPr>
          <a:xfrm>
            <a:off x="594360" y="2148840"/>
            <a:ext cx="438912" cy="438912"/>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Text 8"/>
          <p:cNvSpPr txBox="1"/>
          <p:nvPr/>
        </p:nvSpPr>
        <p:spPr>
          <a:xfrm>
            <a:off x="1234440" y="2011680"/>
            <a:ext cx="7315200" cy="713232"/>
          </a:xfrm>
          <a:prstGeom prst="rect">
            <a:avLst/>
          </a:prstGeom>
          <a:noFill/>
          <a:ln/>
        </p:spPr>
        <p:txBody>
          <a:bodyPr wrap="square" lIns="0" tIns="0" rIns="0" bIns="0" rtlCol="0" anchor="ctr"/>
          <a:lstStyle/>
          <a:p>
            <a:pPr indent="0" marL="0">
              <a:buNone/>
            </a:pPr>
            <a:r>
              <a:rPr lang="en-US" sz="1400" dirty="0">
                <a:solidFill>
                  <a:schemeClr val="tx1"/>
                </a:solidFill>
              </a:rPr>
              <a:t>Why do we copy the supplied script instead of rewriting it, and what is the risk of trusting it without inspection?</a:t>
            </a:r>
            <a:endParaRPr lang="en-US" sz="1400" dirty="0"/>
          </a:p>
        </p:txBody>
      </p:sp>
      <p:sp>
        <p:nvSpPr>
          <p:cNvPr id="12" name="Shape 9"/>
          <p:cNvSpPr/>
          <p:nvPr/>
        </p:nvSpPr>
        <p:spPr>
          <a:xfrm>
            <a:off x="457200" y="2834640"/>
            <a:ext cx="8229600" cy="713232"/>
          </a:xfrm>
          <a:prstGeom prst="roundRect">
            <a:avLst>
              <a:gd name="adj" fmla="val 12821"/>
            </a:avLst>
          </a:prstGeom>
          <a:solidFill>
            <a:schemeClr val="bg2"/>
          </a:solidFill>
          <a:ln w="12700">
            <a:solidFill>
              <a:schemeClr val="bg2"/>
            </a:solidFill>
            <a:prstDash val="solid"/>
          </a:ln>
        </p:spPr>
      </p:sp>
      <p:sp>
        <p:nvSpPr>
          <p:cNvPr id="13" name="Shape 10"/>
          <p:cNvSpPr/>
          <p:nvPr/>
        </p:nvSpPr>
        <p:spPr>
          <a:xfrm>
            <a:off x="594360" y="2971800"/>
            <a:ext cx="438912" cy="438912"/>
          </a:xfrm>
          <a:prstGeom prst="ellipse">
            <a:avLst/>
          </a:prstGeom>
          <a:solidFill>
            <a:schemeClr val="accent1"/>
          </a:solidFill>
          <a:ln w="12700">
            <a:solidFill>
              <a:schemeClr val="accent1"/>
            </a:solidFill>
            <a:prstDash val="solid"/>
          </a:ln>
        </p:spPr>
      </p:sp>
      <p:sp>
        <p:nvSpPr>
          <p:cNvPr id="14" name="Text 11"/>
          <p:cNvSpPr txBox="1"/>
          <p:nvPr/>
        </p:nvSpPr>
        <p:spPr>
          <a:xfrm>
            <a:off x="594360" y="2971800"/>
            <a:ext cx="438912" cy="438912"/>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Text 12"/>
          <p:cNvSpPr txBox="1"/>
          <p:nvPr/>
        </p:nvSpPr>
        <p:spPr>
          <a:xfrm>
            <a:off x="1234440" y="2834640"/>
            <a:ext cx="7315200" cy="713232"/>
          </a:xfrm>
          <a:prstGeom prst="rect">
            <a:avLst/>
          </a:prstGeom>
          <a:noFill/>
          <a:ln/>
        </p:spPr>
        <p:txBody>
          <a:bodyPr wrap="square" lIns="0" tIns="0" rIns="0" bIns="0" rtlCol="0" anchor="ctr"/>
          <a:lstStyle/>
          <a:p>
            <a:pPr indent="0" marL="0">
              <a:buNone/>
            </a:pPr>
            <a:r>
              <a:rPr lang="en-US" sz="1400" dirty="0">
                <a:solidFill>
                  <a:schemeClr val="tx1"/>
                </a:solidFill>
              </a:rPr>
              <a:t>Which of the safety layers would you remove last, and why?</a:t>
            </a:r>
            <a:endParaRPr lang="en-US" sz="1400" dirty="0"/>
          </a:p>
        </p:txBody>
      </p:sp>
      <p:sp>
        <p:nvSpPr>
          <p:cNvPr id="16" name="Shape 13"/>
          <p:cNvSpPr/>
          <p:nvPr/>
        </p:nvSpPr>
        <p:spPr>
          <a:xfrm>
            <a:off x="457200" y="3657600"/>
            <a:ext cx="8229600" cy="713232"/>
          </a:xfrm>
          <a:prstGeom prst="roundRect">
            <a:avLst>
              <a:gd name="adj" fmla="val 12821"/>
            </a:avLst>
          </a:prstGeom>
          <a:solidFill>
            <a:schemeClr val="bg2"/>
          </a:solidFill>
          <a:ln w="12700">
            <a:solidFill>
              <a:schemeClr val="bg2"/>
            </a:solidFill>
            <a:prstDash val="solid"/>
          </a:ln>
        </p:spPr>
      </p:sp>
      <p:sp>
        <p:nvSpPr>
          <p:cNvPr id="17" name="Shape 14"/>
          <p:cNvSpPr/>
          <p:nvPr/>
        </p:nvSpPr>
        <p:spPr>
          <a:xfrm>
            <a:off x="594360" y="3794760"/>
            <a:ext cx="438912" cy="438912"/>
          </a:xfrm>
          <a:prstGeom prst="ellipse">
            <a:avLst/>
          </a:prstGeom>
          <a:solidFill>
            <a:schemeClr val="accent1"/>
          </a:solidFill>
          <a:ln w="12700">
            <a:solidFill>
              <a:schemeClr val="accent1"/>
            </a:solidFill>
            <a:prstDash val="solid"/>
          </a:ln>
        </p:spPr>
      </p:sp>
      <p:sp>
        <p:nvSpPr>
          <p:cNvPr id="18" name="Text 15"/>
          <p:cNvSpPr txBox="1"/>
          <p:nvPr/>
        </p:nvSpPr>
        <p:spPr>
          <a:xfrm>
            <a:off x="594360" y="3794760"/>
            <a:ext cx="438912" cy="438912"/>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9" name="Text 16"/>
          <p:cNvSpPr txBox="1"/>
          <p:nvPr/>
        </p:nvSpPr>
        <p:spPr>
          <a:xfrm>
            <a:off x="1234440" y="3657600"/>
            <a:ext cx="7315200" cy="713232"/>
          </a:xfrm>
          <a:prstGeom prst="rect">
            <a:avLst/>
          </a:prstGeom>
          <a:noFill/>
          <a:ln/>
        </p:spPr>
        <p:txBody>
          <a:bodyPr wrap="square" lIns="0" tIns="0" rIns="0" bIns="0" rtlCol="0" anchor="ctr"/>
          <a:lstStyle/>
          <a:p>
            <a:pPr indent="0" marL="0">
              <a:buNone/>
            </a:pPr>
            <a:r>
              <a:rPr lang="en-US" sz="1400" dirty="0">
                <a:solidFill>
                  <a:schemeClr val="tx1"/>
                </a:solidFill>
              </a:rPr>
              <a:t>How would this workflow change if Claude were allowed to apply fixes? What would you need before allowing it?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Deliverables checklist</a:t>
            </a:r>
            <a:endParaRPr lang="en-US" sz="3000" dirty="0"/>
          </a:p>
        </p:txBody>
      </p:sp>
      <p:sp>
        <p:nvSpPr>
          <p:cNvPr id="4" name="icon circle"/>
          <p:cNvSpPr/>
          <p:nvPr/>
        </p:nvSpPr>
        <p:spPr>
          <a:xfrm>
            <a:off x="457200" y="1188720"/>
            <a:ext cx="365760" cy="365760"/>
          </a:xfrm>
          <a:prstGeom prst="ellipse">
            <a:avLst/>
          </a:prstGeom>
          <a:solidFill>
            <a:schemeClr val="accent6"/>
          </a:solidFill>
          <a:ln w="12700">
            <a:solidFill>
              <a:schemeClr val="accent6"/>
            </a:solidFill>
            <a:prstDash val="solid"/>
          </a:ln>
        </p:spPr>
      </p:sp>
      <p:pic>
        <p:nvPicPr>
          <p:cNvPr id="5" name="icon FaCheckCircle" descr="FaCheckCircle">    </p:cNvPr>
          <p:cNvPicPr>
            <a:picLocks noChangeAspect="1"/>
          </p:cNvPicPr>
          <p:nvPr/>
        </p:nvPicPr>
        <p:blipFill>
          <a:blip r:embed="rId1"/>
          <a:stretch>
            <a:fillRect/>
          </a:stretch>
        </p:blipFill>
        <p:spPr>
          <a:xfrm>
            <a:off x="544982" y="1276502"/>
            <a:ext cx="190195" cy="190195"/>
          </a:xfrm>
          <a:prstGeom prst="rect">
            <a:avLst/>
          </a:prstGeom>
        </p:spPr>
      </p:pic>
      <p:sp>
        <p:nvSpPr>
          <p:cNvPr id="6" name="Text 2"/>
          <p:cNvSpPr txBox="1"/>
          <p:nvPr/>
        </p:nvSpPr>
        <p:spPr>
          <a:xfrm>
            <a:off x="1005840" y="1188720"/>
            <a:ext cx="768096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CLAUDE.md</a:t>
            </a:r>
            <a:pPr indent="0" marL="0">
              <a:buNone/>
            </a:pPr>
            <a:r>
              <a:rPr lang="en-US" sz="1400" dirty="0">
                <a:solidFill>
                  <a:schemeClr val="tx2"/>
                </a:solidFill>
              </a:rPr>
              <a:t>   4 sections, safety rules, 9-point output</a:t>
            </a:r>
            <a:endParaRPr lang="en-US" sz="1400" dirty="0"/>
          </a:p>
        </p:txBody>
      </p:sp>
      <p:sp>
        <p:nvSpPr>
          <p:cNvPr id="7" name="icon circle"/>
          <p:cNvSpPr/>
          <p:nvPr/>
        </p:nvSpPr>
        <p:spPr>
          <a:xfrm>
            <a:off x="457200" y="1737360"/>
            <a:ext cx="365760" cy="365760"/>
          </a:xfrm>
          <a:prstGeom prst="ellipse">
            <a:avLst/>
          </a:prstGeom>
          <a:solidFill>
            <a:schemeClr val="accent6"/>
          </a:solidFill>
          <a:ln w="12700">
            <a:solidFill>
              <a:schemeClr val="accent6"/>
            </a:solidFill>
            <a:prstDash val="solid"/>
          </a:ln>
        </p:spPr>
      </p:sp>
      <p:pic>
        <p:nvPicPr>
          <p:cNvPr id="8" name="icon FaCheckCircle" descr="FaCheckCircle">    </p:cNvPr>
          <p:cNvPicPr>
            <a:picLocks noChangeAspect="1"/>
          </p:cNvPicPr>
          <p:nvPr/>
        </p:nvPicPr>
        <p:blipFill>
          <a:blip r:embed="rId2"/>
          <a:stretch>
            <a:fillRect/>
          </a:stretch>
        </p:blipFill>
        <p:spPr>
          <a:xfrm>
            <a:off x="544982" y="1825142"/>
            <a:ext cx="190195" cy="190195"/>
          </a:xfrm>
          <a:prstGeom prst="rect">
            <a:avLst/>
          </a:prstGeom>
        </p:spPr>
      </p:pic>
      <p:sp>
        <p:nvSpPr>
          <p:cNvPr id="9" name="Text 4"/>
          <p:cNvSpPr txBox="1"/>
          <p:nvPr/>
        </p:nvSpPr>
        <p:spPr>
          <a:xfrm>
            <a:off x="1005840" y="1737360"/>
            <a:ext cx="768096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pipeline-triage.sh</a:t>
            </a:r>
            <a:pPr indent="0" marL="0">
              <a:buNone/>
            </a:pPr>
            <a:r>
              <a:rPr lang="en-US" sz="1400" dirty="0">
                <a:solidFill>
                  <a:schemeClr val="tx2"/>
                </a:solidFill>
              </a:rPr>
              <a:t>   configured, executable, syntax-checked</a:t>
            </a:r>
            <a:endParaRPr lang="en-US" sz="1400" dirty="0"/>
          </a:p>
        </p:txBody>
      </p:sp>
      <p:sp>
        <p:nvSpPr>
          <p:cNvPr id="10" name="icon circle"/>
          <p:cNvSpPr/>
          <p:nvPr/>
        </p:nvSpPr>
        <p:spPr>
          <a:xfrm>
            <a:off x="457200" y="2286000"/>
            <a:ext cx="365760" cy="365760"/>
          </a:xfrm>
          <a:prstGeom prst="ellipse">
            <a:avLst/>
          </a:prstGeom>
          <a:solidFill>
            <a:schemeClr val="accent6"/>
          </a:solidFill>
          <a:ln w="12700">
            <a:solidFill>
              <a:schemeClr val="accent6"/>
            </a:solidFill>
            <a:prstDash val="solid"/>
          </a:ln>
        </p:spPr>
      </p:sp>
      <p:pic>
        <p:nvPicPr>
          <p:cNvPr id="11" name="icon FaCheckCircle" descr="FaCheckCircle">    </p:cNvPr>
          <p:cNvPicPr>
            <a:picLocks noChangeAspect="1"/>
          </p:cNvPicPr>
          <p:nvPr/>
        </p:nvPicPr>
        <p:blipFill>
          <a:blip r:embed="rId3"/>
          <a:stretch>
            <a:fillRect/>
          </a:stretch>
        </p:blipFill>
        <p:spPr>
          <a:xfrm>
            <a:off x="544982" y="2373782"/>
            <a:ext cx="190195" cy="190195"/>
          </a:xfrm>
          <a:prstGeom prst="rect">
            <a:avLst/>
          </a:prstGeom>
        </p:spPr>
      </p:pic>
      <p:sp>
        <p:nvSpPr>
          <p:cNvPr id="12" name="Text 6"/>
          <p:cNvSpPr txBox="1"/>
          <p:nvPr/>
        </p:nvSpPr>
        <p:spPr>
          <a:xfrm>
            <a:off x="1005840" y="2286000"/>
            <a:ext cx="768096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.claude/skills/pipeline-triage/SKILL.md</a:t>
            </a:r>
            <a:pPr indent="0" marL="0">
              <a:buNone/>
            </a:pPr>
            <a:r>
              <a:rPr lang="en-US" sz="1400" dirty="0">
                <a:solidFill>
                  <a:schemeClr val="tx2"/>
                </a:solidFill>
              </a:rPr>
              <a:t>   corrected and verified</a:t>
            </a:r>
            <a:endParaRPr lang="en-US" sz="1400" dirty="0"/>
          </a:p>
        </p:txBody>
      </p:sp>
      <p:sp>
        <p:nvSpPr>
          <p:cNvPr id="13" name="icon circle"/>
          <p:cNvSpPr/>
          <p:nvPr/>
        </p:nvSpPr>
        <p:spPr>
          <a:xfrm>
            <a:off x="457200" y="2834640"/>
            <a:ext cx="365760" cy="365760"/>
          </a:xfrm>
          <a:prstGeom prst="ellipse">
            <a:avLst/>
          </a:prstGeom>
          <a:solidFill>
            <a:schemeClr val="accent6"/>
          </a:solidFill>
          <a:ln w="12700">
            <a:solidFill>
              <a:schemeClr val="accent6"/>
            </a:solidFill>
            <a:prstDash val="solid"/>
          </a:ln>
        </p:spPr>
      </p:sp>
      <p:pic>
        <p:nvPicPr>
          <p:cNvPr id="14" name="icon FaCheckCircle" descr="FaCheckCircle">    </p:cNvPr>
          <p:cNvPicPr>
            <a:picLocks noChangeAspect="1"/>
          </p:cNvPicPr>
          <p:nvPr/>
        </p:nvPicPr>
        <p:blipFill>
          <a:blip r:embed="rId4"/>
          <a:stretch>
            <a:fillRect/>
          </a:stretch>
        </p:blipFill>
        <p:spPr>
          <a:xfrm>
            <a:off x="544982" y="2922422"/>
            <a:ext cx="190195" cy="190195"/>
          </a:xfrm>
          <a:prstGeom prst="rect">
            <a:avLst/>
          </a:prstGeom>
        </p:spPr>
      </p:pic>
      <p:sp>
        <p:nvSpPr>
          <p:cNvPr id="15" name="Text 8"/>
          <p:cNvSpPr txBox="1"/>
          <p:nvPr/>
        </p:nvSpPr>
        <p:spPr>
          <a:xfrm>
            <a:off x="1005840" y="2834640"/>
            <a:ext cx="768096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Baseline report</a:t>
            </a:r>
            <a:pPr indent="0" marL="0">
              <a:buNone/>
            </a:pPr>
            <a:r>
              <a:rPr lang="en-US" sz="1400" dirty="0">
                <a:solidFill>
                  <a:schemeClr val="tx2"/>
                </a:solidFill>
              </a:rPr>
              <a:t>   HEALTHY, exit code 0</a:t>
            </a:r>
            <a:endParaRPr lang="en-US" sz="1400" dirty="0"/>
          </a:p>
        </p:txBody>
      </p:sp>
      <p:sp>
        <p:nvSpPr>
          <p:cNvPr id="16" name="icon circle"/>
          <p:cNvSpPr/>
          <p:nvPr/>
        </p:nvSpPr>
        <p:spPr>
          <a:xfrm>
            <a:off x="457200" y="3383280"/>
            <a:ext cx="365760" cy="365760"/>
          </a:xfrm>
          <a:prstGeom prst="ellipse">
            <a:avLst/>
          </a:prstGeom>
          <a:solidFill>
            <a:schemeClr val="accent6"/>
          </a:solidFill>
          <a:ln w="12700">
            <a:solidFill>
              <a:schemeClr val="accent6"/>
            </a:solidFill>
            <a:prstDash val="solid"/>
          </a:ln>
        </p:spPr>
      </p:sp>
      <p:pic>
        <p:nvPicPr>
          <p:cNvPr id="17" name="icon FaCheckCircle" descr="FaCheckCircle">    </p:cNvPr>
          <p:cNvPicPr>
            <a:picLocks noChangeAspect="1"/>
          </p:cNvPicPr>
          <p:nvPr/>
        </p:nvPicPr>
        <p:blipFill>
          <a:blip r:embed="rId5"/>
          <a:stretch>
            <a:fillRect/>
          </a:stretch>
        </p:blipFill>
        <p:spPr>
          <a:xfrm>
            <a:off x="544982" y="3471062"/>
            <a:ext cx="190195" cy="190195"/>
          </a:xfrm>
          <a:prstGeom prst="rect">
            <a:avLst/>
          </a:prstGeom>
        </p:spPr>
      </p:pic>
      <p:sp>
        <p:nvSpPr>
          <p:cNvPr id="18" name="Text 10"/>
          <p:cNvSpPr txBox="1"/>
          <p:nvPr/>
        </p:nvSpPr>
        <p:spPr>
          <a:xfrm>
            <a:off x="1005840" y="3383280"/>
            <a:ext cx="768096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reports/incident-failure-report.txt</a:t>
            </a:r>
            <a:pPr indent="0" marL="0">
              <a:buNone/>
            </a:pPr>
            <a:r>
              <a:rPr lang="en-US" sz="1400" dirty="0">
                <a:solidFill>
                  <a:schemeClr val="tx2"/>
                </a:solidFill>
              </a:rPr>
              <a:t>   failed run, category, sanitised evidence</a:t>
            </a:r>
            <a:endParaRPr lang="en-US" sz="1400" dirty="0"/>
          </a:p>
        </p:txBody>
      </p:sp>
      <p:sp>
        <p:nvSpPr>
          <p:cNvPr id="19" name="icon circle"/>
          <p:cNvSpPr/>
          <p:nvPr/>
        </p:nvSpPr>
        <p:spPr>
          <a:xfrm>
            <a:off x="457200" y="3931920"/>
            <a:ext cx="365760" cy="365760"/>
          </a:xfrm>
          <a:prstGeom prst="ellipse">
            <a:avLst/>
          </a:prstGeom>
          <a:solidFill>
            <a:schemeClr val="accent6"/>
          </a:solidFill>
          <a:ln w="12700">
            <a:solidFill>
              <a:schemeClr val="accent6"/>
            </a:solidFill>
            <a:prstDash val="solid"/>
          </a:ln>
        </p:spPr>
      </p:sp>
      <p:pic>
        <p:nvPicPr>
          <p:cNvPr id="20" name="icon FaCheckCircle" descr="FaCheckCircle">    </p:cNvPr>
          <p:cNvPicPr>
            <a:picLocks noChangeAspect="1"/>
          </p:cNvPicPr>
          <p:nvPr/>
        </p:nvPicPr>
        <p:blipFill>
          <a:blip r:embed="rId6"/>
          <a:stretch>
            <a:fillRect/>
          </a:stretch>
        </p:blipFill>
        <p:spPr>
          <a:xfrm>
            <a:off x="544982" y="4019702"/>
            <a:ext cx="190195" cy="190195"/>
          </a:xfrm>
          <a:prstGeom prst="rect">
            <a:avLst/>
          </a:prstGeom>
        </p:spPr>
      </p:pic>
      <p:sp>
        <p:nvSpPr>
          <p:cNvPr id="21" name="Text 12"/>
          <p:cNvSpPr txBox="1"/>
          <p:nvPr/>
        </p:nvSpPr>
        <p:spPr>
          <a:xfrm>
            <a:off x="1005840" y="3931920"/>
            <a:ext cx="768096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reports/recovery-report.txt</a:t>
            </a:r>
            <a:pPr indent="0" marL="0">
              <a:buNone/>
            </a:pPr>
            <a:r>
              <a:rPr lang="en-US" sz="1400" dirty="0">
                <a:solidFill>
                  <a:schemeClr val="tx2"/>
                </a:solidFill>
              </a:rPr>
              <a:t>   HEALTHY again after the fix</a:t>
            </a:r>
            <a:endParaRPr lang="en-US" sz="1400" dirty="0"/>
          </a:p>
        </p:txBody>
      </p:sp>
      <p:sp>
        <p:nvSpPr>
          <p:cNvPr id="22" name="Text 13"/>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400" b="1" dirty="0">
                <a:solidFill>
                  <a:schemeClr val="accent2"/>
                </a:solidFill>
              </a:rPr>
              <a:t>Plus: drill branch deleted, secret scan clean, committed to main.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p:nvPr>
            <p:ph idx="101" type="title" hasCustomPrompt="1"/>
          </p:nvPr>
        </p:nvSpPr>
        <p:spPr>
          <a:xfrm>
            <a:off x="640080" y="1234440"/>
            <a:ext cx="5852160" cy="1554480"/>
          </a:xfrm>
          <a:prstGeom prst="rect">
            <a:avLst/>
          </a:prstGeom>
          <a:noFill/>
          <a:ln/>
        </p:spPr>
        <p:txBody>
          <a:bodyPr wrap="square" lIns="0" tIns="0" rIns="0" bIns="0" rtlCol="0" anchor="t"/>
          <a:lstStyle/>
          <a:p>
            <a:pPr algn="l" indent="0" marL="0">
              <a:buNone/>
            </a:pPr>
            <a:r>
              <a:rPr lang="en-US" sz="3800" b="1" dirty="0">
                <a:solidFill>
                  <a:schemeClr val="bg1"/>
                </a:solidFill>
              </a:rPr>
              <a:t>Questions?</a:t>
            </a:r>
            <a:endParaRPr lang="en-US" sz="3800" dirty="0"/>
          </a:p>
        </p:txBody>
      </p:sp>
      <p:sp>
        <p:nvSpPr>
          <p:cNvPr id="3" name="Text 1"/>
          <p:cNvSpPr/>
          <p:nvPr>
            <p:ph idx="102" type="body" hasCustomPrompt="1"/>
          </p:nvPr>
        </p:nvSpPr>
        <p:spPr>
          <a:xfrm>
            <a:off x="640080" y="2971800"/>
            <a:ext cx="5852160" cy="914400"/>
          </a:xfrm>
          <a:prstGeom prst="rect">
            <a:avLst/>
          </a:prstGeom>
          <a:noFill/>
          <a:ln/>
        </p:spPr>
        <p:txBody>
          <a:bodyPr wrap="square" lIns="0" tIns="0" rIns="0" bIns="0" rtlCol="0" anchor="t"/>
          <a:lstStyle/>
          <a:p>
            <a:pPr algn="l" indent="0" marL="0">
              <a:buNone/>
            </a:pPr>
            <a:r>
              <a:rPr lang="en-US" sz="1800" dirty="0">
                <a:solidFill>
                  <a:schemeClr val="accent1"/>
                </a:solidFill>
              </a:rPr>
              <a:t>Gather. Analyze. Human Act. Verify.</a:t>
            </a:r>
            <a:endParaRPr lang="en-US" sz="1800" dirty="0"/>
          </a:p>
        </p:txBody>
      </p:sp>
      <p:sp>
        <p:nvSpPr>
          <p:cNvPr id="4" name="Shape 2"/>
          <p:cNvSpPr/>
          <p:nvPr/>
        </p:nvSpPr>
        <p:spPr>
          <a:xfrm>
            <a:off x="6766560" y="1417320"/>
            <a:ext cx="1828800" cy="1828800"/>
          </a:xfrm>
          <a:prstGeom prst="ellipse">
            <a:avLst/>
          </a:prstGeom>
          <a:solidFill>
            <a:schemeClr val="accent1"/>
          </a:solidFill>
          <a:ln w="12700">
            <a:solidFill>
              <a:schemeClr val="accent1"/>
            </a:solidFill>
            <a:prstDash val="solid"/>
          </a:ln>
        </p:spPr>
      </p:sp>
      <p:pic>
        <p:nvPicPr>
          <p:cNvPr id="5" name="Image 0" descr="graduation cap">    </p:cNvPr>
          <p:cNvPicPr>
            <a:picLocks noChangeAspect="1"/>
          </p:cNvPicPr>
          <p:nvPr/>
        </p:nvPicPr>
        <p:blipFill>
          <a:blip r:embed="rId1"/>
          <a:stretch>
            <a:fillRect/>
          </a:stretch>
        </p:blipFill>
        <p:spPr>
          <a:xfrm>
            <a:off x="7223760" y="1874520"/>
            <a:ext cx="914400" cy="914400"/>
          </a:xfrm>
          <a:prstGeom prst="rect">
            <a:avLst/>
          </a:prstGeom>
        </p:spPr>
      </p:pic>
    </p:spTree>
  </p:cSld>
  <p:clrMapOvr>
    <a:masterClrMapping/>
  </p:clrMapOvr>
</p:sld>
</file>

<file path=ppt/theme/theme1.xml><?xml version="1.0" encoding="utf-8"?>
<a:theme xmlns:a="http://schemas.openxmlformats.org/drawingml/2006/main" name="Pipeline Triage">
  <a:themeElements>
    <a:clrScheme name="Pipeline Triage">
      <a:dk1>
        <a:srgbClr val="0B1F33"/>
      </a:dk1>
      <a:lt1>
        <a:srgbClr val="FFFFFF"/>
      </a:lt1>
      <a:dk2>
        <a:srgbClr val="4A5B6C"/>
      </a:dk2>
      <a:lt2>
        <a:srgbClr val="EEF3F7"/>
      </a:lt2>
      <a:accent1>
        <a:srgbClr val="F5A524"/>
      </a:accent1>
      <a:accent2>
        <a:srgbClr val="0F766E"/>
      </a:accent2>
      <a:accent3>
        <a:srgbClr val="C93C47"/>
      </a:accent3>
      <a:accent4>
        <a:srgbClr val="2F63C4"/>
      </a:accent4>
      <a:accent5>
        <a:srgbClr val="7040C9"/>
      </a:accent5>
      <a:accent6>
        <a:srgbClr val="2A8A52"/>
      </a:accent6>
      <a:hlink>
        <a:srgbClr val="2F63C4"/>
      </a:hlink>
      <a:folHlink>
        <a:srgbClr val="7040C9"/>
      </a:folHlink>
    </a:clrScheme>
    <a:fontScheme name="Pipeline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Automating CI/CD Failure Triage with Bash and Claude Code</dc:title>
  <dc:subject>PptxGenJS Presentation</dc:subject>
  <dc:creator>Teaching deck</dc:creator>
  <cp:lastModifiedBy>Teaching deck</cp:lastModifiedBy>
  <cp:revision>1</cp:revision>
  <dcterms:created xsi:type="dcterms:W3CDTF">2026-10-08T16:49:07Z</dcterms:created>
  <dcterms:modified xsi:type="dcterms:W3CDTF">2026-10-08T16:49:07Z</dcterms:modified>
</cp:coreProperties>
</file>